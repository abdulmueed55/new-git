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7.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2" r:id="rId23"/>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  <Relationship Id="rId23" Type="http://schemas.openxmlformats.org/officeDocument/2006/relationships/slide" Target="slides/slide17.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Blueprint condensed for our own board: the ontology we steward, why it is a semantic layer rather than a catalogue, and what it economically unlocks. Source: NCTB v4.6, Sections 15 and 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Blueprint 27.1. The failure is not missing data but a missing shared subject: four vendors, four vocabularies. Scoring matrices produce a number defensible only to whoever chose the weights — and it is not portable. The next ministry starts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Blueprint 27.2 and 27.5. Water access is a capability; the well behind the school is one realisation of it. The two core parameters live on the target profile: capacity — how much, stated in the holder's unit — and quality of service — how well, evidenced and monitored, never claimed. Two municipalities are comparable because they measure against the same definition.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Blueprint 27.3 and 27.6, shown as graphs instead of tables. Every entity — enterprise, ministry, municipality — sits at the centre of its capability flower: the capabilities it holds, each in its own state. Heterogeneous by design: live nodes carry FAIR scores and measured quality of service, setup nodes show progress, planned nodes show intent. The ordering machinery underneath is unchanged: enumerated coordinates (category, sectors, targets — closed vocabularies) and the closed relation vocabulary (implements, may_implement, enables + five non-binding). A solution never HAS a capability — it stands in a relation to one. Deliberately absent: no readiness score, no maturity number, no composite — an organization is a collection of processes, and the flower shows exactly which ones, in which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node, made concrete with the reference implementation used later in the story: Smart Seeding. Left: what the node states — coordinates, target profile with capacity and quality of service, dependencies, evidence. Right: the four process views every complete node carries. Only a node with all four validated is eligible for FAIR assessment; the reference implementation on the UCX is the audited, forkable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34, read bottom-up. Foundational graph: the national baseline every sector presupposes. Enabling: what more than one sector requires — by that fact not sectoral. Sector graphs: one per sector IRB. E1 sets the standards — axes, fork chain, relation vocabulary, target-type registry — that the sector IRBs use to define their sectorial, enabling and foundational nodes together, test them against the real world, and steward the capability catalogue: FAIR solutions carry implementation passports; a passport stamp is granted per jurisdiction by AIFOD partnering universities and innovation hubs, after the solution is re-engineered in the local context. That is how twelve graphs by twelve boards remain ONE comparable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foundational graph for a small nation on the way to national AI services. Read bottom-up like Figure 34: the foundational baseline carries everything; the enabling layer localises — language corpus, regional rulebook, credentialed operators; the top is the unlock: AI services in the local language, under regional context and rules. The right rail is the guardrail: every node runs as an auditable Setup-Run-Change-Retire process — sovereignty checked as a profile, never assumed. Sectorial dependency example: Digital Public Infrastructure (sector Digital Infrastructure) depends on energy production and datacenter capacity in the foundational layer — the graph makes that explicit and queryable. States are deliberately heterogeneous: live nodes carry their achieved FAIR score plus measured capacity and quality of service, setup nodes show progress, planned nodes show what blocks them. Numbers are illustrative placeholders for one small 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assurance chain that makes international rollout possible. The sector IRB is the FIRST independent reviewer and scorer of a FAIR solution — independent of vendor and of buyer. Because that first review is scored against the shared ontology, it holds everywhere at once, and partner universities and innovation hubs can take over national assurance without re-certifying from zero: they verify against the same definition, the same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18. Foundational capability is not one baseline at different sizes: a person's foundation — identity, literacy, judgement, the right to refuse — is categorically different from a ministry's. The typing is what makes exchange possible: because baselines differ, one type holds capability another lacks. This slide sets up the markets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shared capability model opens these exchange directions — transparently, because every trade runs on the same three instruments: the node as unit of exchange, the Verified Capability Delta as unit of value, the assurance ladder as unit of trust. The Blueprint's Figure 20 names six directions including G2G; G2C and C2G make the citizen side explicit. Value flows only after deployment and evidence — publishing an idea earns attribution, not income.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Blueprint 27.4 and Section 14. Definitions fork along an ordered chain, never multiply — the order is the invariant. A fork never inherits jurisdiction, publication status or review. The rights floor is enforced, not requested. And sovereignty is a profile of eleven dimensions scored separately — red flags override averages, no composite. Holistic: every layer from person to nation develops on its own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integration slide: the NCTB is what connects the three AIFOD initiatives into one system. FAIR contributes the independent scoring, AID the impact funding, the IRBs the governance and review. The capability graph underneath is the shared world model — every claim in it is checkable against evidence: stated capacity and quality of service versus measured reality. That is what a digital reality check means: not a report, a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lane, worked on Smart Seeding (Blueprint §23.1, Figure 33). Stage 1: the innovator brings the working system to a participating innovation hub or AIFOD regional chapter/partner, and together they shape it into a FAIR solution — at minimum the Setup, Run and Retire processes modelled. Intake runs through af.net/fair. Stage 2: the gate — process maturity plus technical readiness level 6; only then does the solution go to the sectorial IRB. Stage 3: the IRB runs scoring and capability mapping against the sector graph; clarification loops with university and innovator are part of the design. Stage 4: anchoring on Cardano — immutable authorship, royalty shares in escrow. Stage 5: publication on the UCX as reference implementation. Stage 6: every successful Setup completion triggers the escrow — royalties flow along the contribution chain. Value follows evidence, never publication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32 plus the adoption channels. The phased path runs Geneva to Nairobi with AIFOD's role receding by design — convener, method steward, registry steward, reviewer. Below: every door into the NCTB, from reading the Blueprint to running governance processes on the AIFOD ProcesOS instance. The International Capability Graph is a federation of sovereign national graphs, not a central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operating process behind adoption, as modelled on the AIFOD ProcesOS instance. One pool, five lanes — five accountable actors: the National Direction Authority issues the mandate and hands over the portfolio; the National Transformation Office is the engine room — ProcesOS setup, graph curation, discovery, quantification, SHOULD-BE design; the Ministry or Municipality is the process owner — transfers knowledge, validates, votes, receives sovereignty; Procurement contracts and funds SP3 and carries SP5 Run; Assurance audits the portfolio and gates the release of the capability graph. Phase 1: mandate and platform setup — DPI must be unlocked before ProcesOS setup, which activates Capability Governance. Phase 2: workspaces and curation in parallel — curated graph goes to portfolio audit; a failed audit loops back. Phase 3: the per-capability governance loop — AS-IS discovery, knowledge transfer into process maps, task quantification, stakeholder validation, SHOULD-BE design with delta, CHANGE process with Workforce Transition Package, the data-driven vote, then SP3 procurement into governed funding.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working mandate. Each sector IRB designs its sector graph in the shared ontology; jointly they contribute the enabling and foundational graphs. E1 stewards the vocabulary so the space stays comparable. That is the whole ask — and the whole unlock.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B33"/>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52500" y="952500"/>
            <a:ext cx="1713607" cy="685800"/>
          </a:xfrm>
          <a:prstGeom prst="rect">
            <a:avLst/>
          </a:prstGeom>
        </p:spPr>
      </p:pic>
      <p:sp>
        <p:nvSpPr>
          <p:cNvPr id="3" name="Text 0"/>
          <p:cNvSpPr/>
          <p:nvPr/>
        </p:nvSpPr>
        <p:spPr>
          <a:xfrm>
            <a:off x="15415245" y="952500"/>
            <a:ext cx="211228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IRB E1 Session</a:t>
            </a:r>
            <a:endParaRPr lang="en-US" sz="1800" dirty="0"/>
          </a:p>
        </p:txBody>
      </p:sp>
      <p:sp>
        <p:nvSpPr>
          <p:cNvPr id="4" name="Text 1"/>
          <p:cNvSpPr/>
          <p:nvPr/>
        </p:nvSpPr>
        <p:spPr>
          <a:xfrm>
            <a:off x="952500" y="2624063"/>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NATIONAL CAPABILITY TRANSFORMATION BLUEPRINT · V4.6</a:t>
            </a:r>
            <a:endParaRPr lang="en-US" sz="1950" dirty="0"/>
          </a:p>
        </p:txBody>
      </p:sp>
      <p:sp>
        <p:nvSpPr>
          <p:cNvPr id="5" name="Text 2"/>
          <p:cNvSpPr/>
          <p:nvPr/>
        </p:nvSpPr>
        <p:spPr>
          <a:xfrm>
            <a:off x="952500" y="3252713"/>
            <a:ext cx="15304770" cy="2177653"/>
          </a:xfrm>
          <a:prstGeom prst="rect">
            <a:avLst/>
          </a:prstGeom>
          <a:noFill/>
          <a:ln/>
        </p:spPr>
        <p:txBody>
          <a:bodyPr wrap="square" lIns="25400" tIns="25400" rIns="25400" bIns="25400" rtlCol="0" anchor="t">
            <a:normAutofit/>
          </a:bodyPr>
          <a:lstStyle/>
          <a:p>
            <a:pPr algn="l" indent="0" marL="0">
              <a:lnSpc>
                <a:spcPct val="94785"/>
              </a:lnSpc>
              <a:buNone/>
            </a:pPr>
            <a:r>
              <a:rPr lang="en-US" sz="7800" dirty="0">
                <a:solidFill>
                  <a:srgbClr val="FFFFFF"/>
                </a:solidFill>
                <a:latin typeface="Georgia" pitchFamily="34" charset="0"/>
                <a:ea typeface="Georgia" pitchFamily="34" charset="-122"/>
                <a:cs typeface="Georgia" pitchFamily="34" charset="-120"/>
              </a:rPr>
              <a:t>A Semantic Layer for Sovereign Development</a:t>
            </a:r>
            <a:endParaRPr lang="en-US" sz="7800" dirty="0"/>
          </a:p>
        </p:txBody>
      </p:sp>
      <p:sp>
        <p:nvSpPr>
          <p:cNvPr id="6" name="Text 3"/>
          <p:cNvSpPr/>
          <p:nvPr/>
        </p:nvSpPr>
        <p:spPr>
          <a:xfrm>
            <a:off x="952500" y="5735166"/>
            <a:ext cx="13244513" cy="998190"/>
          </a:xfrm>
          <a:prstGeom prst="rect">
            <a:avLst/>
          </a:prstGeom>
          <a:noFill/>
          <a:ln/>
        </p:spPr>
        <p:txBody>
          <a:bodyPr wrap="square" lIns="25400" tIns="25400" rIns="25400" bIns="25400" rtlCol="0" anchor="t">
            <a:normAutofit/>
          </a:bodyPr>
          <a:lstStyle/>
          <a:p>
            <a:pPr algn="l" indent="0" marL="0">
              <a:lnSpc>
                <a:spcPct val="122927"/>
              </a:lnSpc>
              <a:buNone/>
            </a:pPr>
            <a:r>
              <a:rPr lang="en-US" sz="2700" dirty="0">
                <a:solidFill>
                  <a:srgbClr val="B4BACC"/>
                </a:solidFill>
                <a:latin typeface="Georgia" pitchFamily="34" charset="0"/>
                <a:ea typeface="Georgia" pitchFamily="34" charset="-122"/>
                <a:cs typeface="Georgia" pitchFamily="34" charset="-120"/>
              </a:rPr>
              <a:t>The capability ontology that orders solutions into one comparable space — and the markets it transparently unlocks.</a:t>
            </a:r>
            <a:endParaRPr lang="en-US" sz="2700" dirty="0"/>
          </a:p>
        </p:txBody>
      </p:sp>
      <p:sp>
        <p:nvSpPr>
          <p:cNvPr id="7" name="Text 4"/>
          <p:cNvSpPr/>
          <p:nvPr/>
        </p:nvSpPr>
        <p:spPr>
          <a:xfrm>
            <a:off x="952500" y="6923856"/>
            <a:ext cx="13244513" cy="891480"/>
          </a:xfrm>
          <a:prstGeom prst="rect">
            <a:avLst/>
          </a:prstGeom>
          <a:noFill/>
          <a:ln/>
        </p:spPr>
        <p:txBody>
          <a:bodyPr wrap="square" lIns="25400" tIns="25400" rIns="25400" bIns="25400" rtlCol="0" anchor="t">
            <a:normAutofit/>
          </a:bodyPr>
          <a:lstStyle/>
          <a:p>
            <a:pPr algn="l" indent="0" marL="0">
              <a:lnSpc>
                <a:spcPct val="122740"/>
              </a:lnSpc>
              <a:buNone/>
            </a:pPr>
            <a:r>
              <a:rPr lang="en-US" sz="2400" i="1" dirty="0">
                <a:solidFill>
                  <a:srgbClr val="F09CB6"/>
                </a:solidFill>
                <a:latin typeface="Georgia" pitchFamily="34" charset="0"/>
                <a:ea typeface="Georgia" pitchFamily="34" charset="-122"/>
                <a:cs typeface="Georgia" pitchFamily="34" charset="-120"/>
              </a:rPr>
              <a:t>Start where you are, go where you want — involve stakeholders and make data-driven decisions for holistic development.</a:t>
            </a:r>
            <a:endParaRPr lang="en-US" sz="2400" dirty="0"/>
          </a:p>
        </p:txBody>
      </p:sp>
      <p:sp>
        <p:nvSpPr>
          <p:cNvPr id="8" name="Shape 5"/>
          <p:cNvSpPr/>
          <p:nvPr/>
        </p:nvSpPr>
        <p:spPr>
          <a:xfrm>
            <a:off x="952500" y="8763000"/>
            <a:ext cx="16383000" cy="9525"/>
          </a:xfrm>
          <a:prstGeom prst="rect">
            <a:avLst/>
          </a:prstGeom>
          <a:solidFill>
            <a:srgbClr val="2A3355"/>
          </a:solidFill>
          <a:ln/>
        </p:spPr>
      </p:sp>
      <p:sp>
        <p:nvSpPr>
          <p:cNvPr id="9" name="Text 6"/>
          <p:cNvSpPr/>
          <p:nvPr/>
        </p:nvSpPr>
        <p:spPr>
          <a:xfrm>
            <a:off x="952500" y="9039225"/>
            <a:ext cx="378565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IRB E1 · Cross-cutting Standards</a:t>
            </a:r>
            <a:endParaRPr lang="en-US" sz="1800" dirty="0"/>
          </a:p>
        </p:txBody>
      </p:sp>
      <p:sp>
        <p:nvSpPr>
          <p:cNvPr id="10" name="Text 7"/>
          <p:cNvSpPr/>
          <p:nvPr/>
        </p:nvSpPr>
        <p:spPr>
          <a:xfrm>
            <a:off x="4660702" y="9039225"/>
            <a:ext cx="580576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E7590"/>
                </a:solidFill>
                <a:latin typeface="Arial" pitchFamily="34" charset="0"/>
                <a:ea typeface="Arial" pitchFamily="34" charset="-122"/>
                <a:cs typeface="Arial" pitchFamily="34" charset="-120"/>
              </a:rPr>
              <a:t>Geneva · August 2026 · from NCTB v4.6, §15 &amp; §27</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89037"/>
            <a:ext cx="859155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SETTING THE STANDARDS</a:t>
            </a:r>
            <a:endParaRPr lang="en-US" sz="1950" dirty="0"/>
          </a:p>
        </p:txBody>
      </p:sp>
      <p:sp>
        <p:nvSpPr>
          <p:cNvPr id="3" name="Text 1"/>
          <p:cNvSpPr/>
          <p:nvPr/>
        </p:nvSpPr>
        <p:spPr>
          <a:xfrm>
            <a:off x="952500" y="1560537"/>
            <a:ext cx="8044815" cy="1446163"/>
          </a:xfrm>
          <a:prstGeom prst="rect">
            <a:avLst/>
          </a:prstGeom>
          <a:noFill/>
          <a:ln/>
        </p:spPr>
        <p:txBody>
          <a:bodyPr wrap="square" lIns="25400" tIns="25400" rIns="25400" bIns="25400" rtlCol="0" anchor="t">
            <a:normAutofit/>
          </a:bodyPr>
          <a:lstStyle/>
          <a:p>
            <a:pPr algn="l" indent="0" marL="0">
              <a:lnSpc>
                <a:spcPct val="98560"/>
              </a:lnSpc>
              <a:buNone/>
            </a:pPr>
            <a:r>
              <a:rPr lang="en-US" sz="4950" dirty="0">
                <a:solidFill>
                  <a:srgbClr val="000B33"/>
                </a:solidFill>
                <a:latin typeface="Georgia" pitchFamily="34" charset="0"/>
                <a:ea typeface="Georgia" pitchFamily="34" charset="-122"/>
                <a:cs typeface="Georgia" pitchFamily="34" charset="-120"/>
              </a:rPr>
              <a:t>Think of the World in Processes and Capabilities</a:t>
            </a:r>
            <a:endParaRPr lang="en-US" sz="4950" dirty="0"/>
          </a:p>
        </p:txBody>
      </p:sp>
      <p:sp>
        <p:nvSpPr>
          <p:cNvPr id="4" name="Text 2"/>
          <p:cNvSpPr/>
          <p:nvPr/>
        </p:nvSpPr>
        <p:spPr>
          <a:xfrm>
            <a:off x="952500" y="3387700"/>
            <a:ext cx="8044815" cy="1981200"/>
          </a:xfrm>
          <a:prstGeom prst="rect">
            <a:avLst/>
          </a:prstGeom>
          <a:noFill/>
          <a:ln/>
        </p:spPr>
        <p:txBody>
          <a:bodyPr wrap="square" lIns="25400" tIns="25400" rIns="25400" bIns="25400" rtlCol="0" anchor="t">
            <a:normAutofit/>
          </a:bodyPr>
          <a:lstStyle/>
          <a:p>
            <a:pPr algn="l" indent="0" marL="0">
              <a:lnSpc>
                <a:spcPct val="132468"/>
              </a:lnSpc>
              <a:buNone/>
            </a:pPr>
            <a:r>
              <a:rPr lang="en-US" sz="2550" dirty="0">
                <a:solidFill>
                  <a:srgbClr val="000B33"/>
                </a:solidFill>
                <a:latin typeface="Georgia" pitchFamily="34" charset="0"/>
                <a:ea typeface="Georgia" pitchFamily="34" charset="-122"/>
                <a:cs typeface="Georgia" pitchFamily="34" charset="-120"/>
              </a:rPr>
              <a:t>Everything is a process — so everything that needs evaluation can be mapped as one. An organization is a collection of processes; what it can reliably do with them is its capabilities.</a:t>
            </a:r>
            <a:endParaRPr lang="en-US" sz="2550" dirty="0"/>
          </a:p>
        </p:txBody>
      </p:sp>
      <p:sp>
        <p:nvSpPr>
          <p:cNvPr id="5" name="Text 3"/>
          <p:cNvSpPr/>
          <p:nvPr/>
        </p:nvSpPr>
        <p:spPr>
          <a:xfrm>
            <a:off x="952500" y="5597500"/>
            <a:ext cx="8044815" cy="2014538"/>
          </a:xfrm>
          <a:prstGeom prst="rect">
            <a:avLst/>
          </a:prstGeom>
          <a:noFill/>
          <a:ln/>
        </p:spPr>
        <p:txBody>
          <a:bodyPr wrap="square" lIns="25400" tIns="25400" rIns="25400" bIns="25400" rtlCol="0" anchor="t">
            <a:normAutofit/>
          </a:bodyPr>
          <a:lstStyle/>
          <a:p>
            <a:pPr algn="l" indent="0" marL="0">
              <a:lnSpc>
                <a:spcPct val="132468"/>
              </a:lnSpc>
              <a:buNone/>
            </a:pPr>
            <a:r>
              <a:rPr lang="en-US" sz="2550" dirty="0">
                <a:solidFill>
                  <a:srgbClr val="000B33"/>
                </a:solidFill>
                <a:latin typeface="Georgia" pitchFamily="34" charset="0"/>
                <a:ea typeface="Georgia" pitchFamily="34" charset="-122"/>
                <a:cs typeface="Georgia" pitchFamily="34" charset="-120"/>
              </a:rPr>
              <a:t>Yet a procurement team facing four offers for “digital water management” receives four feature lists that share almost no vocabulary — each asserting, implicitly, that the product </a:t>
            </a:r>
            <a:pPr algn="l" indent="0" marL="0">
              <a:lnSpc>
                <a:spcPct val="132468"/>
              </a:lnSpc>
              <a:buNone/>
            </a:pPr>
            <a:r>
              <a:rPr lang="en-US" sz="2550" i="1" dirty="0">
                <a:solidFill>
                  <a:srgbClr val="000B33"/>
                </a:solidFill>
                <a:latin typeface="Georgia" pitchFamily="34" charset="0"/>
                <a:ea typeface="Georgia" pitchFamily="34" charset="-122"/>
                <a:cs typeface="Georgia" pitchFamily="34" charset="-120"/>
              </a:rPr>
              <a:t>does the thing</a:t>
            </a:r>
            <a:pPr algn="l" indent="0" marL="0">
              <a:lnSpc>
                <a:spcPct val="132468"/>
              </a:lnSpc>
              <a:buNone/>
            </a:pPr>
            <a:r>
              <a:rPr lang="en-US" sz="2550" dirty="0">
                <a:solidFill>
                  <a:srgbClr val="000B33"/>
                </a:solidFill>
                <a:latin typeface="Georgia" pitchFamily="34" charset="0"/>
                <a:ea typeface="Georgia" pitchFamily="34" charset="-122"/>
                <a:cs typeface="Georgia" pitchFamily="34" charset="-120"/>
              </a:rPr>
              <a:t>.</a:t>
            </a:r>
            <a:endParaRPr lang="en-US" sz="2550" dirty="0"/>
          </a:p>
        </p:txBody>
      </p:sp>
      <p:sp>
        <p:nvSpPr>
          <p:cNvPr id="6" name="Text 4"/>
          <p:cNvSpPr/>
          <p:nvPr/>
        </p:nvSpPr>
        <p:spPr>
          <a:xfrm>
            <a:off x="952500" y="7840638"/>
            <a:ext cx="8044815" cy="1495425"/>
          </a:xfrm>
          <a:prstGeom prst="rect">
            <a:avLst/>
          </a:prstGeom>
          <a:noFill/>
          <a:ln/>
        </p:spPr>
        <p:txBody>
          <a:bodyPr wrap="square" lIns="25400" tIns="25400" rIns="25400" bIns="25400" rtlCol="0" anchor="t">
            <a:normAutofit/>
          </a:bodyPr>
          <a:lstStyle/>
          <a:p>
            <a:pPr algn="l" indent="0" marL="0">
              <a:lnSpc>
                <a:spcPct val="132468"/>
              </a:lnSpc>
              <a:buNone/>
            </a:pPr>
            <a:r>
              <a:rPr lang="en-US" sz="2550" dirty="0">
                <a:solidFill>
                  <a:srgbClr val="565D78"/>
                </a:solidFill>
                <a:latin typeface="Georgia" pitchFamily="34" charset="0"/>
                <a:ea typeface="Georgia" pitchFamily="34" charset="-122"/>
                <a:cs typeface="Georgia" pitchFamily="34" charset="-120"/>
              </a:rPr>
              <a:t>A weighted scoring matrix is defensible only to whoever chose the weights. It is not portable: the next ministry, sector or country starts over.</a:t>
            </a:r>
            <a:endParaRPr lang="en-US" sz="2550" dirty="0"/>
          </a:p>
        </p:txBody>
      </p:sp>
      <p:sp>
        <p:nvSpPr>
          <p:cNvPr id="7" name="Shape 5"/>
          <p:cNvSpPr/>
          <p:nvPr/>
        </p:nvSpPr>
        <p:spPr>
          <a:xfrm>
            <a:off x="9525000" y="2490639"/>
            <a:ext cx="28575" cy="5305723"/>
          </a:xfrm>
          <a:prstGeom prst="rect">
            <a:avLst/>
          </a:prstGeom>
          <a:solidFill>
            <a:srgbClr val="E21E51"/>
          </a:solidFill>
          <a:ln/>
        </p:spPr>
      </p:sp>
      <p:sp>
        <p:nvSpPr>
          <p:cNvPr id="8" name="Text 6"/>
          <p:cNvSpPr/>
          <p:nvPr/>
        </p:nvSpPr>
        <p:spPr>
          <a:xfrm>
            <a:off x="9972675" y="2604939"/>
            <a:ext cx="7583710" cy="2247900"/>
          </a:xfrm>
          <a:prstGeom prst="rect">
            <a:avLst/>
          </a:prstGeom>
          <a:noFill/>
          <a:ln/>
        </p:spPr>
        <p:txBody>
          <a:bodyPr wrap="square" lIns="25400" tIns="25400" rIns="25400" bIns="25400" rtlCol="0" anchor="t">
            <a:normAutofit/>
          </a:bodyPr>
          <a:lstStyle/>
          <a:p>
            <a:pPr algn="l" indent="0" marL="0">
              <a:lnSpc>
                <a:spcPct val="127473"/>
              </a:lnSpc>
              <a:buNone/>
            </a:pPr>
            <a:r>
              <a:rPr lang="en-US" sz="3000" dirty="0">
                <a:solidFill>
                  <a:srgbClr val="000B33"/>
                </a:solidFill>
                <a:latin typeface="Georgia" pitchFamily="34" charset="0"/>
                <a:ea typeface="Georgia" pitchFamily="34" charset="-122"/>
                <a:cs typeface="Georgia" pitchFamily="34" charset="-120"/>
              </a:rPr>
              <a:t>Describe the capability independently of anyone’s product — durable, governed, forkable — then describe how each solution </a:t>
            </a:r>
            <a:pPr algn="l" indent="0" marL="0">
              <a:lnSpc>
                <a:spcPct val="127473"/>
              </a:lnSpc>
              <a:buNone/>
            </a:pPr>
            <a:r>
              <a:rPr lang="en-US" sz="3000" b="1" dirty="0">
                <a:solidFill>
                  <a:srgbClr val="E21E51"/>
                </a:solidFill>
                <a:latin typeface="Georgia" pitchFamily="34" charset="0"/>
                <a:ea typeface="Georgia" pitchFamily="34" charset="-122"/>
                <a:cs typeface="Georgia" pitchFamily="34" charset="-120"/>
              </a:rPr>
              <a:t>relates </a:t>
            </a:r>
            <a:pPr algn="l" indent="0" marL="0">
              <a:lnSpc>
                <a:spcPct val="127473"/>
              </a:lnSpc>
              <a:buNone/>
            </a:pPr>
            <a:r>
              <a:rPr lang="en-US" sz="3000" dirty="0">
                <a:solidFill>
                  <a:srgbClr val="000B33"/>
                </a:solidFill>
                <a:latin typeface="Georgia" pitchFamily="34" charset="0"/>
                <a:ea typeface="Georgia" pitchFamily="34" charset="-122"/>
                <a:cs typeface="Georgia" pitchFamily="34" charset="-120"/>
              </a:rPr>
              <a:t>to it.</a:t>
            </a:r>
            <a:endParaRPr lang="en-US" sz="3000" dirty="0"/>
          </a:p>
        </p:txBody>
      </p:sp>
      <p:sp>
        <p:nvSpPr>
          <p:cNvPr id="9" name="Text 7"/>
          <p:cNvSpPr/>
          <p:nvPr/>
        </p:nvSpPr>
        <p:spPr>
          <a:xfrm>
            <a:off x="9972675" y="5119539"/>
            <a:ext cx="7583710" cy="1233785"/>
          </a:xfrm>
          <a:prstGeom prst="rect">
            <a:avLst/>
          </a:prstGeom>
          <a:noFill/>
          <a:ln/>
        </p:spPr>
        <p:txBody>
          <a:bodyPr wrap="square" lIns="25400" tIns="25400" rIns="25400" bIns="25400" rtlCol="0" anchor="t">
            <a:normAutofit/>
          </a:bodyPr>
          <a:lstStyle/>
          <a:p>
            <a:pPr algn="l" indent="0" marL="0">
              <a:lnSpc>
                <a:spcPct val="135000"/>
              </a:lnSpc>
              <a:buNone/>
            </a:pPr>
            <a:r>
              <a:rPr lang="en-US" sz="2025" dirty="0">
                <a:solidFill>
                  <a:srgbClr val="565D78"/>
                </a:solidFill>
                <a:latin typeface="Arial" pitchFamily="34" charset="0"/>
                <a:ea typeface="Arial" pitchFamily="34" charset="-122"/>
                <a:cs typeface="Arial" pitchFamily="34" charset="-120"/>
              </a:rPr>
              <a:t>Comparison then happens in a space that outlives the procurement, and the relations carry the distinctions a feature list flattens.</a:t>
            </a:r>
            <a:endParaRPr lang="en-US" sz="2025" dirty="0"/>
          </a:p>
        </p:txBody>
      </p:sp>
      <p:sp>
        <p:nvSpPr>
          <p:cNvPr id="10" name="Shape 8"/>
          <p:cNvSpPr/>
          <p:nvPr/>
        </p:nvSpPr>
        <p:spPr>
          <a:xfrm>
            <a:off x="9972675" y="6658124"/>
            <a:ext cx="7362825" cy="19050"/>
          </a:xfrm>
          <a:prstGeom prst="rect">
            <a:avLst/>
          </a:prstGeom>
          <a:solidFill>
            <a:srgbClr val="E21E51"/>
          </a:solidFill>
          <a:ln/>
        </p:spPr>
      </p:sp>
      <p:sp>
        <p:nvSpPr>
          <p:cNvPr id="11" name="Text 9"/>
          <p:cNvSpPr/>
          <p:nvPr/>
        </p:nvSpPr>
        <p:spPr>
          <a:xfrm>
            <a:off x="9972675" y="6905774"/>
            <a:ext cx="7583710" cy="814388"/>
          </a:xfrm>
          <a:prstGeom prst="rect">
            <a:avLst/>
          </a:prstGeom>
          <a:noFill/>
          <a:ln/>
        </p:spPr>
        <p:txBody>
          <a:bodyPr wrap="square" lIns="25400" tIns="25400" rIns="25400" bIns="25400" rtlCol="0" anchor="t">
            <a:normAutofit/>
          </a:bodyPr>
          <a:lstStyle/>
          <a:p>
            <a:pPr algn="l" indent="0" marL="0">
              <a:lnSpc>
                <a:spcPct val="130645"/>
              </a:lnSpc>
              <a:buNone/>
            </a:pPr>
            <a:r>
              <a:rPr lang="en-US" sz="2025" b="1" dirty="0">
                <a:solidFill>
                  <a:srgbClr val="E21E51"/>
                </a:solidFill>
                <a:latin typeface="Arial" pitchFamily="34" charset="0"/>
                <a:ea typeface="Arial" pitchFamily="34" charset="-122"/>
                <a:cs typeface="Arial" pitchFamily="34" charset="-120"/>
              </a:rPr>
              <a:t>The ask: </a:t>
            </a:r>
            <a:pPr algn="l" indent="0" marL="0">
              <a:lnSpc>
                <a:spcPct val="130645"/>
              </a:lnSpc>
              <a:buNone/>
            </a:pPr>
            <a:r>
              <a:rPr lang="en-US" sz="2025" dirty="0">
                <a:solidFill>
                  <a:srgbClr val="000B33"/>
                </a:solidFill>
                <a:latin typeface="Arial" pitchFamily="34" charset="0"/>
                <a:ea typeface="Arial" pitchFamily="34" charset="-122"/>
                <a:cs typeface="Arial" pitchFamily="34" charset="-120"/>
              </a:rPr>
              <a:t>each sector IRB defines the capabilities of its sector — in the shared vocabulary, as governed processes.</a:t>
            </a:r>
            <a:endParaRPr lang="en-US" sz="20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9"/>
        </a:solidFill>
      </p:bgPr>
    </p:bg>
    <p:spTree>
      <p:nvGrpSpPr>
        <p:cNvPr id="1" name=""/>
        <p:cNvGrpSpPr/>
        <p:nvPr/>
      </p:nvGrpSpPr>
      <p:grpSpPr>
        <a:xfrm>
          <a:off x="0" y="0"/>
          <a:ext cx="0" cy="0"/>
          <a:chOff x="0" y="0"/>
          <a:chExt cx="0" cy="0"/>
        </a:xfrm>
      </p:grpSpPr>
      <p:sp>
        <p:nvSpPr>
          <p:cNvPr id="2" name="Text 0"/>
          <p:cNvSpPr/>
          <p:nvPr/>
        </p:nvSpPr>
        <p:spPr>
          <a:xfrm>
            <a:off x="952500" y="85725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THE UNIT OF THE SEMANTIC LAYER</a:t>
            </a:r>
            <a:endParaRPr lang="en-US" sz="1950" dirty="0"/>
          </a:p>
        </p:txBody>
      </p:sp>
      <p:sp>
        <p:nvSpPr>
          <p:cNvPr id="3" name="Text 1"/>
          <p:cNvSpPr/>
          <p:nvPr/>
        </p:nvSpPr>
        <p:spPr>
          <a:xfrm>
            <a:off x="952500" y="1409700"/>
            <a:ext cx="18021300" cy="750540"/>
          </a:xfrm>
          <a:prstGeom prst="rect">
            <a:avLst/>
          </a:prstGeom>
          <a:noFill/>
          <a:ln/>
        </p:spPr>
        <p:txBody>
          <a:bodyPr wrap="square" lIns="25400" tIns="25400" rIns="25400" bIns="25400" rtlCol="0" anchor="t">
            <a:normAutofit/>
          </a:bodyPr>
          <a:lstStyle/>
          <a:p>
            <a:pPr algn="l" indent="0" marL="0">
              <a:lnSpc>
                <a:spcPct val="96516"/>
              </a:lnSpc>
              <a:buNone/>
            </a:pPr>
            <a:r>
              <a:rPr lang="en-US" sz="5100" dirty="0">
                <a:solidFill>
                  <a:srgbClr val="000B33"/>
                </a:solidFill>
                <a:latin typeface="Georgia" pitchFamily="34" charset="0"/>
                <a:ea typeface="Georgia" pitchFamily="34" charset="-122"/>
                <a:cs typeface="Georgia" pitchFamily="34" charset="-120"/>
              </a:rPr>
              <a:t>A Node Is a Definition, Not an Implementation</a:t>
            </a:r>
            <a:endParaRPr lang="en-US" sz="5100" dirty="0"/>
          </a:p>
        </p:txBody>
      </p:sp>
      <p:sp>
        <p:nvSpPr>
          <p:cNvPr id="4" name="Shape 2"/>
          <p:cNvSpPr/>
          <p:nvPr/>
        </p:nvSpPr>
        <p:spPr>
          <a:xfrm>
            <a:off x="952500" y="2579340"/>
            <a:ext cx="8039100" cy="2486025"/>
          </a:xfrm>
          <a:prstGeom prst="rect">
            <a:avLst/>
          </a:prstGeom>
          <a:solidFill>
            <a:srgbClr val="FFFFFF"/>
          </a:solidFill>
          <a:ln/>
        </p:spPr>
      </p:sp>
      <p:sp>
        <p:nvSpPr>
          <p:cNvPr id="5" name="Shape 3"/>
          <p:cNvSpPr/>
          <p:nvPr/>
        </p:nvSpPr>
        <p:spPr>
          <a:xfrm>
            <a:off x="952500" y="2579340"/>
            <a:ext cx="8039100" cy="38100"/>
          </a:xfrm>
          <a:prstGeom prst="rect">
            <a:avLst/>
          </a:prstGeom>
          <a:solidFill>
            <a:srgbClr val="E21E51"/>
          </a:solidFill>
          <a:ln/>
        </p:spPr>
      </p:sp>
      <p:sp>
        <p:nvSpPr>
          <p:cNvPr id="6" name="Text 4"/>
          <p:cNvSpPr/>
          <p:nvPr/>
        </p:nvSpPr>
        <p:spPr>
          <a:xfrm>
            <a:off x="1371600" y="2979390"/>
            <a:ext cx="792099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000B33"/>
                </a:solidFill>
                <a:latin typeface="Arial" pitchFamily="34" charset="0"/>
                <a:ea typeface="Arial" pitchFamily="34" charset="-122"/>
                <a:cs typeface="Arial" pitchFamily="34" charset="-120"/>
              </a:rPr>
              <a:t>The definition says</a:t>
            </a:r>
            <a:endParaRPr lang="en-US" sz="2250" dirty="0"/>
          </a:p>
        </p:txBody>
      </p:sp>
      <p:sp>
        <p:nvSpPr>
          <p:cNvPr id="7" name="Text 5"/>
          <p:cNvSpPr/>
          <p:nvPr/>
        </p:nvSpPr>
        <p:spPr>
          <a:xfrm>
            <a:off x="1371600" y="3460403"/>
            <a:ext cx="7416927" cy="1281113"/>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39415F"/>
                </a:solidFill>
                <a:latin typeface="Georgia" pitchFamily="34" charset="0"/>
                <a:ea typeface="Georgia" pitchFamily="34" charset="-122"/>
                <a:cs typeface="Georgia" pitchFamily="34" charset="-120"/>
              </a:rPr>
              <a:t>What the capability is: its purpose, what it requires, what human outcomes it touches, which outcomes would be unacceptable, what evidence would show it working.</a:t>
            </a:r>
            <a:endParaRPr lang="en-US" sz="2175" dirty="0"/>
          </a:p>
        </p:txBody>
      </p:sp>
      <p:sp>
        <p:nvSpPr>
          <p:cNvPr id="8" name="Shape 6"/>
          <p:cNvSpPr/>
          <p:nvPr/>
        </p:nvSpPr>
        <p:spPr>
          <a:xfrm>
            <a:off x="9296400" y="2579340"/>
            <a:ext cx="8039100" cy="2486025"/>
          </a:xfrm>
          <a:prstGeom prst="rect">
            <a:avLst/>
          </a:prstGeom>
          <a:solidFill>
            <a:srgbClr val="FFFFFF"/>
          </a:solidFill>
          <a:ln/>
        </p:spPr>
      </p:sp>
      <p:sp>
        <p:nvSpPr>
          <p:cNvPr id="9" name="Shape 7"/>
          <p:cNvSpPr/>
          <p:nvPr/>
        </p:nvSpPr>
        <p:spPr>
          <a:xfrm>
            <a:off x="9296400" y="2579340"/>
            <a:ext cx="8039100" cy="38100"/>
          </a:xfrm>
          <a:prstGeom prst="rect">
            <a:avLst/>
          </a:prstGeom>
          <a:solidFill>
            <a:srgbClr val="000B33"/>
          </a:solidFill>
          <a:ln/>
        </p:spPr>
      </p:sp>
      <p:sp>
        <p:nvSpPr>
          <p:cNvPr id="10" name="Text 8"/>
          <p:cNvSpPr/>
          <p:nvPr/>
        </p:nvSpPr>
        <p:spPr>
          <a:xfrm>
            <a:off x="9715500" y="2979390"/>
            <a:ext cx="7920990" cy="366713"/>
          </a:xfrm>
          <a:prstGeom prst="rect">
            <a:avLst/>
          </a:prstGeom>
          <a:noFill/>
          <a:ln/>
        </p:spPr>
        <p:txBody>
          <a:bodyPr wrap="square" lIns="25400" tIns="25400" rIns="25400" bIns="25400" rtlCol="0" anchor="t">
            <a:normAutofit/>
          </a:bodyPr>
          <a:lstStyle/>
          <a:p>
            <a:pPr algn="l" indent="0" marL="0">
              <a:buNone/>
            </a:pPr>
            <a:r>
              <a:rPr lang="en-US" sz="2250" b="1" dirty="0">
                <a:solidFill>
                  <a:srgbClr val="000B33"/>
                </a:solidFill>
                <a:latin typeface="Arial" pitchFamily="34" charset="0"/>
                <a:ea typeface="Arial" pitchFamily="34" charset="-122"/>
                <a:cs typeface="Arial" pitchFamily="34" charset="-120"/>
              </a:rPr>
              <a:t>An instance says</a:t>
            </a:r>
            <a:endParaRPr lang="en-US" sz="2250" dirty="0"/>
          </a:p>
        </p:txBody>
      </p:sp>
      <p:sp>
        <p:nvSpPr>
          <p:cNvPr id="11" name="Text 9"/>
          <p:cNvSpPr/>
          <p:nvPr/>
        </p:nvSpPr>
        <p:spPr>
          <a:xfrm>
            <a:off x="9715500" y="3460403"/>
            <a:ext cx="7416927" cy="1281113"/>
          </a:xfrm>
          <a:prstGeom prst="rect">
            <a:avLst/>
          </a:prstGeom>
          <a:noFill/>
          <a:ln/>
        </p:spPr>
        <p:txBody>
          <a:bodyPr wrap="square" lIns="25400" tIns="25400" rIns="25400" bIns="25400" rtlCol="0" anchor="t">
            <a:normAutofit/>
          </a:bodyPr>
          <a:lstStyle/>
          <a:p>
            <a:pPr algn="l" indent="0" marL="0">
              <a:lnSpc>
                <a:spcPct val="131818"/>
              </a:lnSpc>
              <a:buNone/>
            </a:pPr>
            <a:r>
              <a:rPr lang="en-US" sz="2175" dirty="0">
                <a:solidFill>
                  <a:srgbClr val="39415F"/>
                </a:solidFill>
                <a:latin typeface="Georgia" pitchFamily="34" charset="0"/>
                <a:ea typeface="Georgia" pitchFamily="34" charset="-122"/>
                <a:cs typeface="Georgia" pitchFamily="34" charset="-120"/>
              </a:rPr>
              <a:t>That this organisation runs this realisation of it. “Brunnen Nord” and “Brunnen Süd” are two instances of one definition — their states independent.</a:t>
            </a:r>
            <a:endParaRPr lang="en-US" sz="2175" dirty="0"/>
          </a:p>
        </p:txBody>
      </p:sp>
      <p:sp>
        <p:nvSpPr>
          <p:cNvPr id="12" name="Shape 10"/>
          <p:cNvSpPr/>
          <p:nvPr/>
        </p:nvSpPr>
        <p:spPr>
          <a:xfrm>
            <a:off x="952500" y="5408265"/>
            <a:ext cx="16383000" cy="2105025"/>
          </a:xfrm>
          <a:prstGeom prst="rect">
            <a:avLst/>
          </a:prstGeom>
          <a:solidFill>
            <a:srgbClr val="FEF2F5"/>
          </a:solidFill>
          <a:ln w="14288">
            <a:solidFill>
              <a:srgbClr val="E21E51"/>
            </a:solidFill>
            <a:prstDash val="solid"/>
          </a:ln>
        </p:spPr>
      </p:sp>
      <p:sp>
        <p:nvSpPr>
          <p:cNvPr id="13" name="Text 11"/>
          <p:cNvSpPr/>
          <p:nvPr/>
        </p:nvSpPr>
        <p:spPr>
          <a:xfrm>
            <a:off x="1385888" y="6126510"/>
            <a:ext cx="2552700" cy="706636"/>
          </a:xfrm>
          <a:prstGeom prst="rect">
            <a:avLst/>
          </a:prstGeom>
          <a:noFill/>
          <a:ln/>
        </p:spPr>
        <p:txBody>
          <a:bodyPr wrap="square" lIns="25400" tIns="25400" rIns="25400" bIns="25400" rtlCol="0" anchor="t">
            <a:normAutofit/>
          </a:bodyPr>
          <a:lstStyle/>
          <a:p>
            <a:pPr algn="l" indent="0" marL="0">
              <a:lnSpc>
                <a:spcPct val="117000"/>
              </a:lnSpc>
              <a:buNone/>
            </a:pPr>
            <a:r>
              <a:rPr lang="en-US" sz="1950" b="1" spc="195" kern="0" dirty="0">
                <a:solidFill>
                  <a:srgbClr val="E21E51"/>
                </a:solidFill>
                <a:latin typeface="Arial" pitchFamily="34" charset="0"/>
                <a:ea typeface="Arial" pitchFamily="34" charset="-122"/>
                <a:cs typeface="Arial" pitchFamily="34" charset="-120"/>
              </a:rPr>
              <a:t>THE TWO CORE PARAMETERS</a:t>
            </a:r>
            <a:endParaRPr lang="en-US" sz="1950" dirty="0"/>
          </a:p>
        </p:txBody>
      </p:sp>
      <p:sp>
        <p:nvSpPr>
          <p:cNvPr id="14" name="Text 12"/>
          <p:cNvSpPr/>
          <p:nvPr/>
        </p:nvSpPr>
        <p:spPr>
          <a:xfrm>
            <a:off x="4281488" y="5727353"/>
            <a:ext cx="6710839"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00B33"/>
                </a:solidFill>
                <a:latin typeface="Arial" pitchFamily="34" charset="0"/>
                <a:ea typeface="Arial" pitchFamily="34" charset="-122"/>
                <a:cs typeface="Arial" pitchFamily="34" charset="-120"/>
              </a:rPr>
              <a:t>Capacity</a:t>
            </a:r>
            <a:endParaRPr lang="en-US" sz="2175" dirty="0"/>
          </a:p>
        </p:txBody>
      </p:sp>
      <p:sp>
        <p:nvSpPr>
          <p:cNvPr id="15" name="Text 13"/>
          <p:cNvSpPr/>
          <p:nvPr/>
        </p:nvSpPr>
        <p:spPr>
          <a:xfrm>
            <a:off x="4281488" y="6122640"/>
            <a:ext cx="6283785"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65D78"/>
                </a:solidFill>
                <a:latin typeface="Arial" pitchFamily="34" charset="0"/>
                <a:ea typeface="Arial" pitchFamily="34" charset="-122"/>
                <a:cs typeface="Arial" pitchFamily="34" charset="-120"/>
              </a:rPr>
              <a:t>How much — stated in the holder’s unit: 50 litres per person per day for a household, cubic metres per day for a municipality.</a:t>
            </a:r>
            <a:endParaRPr lang="en-US" sz="1875" dirty="0"/>
          </a:p>
        </p:txBody>
      </p:sp>
      <p:sp>
        <p:nvSpPr>
          <p:cNvPr id="16" name="Text 14"/>
          <p:cNvSpPr/>
          <p:nvPr/>
        </p:nvSpPr>
        <p:spPr>
          <a:xfrm>
            <a:off x="10801350" y="5905946"/>
            <a:ext cx="6710839"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00B33"/>
                </a:solidFill>
                <a:latin typeface="Arial" pitchFamily="34" charset="0"/>
                <a:ea typeface="Arial" pitchFamily="34" charset="-122"/>
                <a:cs typeface="Arial" pitchFamily="34" charset="-120"/>
              </a:rPr>
              <a:t>Quality of service</a:t>
            </a:r>
            <a:endParaRPr lang="en-US" sz="2175" dirty="0"/>
          </a:p>
        </p:txBody>
      </p:sp>
      <p:sp>
        <p:nvSpPr>
          <p:cNvPr id="17" name="Text 15"/>
          <p:cNvSpPr/>
          <p:nvPr/>
        </p:nvSpPr>
        <p:spPr>
          <a:xfrm>
            <a:off x="10801350" y="6301234"/>
            <a:ext cx="6283785"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65D78"/>
                </a:solidFill>
                <a:latin typeface="Arial" pitchFamily="34" charset="0"/>
                <a:ea typeface="Arial" pitchFamily="34" charset="-122"/>
                <a:cs typeface="Arial" pitchFamily="34" charset="-120"/>
              </a:rPr>
              <a:t>How well — evidenced against the definition’s criteria and monitored over time, never claimed.</a:t>
            </a:r>
            <a:endParaRPr lang="en-US" sz="1875" dirty="0"/>
          </a:p>
        </p:txBody>
      </p:sp>
      <p:sp>
        <p:nvSpPr>
          <p:cNvPr id="18" name="Shape 16"/>
          <p:cNvSpPr/>
          <p:nvPr/>
        </p:nvSpPr>
        <p:spPr>
          <a:xfrm>
            <a:off x="952500" y="8496300"/>
            <a:ext cx="16383000" cy="19050"/>
          </a:xfrm>
          <a:prstGeom prst="rect">
            <a:avLst/>
          </a:prstGeom>
          <a:solidFill>
            <a:srgbClr val="000B33"/>
          </a:solidFill>
          <a:ln/>
        </p:spPr>
      </p:sp>
      <p:sp>
        <p:nvSpPr>
          <p:cNvPr id="19" name="Text 17"/>
          <p:cNvSpPr/>
          <p:nvPr/>
        </p:nvSpPr>
        <p:spPr>
          <a:xfrm>
            <a:off x="952500" y="8782050"/>
            <a:ext cx="14225588" cy="685800"/>
          </a:xfrm>
          <a:prstGeom prst="rect">
            <a:avLst/>
          </a:prstGeom>
          <a:noFill/>
          <a:ln/>
        </p:spPr>
        <p:txBody>
          <a:bodyPr wrap="square" lIns="25400" tIns="25400" rIns="25400" bIns="25400" rtlCol="0" anchor="t">
            <a:normAutofit/>
          </a:bodyPr>
          <a:lstStyle/>
          <a:p>
            <a:pPr algn="l" indent="0" marL="0">
              <a:buNone/>
            </a:pPr>
            <a:r>
              <a:rPr lang="en-US" sz="2250" i="1" dirty="0">
                <a:solidFill>
                  <a:srgbClr val="000B33"/>
                </a:solidFill>
                <a:latin typeface="Georgia" pitchFamily="34" charset="0"/>
                <a:ea typeface="Georgia" pitchFamily="34" charset="-122"/>
                <a:cs typeface="Georgia" pitchFamily="34" charset="-120"/>
              </a:rPr>
              <a:t>Two municipalities are comparable because they are measured against the same definition — on the same two parameters.</a:t>
            </a:r>
            <a:endParaRPr lang="en-US" sz="2250" dirty="0"/>
          </a:p>
        </p:txBody>
      </p:sp>
      <p:sp>
        <p:nvSpPr>
          <p:cNvPr id="20" name="Text 18"/>
          <p:cNvSpPr/>
          <p:nvPr/>
        </p:nvSpPr>
        <p:spPr>
          <a:xfrm>
            <a:off x="15552390" y="8810625"/>
            <a:ext cx="1961421" cy="333375"/>
          </a:xfrm>
          <a:prstGeom prst="rect">
            <a:avLst/>
          </a:prstGeom>
          <a:noFill/>
          <a:ln/>
        </p:spPr>
        <p:txBody>
          <a:bodyPr wrap="none" lIns="25400" tIns="25400" rIns="25400" bIns="25400" rtlCol="0" anchor="t">
            <a:normAutofit/>
          </a:bodyPr>
          <a:lstStyle/>
          <a:p>
            <a:pPr algn="l" indent="0" marL="0">
              <a:buNone/>
            </a:pPr>
            <a:r>
              <a:rPr lang="en-US" sz="1800" dirty="0">
                <a:solidFill>
                  <a:srgbClr val="6E7590"/>
                </a:solidFill>
                <a:latin typeface="Courier New" pitchFamily="34" charset="0"/>
                <a:ea typeface="Courier New" pitchFamily="34" charset="-122"/>
                <a:cs typeface="Courier New" pitchFamily="34" charset="-120"/>
              </a:rPr>
              <a:t>§27.2 · §27.5</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538163"/>
            <a:ext cx="9698809"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HOW SOLUTIONS ARE ORDERED ON THE SEMANTIC LAYER</a:t>
            </a:r>
            <a:endParaRPr lang="en-US" sz="1950" dirty="0"/>
          </a:p>
        </p:txBody>
      </p:sp>
      <p:sp>
        <p:nvSpPr>
          <p:cNvPr id="3" name="Text 1"/>
          <p:cNvSpPr/>
          <p:nvPr/>
        </p:nvSpPr>
        <p:spPr>
          <a:xfrm>
            <a:off x="11934751" y="533400"/>
            <a:ext cx="3110917" cy="333375"/>
          </a:xfrm>
          <a:prstGeom prst="rect">
            <a:avLst/>
          </a:prstGeom>
          <a:noFill/>
          <a:ln/>
        </p:spPr>
        <p:txBody>
          <a:bodyPr wrap="none" lIns="25400" tIns="25400" rIns="25400" bIns="25400" rtlCol="0" anchor="t">
            <a:normAutofit/>
          </a:bodyPr>
          <a:lstStyle/>
          <a:p>
            <a:pPr algn="l" indent="0" marL="0">
              <a:buNone/>
            </a:pPr>
            <a:r>
              <a:rPr lang="en-US" sz="1800" b="1" dirty="0">
                <a:solidFill>
                  <a:srgbClr val="0E9E8F"/>
                </a:solidFill>
                <a:latin typeface="Arial" pitchFamily="34" charset="0"/>
                <a:ea typeface="Arial" pitchFamily="34" charset="-122"/>
                <a:cs typeface="Arial" pitchFamily="34" charset="-120"/>
              </a:rPr>
              <a:t>● </a:t>
            </a:r>
            <a:pPr algn="l" indent="0" marL="0">
              <a:buNone/>
            </a:pPr>
            <a:r>
              <a:rPr lang="en-US" sz="1800" dirty="0">
                <a:solidFill>
                  <a:srgbClr val="565D78"/>
                </a:solidFill>
                <a:latin typeface="Arial" pitchFamily="34" charset="0"/>
                <a:ea typeface="Arial" pitchFamily="34" charset="-122"/>
                <a:cs typeface="Arial" pitchFamily="34" charset="-120"/>
              </a:rPr>
              <a:t>live · FAIR where certified</a:t>
            </a:r>
            <a:endParaRPr lang="en-US" sz="1800" dirty="0"/>
          </a:p>
        </p:txBody>
      </p:sp>
      <p:sp>
        <p:nvSpPr>
          <p:cNvPr id="4" name="Text 2"/>
          <p:cNvSpPr/>
          <p:nvPr/>
        </p:nvSpPr>
        <p:spPr>
          <a:xfrm>
            <a:off x="15029557" y="533400"/>
            <a:ext cx="1088752" cy="333375"/>
          </a:xfrm>
          <a:prstGeom prst="rect">
            <a:avLst/>
          </a:prstGeom>
          <a:noFill/>
          <a:ln/>
        </p:spPr>
        <p:txBody>
          <a:bodyPr wrap="none" lIns="25400" tIns="25400" rIns="25400" bIns="25400" rtlCol="0" anchor="t">
            <a:normAutofit/>
          </a:bodyPr>
          <a:lstStyle/>
          <a:p>
            <a:pPr algn="l" indent="0" marL="0">
              <a:buNone/>
            </a:pPr>
            <a:r>
              <a:rPr lang="en-US" sz="1800" b="1" dirty="0">
                <a:solidFill>
                  <a:srgbClr val="E21E51"/>
                </a:solidFill>
                <a:latin typeface="Arial" pitchFamily="34" charset="0"/>
                <a:ea typeface="Arial" pitchFamily="34" charset="-122"/>
                <a:cs typeface="Arial" pitchFamily="34" charset="-120"/>
              </a:rPr>
              <a:t>● </a:t>
            </a:r>
            <a:pPr algn="l" indent="0" marL="0">
              <a:buNone/>
            </a:pPr>
            <a:r>
              <a:rPr lang="en-US" sz="1800" dirty="0">
                <a:solidFill>
                  <a:srgbClr val="565D78"/>
                </a:solidFill>
                <a:latin typeface="Arial" pitchFamily="34" charset="0"/>
                <a:ea typeface="Arial" pitchFamily="34" charset="-122"/>
                <a:cs typeface="Arial" pitchFamily="34" charset="-120"/>
              </a:rPr>
              <a:t>in setup</a:t>
            </a:r>
            <a:endParaRPr lang="en-US" sz="1800" dirty="0"/>
          </a:p>
        </p:txBody>
      </p:sp>
      <p:sp>
        <p:nvSpPr>
          <p:cNvPr id="5" name="Text 3"/>
          <p:cNvSpPr/>
          <p:nvPr/>
        </p:nvSpPr>
        <p:spPr>
          <a:xfrm>
            <a:off x="16308809" y="533400"/>
            <a:ext cx="1102891" cy="333375"/>
          </a:xfrm>
          <a:prstGeom prst="rect">
            <a:avLst/>
          </a:prstGeom>
          <a:noFill/>
          <a:ln/>
        </p:spPr>
        <p:txBody>
          <a:bodyPr wrap="none" lIns="25400" tIns="25400" rIns="25400" bIns="25400" rtlCol="0" anchor="t">
            <a:normAutofit/>
          </a:bodyPr>
          <a:lstStyle/>
          <a:p>
            <a:pPr algn="l" indent="0" marL="0">
              <a:buNone/>
            </a:pPr>
            <a:r>
              <a:rPr lang="en-US" sz="1800" b="1" dirty="0">
                <a:solidFill>
                  <a:srgbClr val="9AA2BC"/>
                </a:solidFill>
                <a:latin typeface="Arial" pitchFamily="34" charset="0"/>
                <a:ea typeface="Arial" pitchFamily="34" charset="-122"/>
                <a:cs typeface="Arial" pitchFamily="34" charset="-120"/>
              </a:rPr>
              <a:t>● </a:t>
            </a:r>
            <a:pPr algn="l" indent="0" marL="0">
              <a:buNone/>
            </a:pPr>
            <a:r>
              <a:rPr lang="en-US" sz="1800" dirty="0">
                <a:solidFill>
                  <a:srgbClr val="565D78"/>
                </a:solidFill>
                <a:latin typeface="Arial" pitchFamily="34" charset="0"/>
                <a:ea typeface="Arial" pitchFamily="34" charset="-122"/>
                <a:cs typeface="Arial" pitchFamily="34" charset="-120"/>
              </a:rPr>
              <a:t>planned</a:t>
            </a:r>
            <a:endParaRPr lang="en-US" sz="1800" dirty="0"/>
          </a:p>
        </p:txBody>
      </p:sp>
      <p:sp>
        <p:nvSpPr>
          <p:cNvPr id="6" name="Text 4"/>
          <p:cNvSpPr/>
          <p:nvPr/>
        </p:nvSpPr>
        <p:spPr>
          <a:xfrm>
            <a:off x="952500" y="904875"/>
            <a:ext cx="18021300" cy="624780"/>
          </a:xfrm>
          <a:prstGeom prst="rect">
            <a:avLst/>
          </a:prstGeom>
          <a:noFill/>
          <a:ln/>
        </p:spPr>
        <p:txBody>
          <a:bodyPr wrap="square" lIns="25400" tIns="25400" rIns="25400" bIns="25400" rtlCol="0" anchor="t">
            <a:normAutofit/>
          </a:bodyPr>
          <a:lstStyle/>
          <a:p>
            <a:pPr algn="l" indent="0" marL="0">
              <a:lnSpc>
                <a:spcPct val="96250"/>
              </a:lnSpc>
              <a:buNone/>
            </a:pPr>
            <a:r>
              <a:rPr lang="en-US" sz="4200" dirty="0">
                <a:solidFill>
                  <a:srgbClr val="000B33"/>
                </a:solidFill>
                <a:latin typeface="Georgia" pitchFamily="34" charset="0"/>
                <a:ea typeface="Georgia" pitchFamily="34" charset="-122"/>
                <a:cs typeface="Georgia" pitchFamily="34" charset="-120"/>
              </a:rPr>
              <a:t>Every Entity at the Centre of Its Capability Flower</a:t>
            </a:r>
            <a:endParaRPr lang="en-US" sz="420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52500" y="1548705"/>
            <a:ext cx="5308550" cy="7833420"/>
          </a:xfrm>
          <a:prstGeom prst="rect">
            <a:avLst/>
          </a:prstGeom>
        </p:spPr>
      </p:pic>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89650" y="1548705"/>
            <a:ext cx="5308625" cy="7833420"/>
          </a:xfrm>
          <a:prstGeom prst="rect">
            <a:avLst/>
          </a:prstGeom>
        </p:spPr>
      </p:pic>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026875" y="1548705"/>
            <a:ext cx="5308550" cy="7833420"/>
          </a:xfrm>
          <a:prstGeom prst="rect">
            <a:avLst/>
          </a:prstGeom>
        </p:spPr>
      </p:pic>
      <p:sp>
        <p:nvSpPr>
          <p:cNvPr id="10" name="Shape 5"/>
          <p:cNvSpPr/>
          <p:nvPr/>
        </p:nvSpPr>
        <p:spPr>
          <a:xfrm>
            <a:off x="952500" y="9382125"/>
            <a:ext cx="16383000" cy="19050"/>
          </a:xfrm>
          <a:prstGeom prst="rect">
            <a:avLst/>
          </a:prstGeom>
          <a:solidFill>
            <a:srgbClr val="E21E51"/>
          </a:solidFill>
          <a:ln/>
        </p:spPr>
      </p:sp>
      <p:sp>
        <p:nvSpPr>
          <p:cNvPr id="11" name="Text 6"/>
          <p:cNvSpPr/>
          <p:nvPr/>
        </p:nvSpPr>
        <p:spPr>
          <a:xfrm>
            <a:off x="952500" y="9591675"/>
            <a:ext cx="11728988" cy="352425"/>
          </a:xfrm>
          <a:prstGeom prst="rect">
            <a:avLst/>
          </a:prstGeom>
          <a:noFill/>
          <a:ln/>
        </p:spPr>
        <p:txBody>
          <a:bodyPr wrap="square" lIns="25400" tIns="25400" rIns="25400" bIns="25400" rtlCol="0" anchor="t">
            <a:normAutofit/>
          </a:bodyPr>
          <a:lstStyle/>
          <a:p>
            <a:pPr algn="l" indent="0" marL="0">
              <a:buNone/>
            </a:pPr>
            <a:r>
              <a:rPr lang="en-US" sz="2175" i="1" dirty="0">
                <a:solidFill>
                  <a:srgbClr val="E21E51"/>
                </a:solidFill>
                <a:latin typeface="Georgia" pitchFamily="34" charset="0"/>
                <a:ea typeface="Georgia" pitchFamily="34" charset="-122"/>
                <a:cs typeface="Georgia" pitchFamily="34" charset="-120"/>
              </a:rPr>
              <a:t>Heterogeneous by design — states per capability, never a composite score for the whole.</a:t>
            </a:r>
            <a:endParaRPr lang="en-US" sz="2175" dirty="0"/>
          </a:p>
        </p:txBody>
      </p:sp>
      <p:sp>
        <p:nvSpPr>
          <p:cNvPr id="12" name="Text 7"/>
          <p:cNvSpPr/>
          <p:nvPr/>
        </p:nvSpPr>
        <p:spPr>
          <a:xfrm>
            <a:off x="15552390" y="9610725"/>
            <a:ext cx="1961421" cy="333375"/>
          </a:xfrm>
          <a:prstGeom prst="rect">
            <a:avLst/>
          </a:prstGeom>
          <a:noFill/>
          <a:ln/>
        </p:spPr>
        <p:txBody>
          <a:bodyPr wrap="none" lIns="25400" tIns="25400" rIns="25400" bIns="25400" rtlCol="0" anchor="t">
            <a:normAutofit/>
          </a:bodyPr>
          <a:lstStyle/>
          <a:p>
            <a:pPr algn="l" indent="0" marL="0">
              <a:buNone/>
            </a:pPr>
            <a:r>
              <a:rPr lang="en-US" sz="1800" dirty="0">
                <a:solidFill>
                  <a:srgbClr val="6E7590"/>
                </a:solidFill>
                <a:latin typeface="Courier New" pitchFamily="34" charset="0"/>
                <a:ea typeface="Courier New" pitchFamily="34" charset="-122"/>
                <a:cs typeface="Courier New" pitchFamily="34" charset="-120"/>
              </a:rPr>
              <a:t>§27.3 · §27.6</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6200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A COMPLETE NODE, BY EXAMPLE</a:t>
            </a:r>
            <a:endParaRPr lang="en-US" sz="1950" dirty="0"/>
          </a:p>
        </p:txBody>
      </p:sp>
      <p:sp>
        <p:nvSpPr>
          <p:cNvPr id="3" name="Text 1"/>
          <p:cNvSpPr/>
          <p:nvPr/>
        </p:nvSpPr>
        <p:spPr>
          <a:xfrm>
            <a:off x="952500" y="1276350"/>
            <a:ext cx="18021300" cy="708645"/>
          </a:xfrm>
          <a:prstGeom prst="rect">
            <a:avLst/>
          </a:prstGeom>
          <a:noFill/>
          <a:ln/>
        </p:spPr>
        <p:txBody>
          <a:bodyPr wrap="square" lIns="25400" tIns="25400" rIns="25400" bIns="25400" rtlCol="0" anchor="t">
            <a:normAutofit/>
          </a:bodyPr>
          <a:lstStyle/>
          <a:p>
            <a:pPr algn="l" indent="0" marL="0">
              <a:lnSpc>
                <a:spcPct val="97103"/>
              </a:lnSpc>
              <a:buNone/>
            </a:pPr>
            <a:r>
              <a:rPr lang="en-US" sz="4800" dirty="0">
                <a:solidFill>
                  <a:srgbClr val="000B33"/>
                </a:solidFill>
                <a:latin typeface="Georgia" pitchFamily="34" charset="0"/>
                <a:ea typeface="Georgia" pitchFamily="34" charset="-122"/>
                <a:cs typeface="Georgia" pitchFamily="34" charset="-120"/>
              </a:rPr>
              <a:t>Anatomy of a Capability Node</a:t>
            </a:r>
            <a:endParaRPr lang="en-US" sz="4800" dirty="0"/>
          </a:p>
        </p:txBody>
      </p:sp>
      <p:sp>
        <p:nvSpPr>
          <p:cNvPr id="4" name="Shape 2"/>
          <p:cNvSpPr/>
          <p:nvPr/>
        </p:nvSpPr>
        <p:spPr>
          <a:xfrm>
            <a:off x="952500" y="2327895"/>
            <a:ext cx="7442746" cy="7349505"/>
          </a:xfrm>
          <a:prstGeom prst="rect">
            <a:avLst/>
          </a:prstGeom>
          <a:ln w="19050">
            <a:solidFill>
              <a:srgbClr val="000B33"/>
            </a:solidFill>
            <a:prstDash val="solid"/>
          </a:ln>
        </p:spPr>
      </p:sp>
      <p:sp>
        <p:nvSpPr>
          <p:cNvPr id="5" name="Shape 3"/>
          <p:cNvSpPr/>
          <p:nvPr/>
        </p:nvSpPr>
        <p:spPr>
          <a:xfrm>
            <a:off x="971550" y="2346945"/>
            <a:ext cx="7404646" cy="642938"/>
          </a:xfrm>
          <a:prstGeom prst="rect">
            <a:avLst/>
          </a:prstGeom>
          <a:solidFill>
            <a:srgbClr val="000B33"/>
          </a:solidFill>
          <a:ln/>
        </p:spPr>
      </p:sp>
      <p:sp>
        <p:nvSpPr>
          <p:cNvPr id="6" name="Text 4"/>
          <p:cNvSpPr/>
          <p:nvPr/>
        </p:nvSpPr>
        <p:spPr>
          <a:xfrm>
            <a:off x="1257300" y="2518395"/>
            <a:ext cx="1871298" cy="333375"/>
          </a:xfrm>
          <a:prstGeom prst="rect">
            <a:avLst/>
          </a:prstGeom>
          <a:noFill/>
          <a:ln/>
        </p:spPr>
        <p:txBody>
          <a:bodyPr wrap="square" lIns="25400" tIns="25400" rIns="25400" bIns="25400" rtlCol="0" anchor="t">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Smart Seeding</a:t>
            </a:r>
            <a:endParaRPr lang="en-US" sz="2025" dirty="0"/>
          </a:p>
        </p:txBody>
      </p:sp>
      <p:sp>
        <p:nvSpPr>
          <p:cNvPr id="7" name="Text 5"/>
          <p:cNvSpPr/>
          <p:nvPr/>
        </p:nvSpPr>
        <p:spPr>
          <a:xfrm>
            <a:off x="4798591" y="2523158"/>
            <a:ext cx="362104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reference implementation</a:t>
            </a:r>
            <a:endParaRPr lang="en-US" sz="1800" dirty="0"/>
          </a:p>
        </p:txBody>
      </p:sp>
      <p:sp>
        <p:nvSpPr>
          <p:cNvPr id="8" name="Shape 6"/>
          <p:cNvSpPr/>
          <p:nvPr/>
        </p:nvSpPr>
        <p:spPr>
          <a:xfrm>
            <a:off x="1257300" y="3639964"/>
            <a:ext cx="6833146" cy="9525"/>
          </a:xfrm>
          <a:prstGeom prst="rect">
            <a:avLst/>
          </a:prstGeom>
          <a:solidFill>
            <a:srgbClr val="D9DCE7"/>
          </a:solidFill>
          <a:ln/>
        </p:spPr>
      </p:sp>
      <p:sp>
        <p:nvSpPr>
          <p:cNvPr id="9" name="Text 7"/>
          <p:cNvSpPr/>
          <p:nvPr/>
        </p:nvSpPr>
        <p:spPr>
          <a:xfrm>
            <a:off x="1257300" y="3161333"/>
            <a:ext cx="2409825"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E7590"/>
                </a:solidFill>
                <a:latin typeface="Arial" pitchFamily="34" charset="0"/>
                <a:ea typeface="Arial" pitchFamily="34" charset="-122"/>
                <a:cs typeface="Arial" pitchFamily="34" charset="-120"/>
              </a:rPr>
              <a:t>Category</a:t>
            </a:r>
            <a:endParaRPr lang="en-US" sz="1875" dirty="0"/>
          </a:p>
        </p:txBody>
      </p:sp>
      <p:sp>
        <p:nvSpPr>
          <p:cNvPr id="10" name="Text 8"/>
          <p:cNvSpPr/>
          <p:nvPr/>
        </p:nvSpPr>
        <p:spPr>
          <a:xfrm>
            <a:off x="3676650" y="3161333"/>
            <a:ext cx="4855175" cy="383381"/>
          </a:xfrm>
          <a:prstGeom prst="rect">
            <a:avLst/>
          </a:prstGeom>
          <a:noFill/>
          <a:ln/>
        </p:spPr>
        <p:txBody>
          <a:bodyPr wrap="square" lIns="25400" tIns="25400" rIns="25400" bIns="25400" rtlCol="0" anchor="t">
            <a:normAutofit/>
          </a:bodyPr>
          <a:lstStyle/>
          <a:p>
            <a:pPr algn="l" indent="0" marL="0">
              <a:lnSpc>
                <a:spcPct val="127193"/>
              </a:lnSpc>
              <a:buNone/>
            </a:pPr>
            <a:r>
              <a:rPr lang="en-US" sz="1875" dirty="0">
                <a:solidFill>
                  <a:srgbClr val="000B33"/>
                </a:solidFill>
                <a:latin typeface="Courier New" pitchFamily="34" charset="0"/>
                <a:ea typeface="Courier New" pitchFamily="34" charset="-122"/>
                <a:cs typeface="Courier New" pitchFamily="34" charset="-120"/>
              </a:rPr>
              <a:t>sector · aifod:sector/AGRI</a:t>
            </a:r>
            <a:endParaRPr lang="en-US" sz="1875" dirty="0"/>
          </a:p>
        </p:txBody>
      </p:sp>
      <p:sp>
        <p:nvSpPr>
          <p:cNvPr id="11" name="Shape 9"/>
          <p:cNvSpPr/>
          <p:nvPr/>
        </p:nvSpPr>
        <p:spPr>
          <a:xfrm>
            <a:off x="1257300" y="4261470"/>
            <a:ext cx="6833146" cy="9525"/>
          </a:xfrm>
          <a:prstGeom prst="rect">
            <a:avLst/>
          </a:prstGeom>
          <a:solidFill>
            <a:srgbClr val="D9DCE7"/>
          </a:solidFill>
          <a:ln/>
        </p:spPr>
      </p:sp>
      <p:sp>
        <p:nvSpPr>
          <p:cNvPr id="12" name="Text 10"/>
          <p:cNvSpPr/>
          <p:nvPr/>
        </p:nvSpPr>
        <p:spPr>
          <a:xfrm>
            <a:off x="1257300" y="3782839"/>
            <a:ext cx="2409825"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E7590"/>
                </a:solidFill>
                <a:latin typeface="Arial" pitchFamily="34" charset="0"/>
                <a:ea typeface="Arial" pitchFamily="34" charset="-122"/>
                <a:cs typeface="Arial" pitchFamily="34" charset="-120"/>
              </a:rPr>
              <a:t>Target profile</a:t>
            </a:r>
            <a:endParaRPr lang="en-US" sz="1875" dirty="0"/>
          </a:p>
        </p:txBody>
      </p:sp>
      <p:sp>
        <p:nvSpPr>
          <p:cNvPr id="13" name="Text 11"/>
          <p:cNvSpPr/>
          <p:nvPr/>
        </p:nvSpPr>
        <p:spPr>
          <a:xfrm>
            <a:off x="3676650" y="3782839"/>
            <a:ext cx="4855175"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000B33"/>
                </a:solidFill>
                <a:latin typeface="Arial" pitchFamily="34" charset="0"/>
                <a:ea typeface="Arial" pitchFamily="34" charset="-122"/>
                <a:cs typeface="Arial" pitchFamily="34" charset="-120"/>
              </a:rPr>
              <a:t>smallholder cooperative — core</a:t>
            </a:r>
            <a:endParaRPr lang="en-US" sz="1875" dirty="0"/>
          </a:p>
        </p:txBody>
      </p:sp>
      <p:sp>
        <p:nvSpPr>
          <p:cNvPr id="14" name="Shape 12"/>
          <p:cNvSpPr/>
          <p:nvPr/>
        </p:nvSpPr>
        <p:spPr>
          <a:xfrm>
            <a:off x="1257300" y="4882976"/>
            <a:ext cx="6833146" cy="9525"/>
          </a:xfrm>
          <a:prstGeom prst="rect">
            <a:avLst/>
          </a:prstGeom>
          <a:solidFill>
            <a:srgbClr val="D9DCE7"/>
          </a:solidFill>
          <a:ln/>
        </p:spPr>
      </p:sp>
      <p:sp>
        <p:nvSpPr>
          <p:cNvPr id="15" name="Text 13"/>
          <p:cNvSpPr/>
          <p:nvPr/>
        </p:nvSpPr>
        <p:spPr>
          <a:xfrm>
            <a:off x="1257300" y="4404345"/>
            <a:ext cx="2409825"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E7590"/>
                </a:solidFill>
                <a:latin typeface="Arial" pitchFamily="34" charset="0"/>
                <a:ea typeface="Arial" pitchFamily="34" charset="-122"/>
                <a:cs typeface="Arial" pitchFamily="34" charset="-120"/>
              </a:rPr>
              <a:t>Capacity</a:t>
            </a:r>
            <a:endParaRPr lang="en-US" sz="1875" dirty="0"/>
          </a:p>
        </p:txBody>
      </p:sp>
      <p:sp>
        <p:nvSpPr>
          <p:cNvPr id="16" name="Text 14"/>
          <p:cNvSpPr/>
          <p:nvPr/>
        </p:nvSpPr>
        <p:spPr>
          <a:xfrm>
            <a:off x="3676650" y="4404345"/>
            <a:ext cx="4855175"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000B33"/>
                </a:solidFill>
                <a:latin typeface="Arial" pitchFamily="34" charset="0"/>
                <a:ea typeface="Arial" pitchFamily="34" charset="-122"/>
                <a:cs typeface="Arial" pitchFamily="34" charset="-120"/>
              </a:rPr>
              <a:t>hectares seeded per season</a:t>
            </a:r>
            <a:endParaRPr lang="en-US" sz="1875" dirty="0"/>
          </a:p>
        </p:txBody>
      </p:sp>
      <p:sp>
        <p:nvSpPr>
          <p:cNvPr id="17" name="Shape 15"/>
          <p:cNvSpPr/>
          <p:nvPr/>
        </p:nvSpPr>
        <p:spPr>
          <a:xfrm>
            <a:off x="1257300" y="5504483"/>
            <a:ext cx="6833146" cy="9525"/>
          </a:xfrm>
          <a:prstGeom prst="rect">
            <a:avLst/>
          </a:prstGeom>
          <a:solidFill>
            <a:srgbClr val="D9DCE7"/>
          </a:solidFill>
          <a:ln/>
        </p:spPr>
      </p:sp>
      <p:sp>
        <p:nvSpPr>
          <p:cNvPr id="18" name="Text 16"/>
          <p:cNvSpPr/>
          <p:nvPr/>
        </p:nvSpPr>
        <p:spPr>
          <a:xfrm>
            <a:off x="1257300" y="5025851"/>
            <a:ext cx="2409825"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E7590"/>
                </a:solidFill>
                <a:latin typeface="Arial" pitchFamily="34" charset="0"/>
                <a:ea typeface="Arial" pitchFamily="34" charset="-122"/>
                <a:cs typeface="Arial" pitchFamily="34" charset="-120"/>
              </a:rPr>
              <a:t>Quality of service</a:t>
            </a:r>
            <a:endParaRPr lang="en-US" sz="1875" dirty="0"/>
          </a:p>
        </p:txBody>
      </p:sp>
      <p:sp>
        <p:nvSpPr>
          <p:cNvPr id="19" name="Text 17"/>
          <p:cNvSpPr/>
          <p:nvPr/>
        </p:nvSpPr>
        <p:spPr>
          <a:xfrm>
            <a:off x="3676650" y="5025851"/>
            <a:ext cx="4855175"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000B33"/>
                </a:solidFill>
                <a:latin typeface="Arial" pitchFamily="34" charset="0"/>
                <a:ea typeface="Arial" pitchFamily="34" charset="-122"/>
                <a:cs typeface="Arial" pitchFamily="34" charset="-120"/>
              </a:rPr>
              <a:t>verified yield delta, baseline + follow-up</a:t>
            </a:r>
            <a:endParaRPr lang="en-US" sz="1875" dirty="0"/>
          </a:p>
        </p:txBody>
      </p:sp>
      <p:sp>
        <p:nvSpPr>
          <p:cNvPr id="20" name="Shape 18"/>
          <p:cNvSpPr/>
          <p:nvPr/>
        </p:nvSpPr>
        <p:spPr>
          <a:xfrm>
            <a:off x="1257300" y="6471270"/>
            <a:ext cx="6833146" cy="9525"/>
          </a:xfrm>
          <a:prstGeom prst="rect">
            <a:avLst/>
          </a:prstGeom>
          <a:solidFill>
            <a:srgbClr val="D9DCE7"/>
          </a:solidFill>
          <a:ln/>
        </p:spPr>
      </p:sp>
      <p:sp>
        <p:nvSpPr>
          <p:cNvPr id="21" name="Text 19"/>
          <p:cNvSpPr/>
          <p:nvPr/>
        </p:nvSpPr>
        <p:spPr>
          <a:xfrm>
            <a:off x="1257300" y="5647358"/>
            <a:ext cx="2266950"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E7590"/>
                </a:solidFill>
                <a:latin typeface="Arial" pitchFamily="34" charset="0"/>
                <a:ea typeface="Arial" pitchFamily="34" charset="-122"/>
                <a:cs typeface="Arial" pitchFamily="34" charset="-120"/>
              </a:rPr>
              <a:t>Depends on</a:t>
            </a:r>
            <a:endParaRPr lang="en-US" sz="1875" dirty="0"/>
          </a:p>
        </p:txBody>
      </p:sp>
      <p:sp>
        <p:nvSpPr>
          <p:cNvPr id="22" name="Text 20"/>
          <p:cNvSpPr/>
          <p:nvPr/>
        </p:nvSpPr>
        <p:spPr>
          <a:xfrm>
            <a:off x="3676650" y="5647358"/>
            <a:ext cx="4546210"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000B33"/>
                </a:solidFill>
                <a:latin typeface="Arial" pitchFamily="34" charset="0"/>
                <a:ea typeface="Arial" pitchFamily="34" charset="-122"/>
                <a:cs typeface="Arial" pitchFamily="34" charset="-120"/>
              </a:rPr>
              <a:t>connectivity · soil data governance · operator credentials</a:t>
            </a:r>
            <a:endParaRPr lang="en-US" sz="1875" dirty="0"/>
          </a:p>
        </p:txBody>
      </p:sp>
      <p:sp>
        <p:nvSpPr>
          <p:cNvPr id="23" name="Text 21"/>
          <p:cNvSpPr/>
          <p:nvPr/>
        </p:nvSpPr>
        <p:spPr>
          <a:xfrm>
            <a:off x="1257300" y="6614145"/>
            <a:ext cx="2266950"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6E7590"/>
                </a:solidFill>
                <a:latin typeface="Arial" pitchFamily="34" charset="0"/>
                <a:ea typeface="Arial" pitchFamily="34" charset="-122"/>
                <a:cs typeface="Arial" pitchFamily="34" charset="-120"/>
              </a:rPr>
              <a:t>Evidence</a:t>
            </a:r>
            <a:endParaRPr lang="en-US" sz="1875" dirty="0"/>
          </a:p>
        </p:txBody>
      </p:sp>
      <p:sp>
        <p:nvSpPr>
          <p:cNvPr id="24" name="Text 22"/>
          <p:cNvSpPr/>
          <p:nvPr/>
        </p:nvSpPr>
        <p:spPr>
          <a:xfrm>
            <a:off x="3676650" y="6614145"/>
            <a:ext cx="4546210"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000B33"/>
                </a:solidFill>
                <a:latin typeface="Arial" pitchFamily="34" charset="0"/>
                <a:ea typeface="Arial" pitchFamily="34" charset="-122"/>
                <a:cs typeface="Arial" pitchFamily="34" charset="-120"/>
              </a:rPr>
              <a:t>field telemetry into the node’s evidence log</a:t>
            </a:r>
            <a:endParaRPr lang="en-US" sz="1875" dirty="0"/>
          </a:p>
        </p:txBody>
      </p:sp>
      <p:sp>
        <p:nvSpPr>
          <p:cNvPr id="25" name="Shape 23"/>
          <p:cNvSpPr/>
          <p:nvPr/>
        </p:nvSpPr>
        <p:spPr>
          <a:xfrm>
            <a:off x="971550" y="8709720"/>
            <a:ext cx="7404646" cy="948630"/>
          </a:xfrm>
          <a:prstGeom prst="rect">
            <a:avLst/>
          </a:prstGeom>
          <a:solidFill>
            <a:srgbClr val="FEF2F5"/>
          </a:solidFill>
          <a:ln/>
        </p:spPr>
      </p:sp>
      <p:sp>
        <p:nvSpPr>
          <p:cNvPr id="26" name="Shape 24"/>
          <p:cNvSpPr/>
          <p:nvPr/>
        </p:nvSpPr>
        <p:spPr>
          <a:xfrm>
            <a:off x="971550" y="8709720"/>
            <a:ext cx="7404646" cy="19050"/>
          </a:xfrm>
          <a:prstGeom prst="rect">
            <a:avLst/>
          </a:prstGeom>
          <a:solidFill>
            <a:srgbClr val="E21E51"/>
          </a:solidFill>
          <a:ln/>
        </p:spPr>
      </p:sp>
      <p:sp>
        <p:nvSpPr>
          <p:cNvPr id="27" name="Text 25"/>
          <p:cNvSpPr/>
          <p:nvPr/>
        </p:nvSpPr>
        <p:spPr>
          <a:xfrm>
            <a:off x="1257300" y="8862120"/>
            <a:ext cx="7055285" cy="70098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000B33"/>
                </a:solidFill>
                <a:latin typeface="Arial" pitchFamily="34" charset="0"/>
                <a:ea typeface="Arial" pitchFamily="34" charset="-122"/>
                <a:cs typeface="Arial" pitchFamily="34" charset="-120"/>
              </a:rPr>
              <a:t>The definition is forkable; this audited realisation of it is what the UCX publishes as the reference.</a:t>
            </a:r>
            <a:endParaRPr lang="en-US" sz="1800" dirty="0"/>
          </a:p>
        </p:txBody>
      </p:sp>
      <p:sp>
        <p:nvSpPr>
          <p:cNvPr id="28" name="Shape 26"/>
          <p:cNvSpPr/>
          <p:nvPr/>
        </p:nvSpPr>
        <p:spPr>
          <a:xfrm>
            <a:off x="8776246" y="2327895"/>
            <a:ext cx="28575" cy="1223963"/>
          </a:xfrm>
          <a:prstGeom prst="rect">
            <a:avLst/>
          </a:prstGeom>
          <a:solidFill>
            <a:srgbClr val="E21E51"/>
          </a:solidFill>
          <a:ln/>
        </p:spPr>
      </p:sp>
      <p:sp>
        <p:nvSpPr>
          <p:cNvPr id="29" name="Text 27"/>
          <p:cNvSpPr/>
          <p:nvPr/>
        </p:nvSpPr>
        <p:spPr>
          <a:xfrm>
            <a:off x="9090571" y="2385045"/>
            <a:ext cx="819150" cy="357188"/>
          </a:xfrm>
          <a:prstGeom prst="rect">
            <a:avLst/>
          </a:prstGeom>
          <a:noFill/>
          <a:ln/>
        </p:spPr>
        <p:txBody>
          <a:bodyPr wrap="square" lIns="25400" tIns="25400" rIns="25400" bIns="25400" rtlCol="0" anchor="t">
            <a:normAutofit/>
          </a:bodyPr>
          <a:lstStyle/>
          <a:p>
            <a:pPr algn="l" indent="0" marL="0">
              <a:buNone/>
            </a:pPr>
            <a:r>
              <a:rPr lang="en-US" sz="1950" dirty="0">
                <a:solidFill>
                  <a:srgbClr val="E21E51"/>
                </a:solidFill>
                <a:latin typeface="Courier New" pitchFamily="34" charset="0"/>
                <a:ea typeface="Courier New" pitchFamily="34" charset="-122"/>
                <a:cs typeface="Courier New" pitchFamily="34" charset="-120"/>
              </a:rPr>
              <a:t>Setup</a:t>
            </a:r>
            <a:endParaRPr lang="en-US" sz="1950" dirty="0"/>
          </a:p>
        </p:txBody>
      </p:sp>
      <p:sp>
        <p:nvSpPr>
          <p:cNvPr id="30" name="Text 28"/>
          <p:cNvSpPr/>
          <p:nvPr/>
        </p:nvSpPr>
        <p:spPr>
          <a:xfrm>
            <a:off x="10062121" y="2394570"/>
            <a:ext cx="277711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6E7590"/>
                </a:solidFill>
                <a:latin typeface="Arial" pitchFamily="34" charset="0"/>
                <a:ea typeface="Arial" pitchFamily="34" charset="-122"/>
                <a:cs typeface="Arial" pitchFamily="34" charset="-120"/>
              </a:rPr>
              <a:t>how it comes into being</a:t>
            </a:r>
            <a:endParaRPr lang="en-US" sz="1875" dirty="0"/>
          </a:p>
        </p:txBody>
      </p:sp>
      <p:sp>
        <p:nvSpPr>
          <p:cNvPr id="31" name="Text 29"/>
          <p:cNvSpPr/>
          <p:nvPr/>
        </p:nvSpPr>
        <p:spPr>
          <a:xfrm>
            <a:off x="9090571" y="2780333"/>
            <a:ext cx="8492201"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000B33"/>
                </a:solidFill>
                <a:latin typeface="Arial" pitchFamily="34" charset="0"/>
                <a:ea typeface="Arial" pitchFamily="34" charset="-122"/>
                <a:cs typeface="Arial" pitchFamily="34" charset="-120"/>
              </a:rPr>
              <a:t>Site assessment, sensor and model deployment, operator training — priced in hours, money, skills, resources. The royalty trigger.</a:t>
            </a:r>
            <a:endParaRPr lang="en-US" sz="1875" dirty="0"/>
          </a:p>
        </p:txBody>
      </p:sp>
      <p:sp>
        <p:nvSpPr>
          <p:cNvPr id="32" name="Shape 30"/>
          <p:cNvSpPr/>
          <p:nvPr/>
        </p:nvSpPr>
        <p:spPr>
          <a:xfrm>
            <a:off x="8776246" y="3723308"/>
            <a:ext cx="28575" cy="1223963"/>
          </a:xfrm>
          <a:prstGeom prst="rect">
            <a:avLst/>
          </a:prstGeom>
          <a:solidFill>
            <a:srgbClr val="E21E51"/>
          </a:solidFill>
          <a:ln/>
        </p:spPr>
      </p:sp>
      <p:sp>
        <p:nvSpPr>
          <p:cNvPr id="33" name="Text 31"/>
          <p:cNvSpPr/>
          <p:nvPr/>
        </p:nvSpPr>
        <p:spPr>
          <a:xfrm>
            <a:off x="9090571" y="3780458"/>
            <a:ext cx="52201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E21E51"/>
                </a:solidFill>
                <a:latin typeface="Courier New" pitchFamily="34" charset="0"/>
                <a:ea typeface="Courier New" pitchFamily="34" charset="-122"/>
                <a:cs typeface="Courier New" pitchFamily="34" charset="-120"/>
              </a:rPr>
              <a:t>Run</a:t>
            </a:r>
            <a:endParaRPr lang="en-US" sz="1950" dirty="0"/>
          </a:p>
        </p:txBody>
      </p:sp>
      <p:sp>
        <p:nvSpPr>
          <p:cNvPr id="34" name="Text 32"/>
          <p:cNvSpPr/>
          <p:nvPr/>
        </p:nvSpPr>
        <p:spPr>
          <a:xfrm>
            <a:off x="9764985" y="3789983"/>
            <a:ext cx="3081449" cy="347663"/>
          </a:xfrm>
          <a:prstGeom prst="rect">
            <a:avLst/>
          </a:prstGeom>
          <a:noFill/>
          <a:ln/>
        </p:spPr>
        <p:txBody>
          <a:bodyPr wrap="square" lIns="25400" tIns="25400" rIns="25400" bIns="25400" rtlCol="0" anchor="t">
            <a:normAutofit/>
          </a:bodyPr>
          <a:lstStyle/>
          <a:p>
            <a:pPr algn="l" indent="0" marL="0">
              <a:buNone/>
            </a:pPr>
            <a:r>
              <a:rPr lang="en-US" sz="1875" dirty="0">
                <a:solidFill>
                  <a:srgbClr val="6E7590"/>
                </a:solidFill>
                <a:latin typeface="Arial" pitchFamily="34" charset="0"/>
                <a:ea typeface="Arial" pitchFamily="34" charset="-122"/>
                <a:cs typeface="Arial" pitchFamily="34" charset="-120"/>
              </a:rPr>
              <a:t>how it operates day to day</a:t>
            </a:r>
            <a:endParaRPr lang="en-US" sz="1875" dirty="0"/>
          </a:p>
        </p:txBody>
      </p:sp>
      <p:sp>
        <p:nvSpPr>
          <p:cNvPr id="35" name="Text 33"/>
          <p:cNvSpPr/>
          <p:nvPr/>
        </p:nvSpPr>
        <p:spPr>
          <a:xfrm>
            <a:off x="9090571" y="4175745"/>
            <a:ext cx="8492201"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000B33"/>
                </a:solidFill>
                <a:latin typeface="Arial" pitchFamily="34" charset="0"/>
                <a:ea typeface="Arial" pitchFamily="34" charset="-122"/>
                <a:cs typeface="Arial" pitchFamily="34" charset="-120"/>
              </a:rPr>
              <a:t>Seasonal seeding cycles, monitoring against the quality-of-service criteria, evidence produced continuously.</a:t>
            </a:r>
            <a:endParaRPr lang="en-US" sz="1875" dirty="0"/>
          </a:p>
        </p:txBody>
      </p:sp>
      <p:sp>
        <p:nvSpPr>
          <p:cNvPr id="36" name="Shape 34"/>
          <p:cNvSpPr/>
          <p:nvPr/>
        </p:nvSpPr>
        <p:spPr>
          <a:xfrm>
            <a:off x="8776246" y="5118720"/>
            <a:ext cx="28575" cy="1223963"/>
          </a:xfrm>
          <a:prstGeom prst="rect">
            <a:avLst/>
          </a:prstGeom>
          <a:solidFill>
            <a:srgbClr val="E21E51"/>
          </a:solidFill>
          <a:ln/>
        </p:spPr>
      </p:sp>
      <p:sp>
        <p:nvSpPr>
          <p:cNvPr id="37" name="Text 35"/>
          <p:cNvSpPr/>
          <p:nvPr/>
        </p:nvSpPr>
        <p:spPr>
          <a:xfrm>
            <a:off x="9090571" y="5175870"/>
            <a:ext cx="96775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E21E51"/>
                </a:solidFill>
                <a:latin typeface="Courier New" pitchFamily="34" charset="0"/>
                <a:ea typeface="Courier New" pitchFamily="34" charset="-122"/>
                <a:cs typeface="Courier New" pitchFamily="34" charset="-120"/>
              </a:rPr>
              <a:t>Change</a:t>
            </a:r>
            <a:endParaRPr lang="en-US" sz="1950" dirty="0"/>
          </a:p>
        </p:txBody>
      </p:sp>
      <p:sp>
        <p:nvSpPr>
          <p:cNvPr id="38" name="Text 36"/>
          <p:cNvSpPr/>
          <p:nvPr/>
        </p:nvSpPr>
        <p:spPr>
          <a:xfrm>
            <a:off x="10210726" y="5185395"/>
            <a:ext cx="1658392" cy="347663"/>
          </a:xfrm>
          <a:prstGeom prst="rect">
            <a:avLst/>
          </a:prstGeom>
          <a:noFill/>
          <a:ln/>
        </p:spPr>
        <p:txBody>
          <a:bodyPr wrap="square" lIns="25400" tIns="25400" rIns="25400" bIns="25400" rtlCol="0" anchor="t">
            <a:normAutofit/>
          </a:bodyPr>
          <a:lstStyle/>
          <a:p>
            <a:pPr algn="l" indent="0" marL="0">
              <a:buNone/>
            </a:pPr>
            <a:r>
              <a:rPr lang="en-US" sz="1875" dirty="0">
                <a:solidFill>
                  <a:srgbClr val="6E7590"/>
                </a:solidFill>
                <a:latin typeface="Arial" pitchFamily="34" charset="0"/>
                <a:ea typeface="Arial" pitchFamily="34" charset="-122"/>
                <a:cs typeface="Arial" pitchFamily="34" charset="-120"/>
              </a:rPr>
              <a:t>how it evolves</a:t>
            </a:r>
            <a:endParaRPr lang="en-US" sz="1875" dirty="0"/>
          </a:p>
        </p:txBody>
      </p:sp>
      <p:sp>
        <p:nvSpPr>
          <p:cNvPr id="39" name="Text 37"/>
          <p:cNvSpPr/>
          <p:nvPr/>
        </p:nvSpPr>
        <p:spPr>
          <a:xfrm>
            <a:off x="9090571" y="5571158"/>
            <a:ext cx="8492201"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000B33"/>
                </a:solidFill>
                <a:latin typeface="Arial" pitchFamily="34" charset="0"/>
                <a:ea typeface="Arial" pitchFamily="34" charset="-122"/>
                <a:cs typeface="Arial" pitchFamily="34" charset="-120"/>
              </a:rPr>
              <a:t>Model updates, new crop varieties, scaling to more plots — versioned, so every fork can trace what changed.</a:t>
            </a:r>
            <a:endParaRPr lang="en-US" sz="1875" dirty="0"/>
          </a:p>
        </p:txBody>
      </p:sp>
      <p:sp>
        <p:nvSpPr>
          <p:cNvPr id="40" name="Shape 38"/>
          <p:cNvSpPr/>
          <p:nvPr/>
        </p:nvSpPr>
        <p:spPr>
          <a:xfrm>
            <a:off x="8776246" y="6514133"/>
            <a:ext cx="28575" cy="1223963"/>
          </a:xfrm>
          <a:prstGeom prst="rect">
            <a:avLst/>
          </a:prstGeom>
          <a:solidFill>
            <a:srgbClr val="E21E51"/>
          </a:solidFill>
          <a:ln/>
        </p:spPr>
      </p:sp>
      <p:sp>
        <p:nvSpPr>
          <p:cNvPr id="41" name="Text 39"/>
          <p:cNvSpPr/>
          <p:nvPr/>
        </p:nvSpPr>
        <p:spPr>
          <a:xfrm>
            <a:off x="9090571" y="6571283"/>
            <a:ext cx="96775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E21E51"/>
                </a:solidFill>
                <a:latin typeface="Courier New" pitchFamily="34" charset="0"/>
                <a:ea typeface="Courier New" pitchFamily="34" charset="-122"/>
                <a:cs typeface="Courier New" pitchFamily="34" charset="-120"/>
              </a:rPr>
              <a:t>Retire</a:t>
            </a:r>
            <a:endParaRPr lang="en-US" sz="1950" dirty="0"/>
          </a:p>
        </p:txBody>
      </p:sp>
      <p:sp>
        <p:nvSpPr>
          <p:cNvPr id="42" name="Text 40"/>
          <p:cNvSpPr/>
          <p:nvPr/>
        </p:nvSpPr>
        <p:spPr>
          <a:xfrm>
            <a:off x="10210726" y="6580808"/>
            <a:ext cx="2980358" cy="347663"/>
          </a:xfrm>
          <a:prstGeom prst="rect">
            <a:avLst/>
          </a:prstGeom>
          <a:noFill/>
          <a:ln/>
        </p:spPr>
        <p:txBody>
          <a:bodyPr wrap="square" lIns="25400" tIns="25400" rIns="25400" bIns="25400" rtlCol="0" anchor="t">
            <a:normAutofit/>
          </a:bodyPr>
          <a:lstStyle/>
          <a:p>
            <a:pPr algn="l" indent="0" marL="0">
              <a:buNone/>
            </a:pPr>
            <a:r>
              <a:rPr lang="en-US" sz="1875" dirty="0">
                <a:solidFill>
                  <a:srgbClr val="6E7590"/>
                </a:solidFill>
                <a:latin typeface="Arial" pitchFamily="34" charset="0"/>
                <a:ea typeface="Arial" pitchFamily="34" charset="-122"/>
                <a:cs typeface="Arial" pitchFamily="34" charset="-120"/>
              </a:rPr>
              <a:t>how it ends without harm</a:t>
            </a:r>
            <a:endParaRPr lang="en-US" sz="1875" dirty="0"/>
          </a:p>
        </p:txBody>
      </p:sp>
      <p:sp>
        <p:nvSpPr>
          <p:cNvPr id="43" name="Text 41"/>
          <p:cNvSpPr/>
          <p:nvPr/>
        </p:nvSpPr>
        <p:spPr>
          <a:xfrm>
            <a:off x="9090571" y="6966570"/>
            <a:ext cx="8492201"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000B33"/>
                </a:solidFill>
                <a:latin typeface="Arial" pitchFamily="34" charset="0"/>
                <a:ea typeface="Arial" pitchFamily="34" charset="-122"/>
                <a:cs typeface="Arial" pitchFamily="34" charset="-120"/>
              </a:rPr>
              <a:t>Data returned to the cooperative, skills and equipment handed over — exit is designed in, not negotiated later.</a:t>
            </a:r>
            <a:endParaRPr lang="en-US" sz="1875" dirty="0"/>
          </a:p>
        </p:txBody>
      </p:sp>
      <p:sp>
        <p:nvSpPr>
          <p:cNvPr id="44" name="Shape 42"/>
          <p:cNvSpPr/>
          <p:nvPr/>
        </p:nvSpPr>
        <p:spPr>
          <a:xfrm>
            <a:off x="8776246" y="8848725"/>
            <a:ext cx="8559180" cy="19050"/>
          </a:xfrm>
          <a:prstGeom prst="rect">
            <a:avLst/>
          </a:prstGeom>
          <a:solidFill>
            <a:srgbClr val="000B33"/>
          </a:solidFill>
          <a:ln/>
        </p:spPr>
      </p:sp>
      <p:sp>
        <p:nvSpPr>
          <p:cNvPr id="45" name="Text 43"/>
          <p:cNvSpPr/>
          <p:nvPr/>
        </p:nvSpPr>
        <p:spPr>
          <a:xfrm>
            <a:off x="8776246" y="9077325"/>
            <a:ext cx="8815955" cy="638175"/>
          </a:xfrm>
          <a:prstGeom prst="rect">
            <a:avLst/>
          </a:prstGeom>
          <a:noFill/>
          <a:ln/>
        </p:spPr>
        <p:txBody>
          <a:bodyPr wrap="square" lIns="25400" tIns="25400" rIns="25400" bIns="25400" rtlCol="0" anchor="t">
            <a:normAutofit/>
          </a:bodyPr>
          <a:lstStyle/>
          <a:p>
            <a:pPr algn="l" indent="0" marL="0">
              <a:buNone/>
            </a:pPr>
            <a:r>
              <a:rPr lang="en-US" sz="2100" i="1" dirty="0">
                <a:solidFill>
                  <a:srgbClr val="000B33"/>
                </a:solidFill>
                <a:latin typeface="Georgia" pitchFamily="34" charset="0"/>
                <a:ea typeface="Georgia" pitchFamily="34" charset="-122"/>
                <a:cs typeface="Georgia" pitchFamily="34" charset="-120"/>
              </a:rPr>
              <a:t>All four views validated — only then is the node eligible for FAIR assessment.</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9"/>
        </a:solidFill>
      </p:bgPr>
    </p:bg>
    <p:spTree>
      <p:nvGrpSpPr>
        <p:cNvPr id="1" name=""/>
        <p:cNvGrpSpPr/>
        <p:nvPr/>
      </p:nvGrpSpPr>
      <p:grpSpPr>
        <a:xfrm>
          <a:off x="0" y="0"/>
          <a:ext cx="0" cy="0"/>
          <a:chOff x="0" y="0"/>
          <a:chExt cx="0" cy="0"/>
        </a:xfrm>
      </p:grpSpPr>
      <p:sp>
        <p:nvSpPr>
          <p:cNvPr id="2" name="Text 0"/>
          <p:cNvSpPr/>
          <p:nvPr/>
        </p:nvSpPr>
        <p:spPr>
          <a:xfrm>
            <a:off x="952500" y="95250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THE ONTOLOGY IN GOVERNANCE — FIGURE 34</a:t>
            </a:r>
            <a:endParaRPr lang="en-US" sz="1950" dirty="0"/>
          </a:p>
        </p:txBody>
      </p:sp>
      <p:sp>
        <p:nvSpPr>
          <p:cNvPr id="3" name="Text 1"/>
          <p:cNvSpPr/>
          <p:nvPr/>
        </p:nvSpPr>
        <p:spPr>
          <a:xfrm>
            <a:off x="952500" y="1524000"/>
            <a:ext cx="18021300" cy="792435"/>
          </a:xfrm>
          <a:prstGeom prst="rect">
            <a:avLst/>
          </a:prstGeom>
          <a:noFill/>
          <a:ln/>
        </p:spPr>
        <p:txBody>
          <a:bodyPr wrap="square" lIns="25400" tIns="25400" rIns="25400" bIns="25400" rtlCol="0" anchor="t">
            <a:normAutofit/>
          </a:bodyPr>
          <a:lstStyle/>
          <a:p>
            <a:pPr algn="l" indent="0" marL="0">
              <a:lnSpc>
                <a:spcPct val="96585"/>
              </a:lnSpc>
              <a:buNone/>
            </a:pPr>
            <a:r>
              <a:rPr lang="en-US" sz="5400" dirty="0">
                <a:solidFill>
                  <a:srgbClr val="000B33"/>
                </a:solidFill>
                <a:latin typeface="Georgia" pitchFamily="34" charset="0"/>
                <a:ea typeface="Georgia" pitchFamily="34" charset="-122"/>
                <a:cs typeface="Georgia" pitchFamily="34" charset="-120"/>
              </a:rPr>
              <a:t>Three Graphs per Nation, One Comparable Space</a:t>
            </a:r>
            <a:endParaRPr lang="en-US" sz="5400" dirty="0"/>
          </a:p>
        </p:txBody>
      </p:sp>
      <p:sp>
        <p:nvSpPr>
          <p:cNvPr id="4" name="Shape 2"/>
          <p:cNvSpPr/>
          <p:nvPr/>
        </p:nvSpPr>
        <p:spPr>
          <a:xfrm>
            <a:off x="952500" y="2811735"/>
            <a:ext cx="16383000" cy="1308646"/>
          </a:xfrm>
          <a:prstGeom prst="rect">
            <a:avLst/>
          </a:prstGeom>
          <a:solidFill>
            <a:srgbClr val="FFFFFF"/>
          </a:solidFill>
          <a:ln w="9525">
            <a:solidFill>
              <a:srgbClr val="B4BACC"/>
            </a:solidFill>
            <a:prstDash val="solid"/>
          </a:ln>
        </p:spPr>
      </p:sp>
      <p:sp>
        <p:nvSpPr>
          <p:cNvPr id="5" name="Text 3"/>
          <p:cNvSpPr/>
          <p:nvPr/>
        </p:nvSpPr>
        <p:spPr>
          <a:xfrm>
            <a:off x="1343025" y="3296989"/>
            <a:ext cx="356235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000B33"/>
                </a:solidFill>
                <a:latin typeface="Arial" pitchFamily="34" charset="0"/>
                <a:ea typeface="Arial" pitchFamily="34" charset="-122"/>
                <a:cs typeface="Arial" pitchFamily="34" charset="-120"/>
              </a:rPr>
              <a:t>Sector graphs</a:t>
            </a:r>
            <a:endParaRPr lang="en-US" sz="2325" dirty="0"/>
          </a:p>
        </p:txBody>
      </p:sp>
      <p:sp>
        <p:nvSpPr>
          <p:cNvPr id="6" name="Text 4"/>
          <p:cNvSpPr/>
          <p:nvPr/>
        </p:nvSpPr>
        <p:spPr>
          <a:xfrm>
            <a:off x="4924425" y="3107010"/>
            <a:ext cx="9485002" cy="756196"/>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65D78"/>
                </a:solidFill>
                <a:latin typeface="Arial" pitchFamily="34" charset="0"/>
                <a:ea typeface="Arial" pitchFamily="34" charset="-122"/>
                <a:cs typeface="Arial" pitchFamily="34" charset="-120"/>
              </a:rPr>
              <a:t>The capability nodes of one industry — definitions, dependencies, target profiles. Agriculture, Health, Education, Energy, Water, Digital …</a:t>
            </a:r>
            <a:endParaRPr lang="en-US" sz="1950" dirty="0"/>
          </a:p>
        </p:txBody>
      </p:sp>
      <p:sp>
        <p:nvSpPr>
          <p:cNvPr id="7" name="Text 5"/>
          <p:cNvSpPr/>
          <p:nvPr/>
        </p:nvSpPr>
        <p:spPr>
          <a:xfrm>
            <a:off x="14476065" y="3318421"/>
            <a:ext cx="2715801" cy="333375"/>
          </a:xfrm>
          <a:prstGeom prst="rect">
            <a:avLst/>
          </a:prstGeom>
          <a:noFill/>
          <a:ln/>
        </p:spPr>
        <p:txBody>
          <a:bodyPr wrap="non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one per sector IRB</a:t>
            </a:r>
            <a:endParaRPr lang="en-US" sz="1800" dirty="0"/>
          </a:p>
        </p:txBody>
      </p:sp>
      <p:sp>
        <p:nvSpPr>
          <p:cNvPr id="8" name="Shape 6"/>
          <p:cNvSpPr/>
          <p:nvPr/>
        </p:nvSpPr>
        <p:spPr>
          <a:xfrm>
            <a:off x="952500" y="4272781"/>
            <a:ext cx="16383000" cy="1308646"/>
          </a:xfrm>
          <a:prstGeom prst="rect">
            <a:avLst/>
          </a:prstGeom>
          <a:solidFill>
            <a:srgbClr val="FFFFFF"/>
          </a:solidFill>
          <a:ln w="9525">
            <a:solidFill>
              <a:srgbClr val="B4BACC"/>
            </a:solidFill>
            <a:prstDash val="solid"/>
          </a:ln>
        </p:spPr>
      </p:sp>
      <p:sp>
        <p:nvSpPr>
          <p:cNvPr id="9" name="Text 7"/>
          <p:cNvSpPr/>
          <p:nvPr/>
        </p:nvSpPr>
        <p:spPr>
          <a:xfrm>
            <a:off x="1343025" y="4758035"/>
            <a:ext cx="356235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000B33"/>
                </a:solidFill>
                <a:latin typeface="Arial" pitchFamily="34" charset="0"/>
                <a:ea typeface="Arial" pitchFamily="34" charset="-122"/>
                <a:cs typeface="Arial" pitchFamily="34" charset="-120"/>
              </a:rPr>
              <a:t>Enabling graph</a:t>
            </a:r>
            <a:endParaRPr lang="en-US" sz="2325" dirty="0"/>
          </a:p>
        </p:txBody>
      </p:sp>
      <p:sp>
        <p:nvSpPr>
          <p:cNvPr id="10" name="Text 8"/>
          <p:cNvSpPr/>
          <p:nvPr/>
        </p:nvSpPr>
        <p:spPr>
          <a:xfrm>
            <a:off x="4924425" y="4568056"/>
            <a:ext cx="9343743" cy="756196"/>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65D78"/>
                </a:solidFill>
                <a:latin typeface="Arial" pitchFamily="34" charset="0"/>
                <a:ea typeface="Arial" pitchFamily="34" charset="-122"/>
                <a:cs typeface="Arial" pitchFamily="34" charset="-120"/>
              </a:rPr>
              <a:t>Capabilities more than one sector requires — a capability needed by two sectors is by that fact not sectoral.</a:t>
            </a:r>
            <a:endParaRPr lang="en-US" sz="1950" dirty="0"/>
          </a:p>
        </p:txBody>
      </p:sp>
      <p:sp>
        <p:nvSpPr>
          <p:cNvPr id="11" name="Text 9"/>
          <p:cNvSpPr/>
          <p:nvPr/>
        </p:nvSpPr>
        <p:spPr>
          <a:xfrm>
            <a:off x="14338920" y="4779466"/>
            <a:ext cx="2866660" cy="333375"/>
          </a:xfrm>
          <a:prstGeom prst="rect">
            <a:avLst/>
          </a:prstGeom>
          <a:noFill/>
          <a:ln/>
        </p:spPr>
        <p:txBody>
          <a:bodyPr wrap="non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jointly contributed</a:t>
            </a:r>
            <a:endParaRPr lang="en-US" sz="1800" dirty="0"/>
          </a:p>
        </p:txBody>
      </p:sp>
      <p:sp>
        <p:nvSpPr>
          <p:cNvPr id="12" name="Shape 10"/>
          <p:cNvSpPr/>
          <p:nvPr/>
        </p:nvSpPr>
        <p:spPr>
          <a:xfrm>
            <a:off x="952500" y="5733827"/>
            <a:ext cx="16383000" cy="1308646"/>
          </a:xfrm>
          <a:prstGeom prst="rect">
            <a:avLst/>
          </a:prstGeom>
          <a:solidFill>
            <a:srgbClr val="FFFFFF"/>
          </a:solidFill>
          <a:ln w="9525">
            <a:solidFill>
              <a:srgbClr val="B4BACC"/>
            </a:solidFill>
            <a:prstDash val="solid"/>
          </a:ln>
        </p:spPr>
      </p:sp>
      <p:sp>
        <p:nvSpPr>
          <p:cNvPr id="13" name="Text 11"/>
          <p:cNvSpPr/>
          <p:nvPr/>
        </p:nvSpPr>
        <p:spPr>
          <a:xfrm>
            <a:off x="1343025" y="6219081"/>
            <a:ext cx="356235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000B33"/>
                </a:solidFill>
                <a:latin typeface="Arial" pitchFamily="34" charset="0"/>
                <a:ea typeface="Arial" pitchFamily="34" charset="-122"/>
                <a:cs typeface="Arial" pitchFamily="34" charset="-120"/>
              </a:rPr>
              <a:t>Foundational graph</a:t>
            </a:r>
            <a:endParaRPr lang="en-US" sz="2325" dirty="0"/>
          </a:p>
        </p:txBody>
      </p:sp>
      <p:sp>
        <p:nvSpPr>
          <p:cNvPr id="14" name="Text 12"/>
          <p:cNvSpPr/>
          <p:nvPr/>
        </p:nvSpPr>
        <p:spPr>
          <a:xfrm>
            <a:off x="4924425" y="6029102"/>
            <a:ext cx="10050117" cy="756196"/>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565D78"/>
                </a:solidFill>
                <a:latin typeface="Arial" pitchFamily="34" charset="0"/>
                <a:ea typeface="Arial" pitchFamily="34" charset="-122"/>
                <a:cs typeface="Arial" pitchFamily="34" charset="-120"/>
              </a:rPr>
              <a:t>The national baseline every sector presupposes: identity, connectivity, data governance, basic institutional capability.</a:t>
            </a:r>
            <a:endParaRPr lang="en-US" sz="1950" dirty="0"/>
          </a:p>
        </p:txBody>
      </p:sp>
      <p:sp>
        <p:nvSpPr>
          <p:cNvPr id="15" name="Text 13"/>
          <p:cNvSpPr/>
          <p:nvPr/>
        </p:nvSpPr>
        <p:spPr>
          <a:xfrm>
            <a:off x="15024720" y="6240512"/>
            <a:ext cx="2112280" cy="333375"/>
          </a:xfrm>
          <a:prstGeom prst="rect">
            <a:avLst/>
          </a:prstGeom>
          <a:noFill/>
          <a:ln/>
        </p:spPr>
        <p:txBody>
          <a:bodyPr wrap="non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one per nation</a:t>
            </a:r>
            <a:endParaRPr lang="en-US" sz="1800" dirty="0"/>
          </a:p>
        </p:txBody>
      </p:sp>
      <p:sp>
        <p:nvSpPr>
          <p:cNvPr id="16" name="Shape 14"/>
          <p:cNvSpPr/>
          <p:nvPr/>
        </p:nvSpPr>
        <p:spPr>
          <a:xfrm>
            <a:off x="952500" y="7194872"/>
            <a:ext cx="16383000" cy="2366739"/>
          </a:xfrm>
          <a:prstGeom prst="rect">
            <a:avLst/>
          </a:prstGeom>
          <a:solidFill>
            <a:srgbClr val="000B33"/>
          </a:solidFill>
          <a:ln/>
        </p:spPr>
      </p:sp>
      <p:sp>
        <p:nvSpPr>
          <p:cNvPr id="17" name="Text 15"/>
          <p:cNvSpPr/>
          <p:nvPr/>
        </p:nvSpPr>
        <p:spPr>
          <a:xfrm>
            <a:off x="1333500" y="8209136"/>
            <a:ext cx="3562350" cy="376238"/>
          </a:xfrm>
          <a:prstGeom prst="rect">
            <a:avLst/>
          </a:prstGeom>
          <a:noFill/>
          <a:ln/>
        </p:spPr>
        <p:txBody>
          <a:bodyPr wrap="square" lIns="25400" tIns="25400" rIns="25400" bIns="25400" rtlCol="0" anchor="t">
            <a:normAutofit/>
          </a:bodyPr>
          <a:lstStyle/>
          <a:p>
            <a:pPr algn="l" indent="0" marL="0">
              <a:buNone/>
            </a:pPr>
            <a:r>
              <a:rPr lang="en-US" sz="2325" b="1" dirty="0">
                <a:solidFill>
                  <a:srgbClr val="FFFFFF"/>
                </a:solidFill>
                <a:latin typeface="Arial" pitchFamily="34" charset="0"/>
                <a:ea typeface="Arial" pitchFamily="34" charset="-122"/>
                <a:cs typeface="Arial" pitchFamily="34" charset="-120"/>
              </a:rPr>
              <a:t>IRB E1</a:t>
            </a:r>
            <a:endParaRPr lang="en-US" sz="2325" dirty="0"/>
          </a:p>
        </p:txBody>
      </p:sp>
      <p:sp>
        <p:nvSpPr>
          <p:cNvPr id="18" name="Text 16"/>
          <p:cNvSpPr/>
          <p:nvPr/>
        </p:nvSpPr>
        <p:spPr>
          <a:xfrm>
            <a:off x="4914900" y="7480622"/>
            <a:ext cx="9504624" cy="1833339"/>
          </a:xfrm>
          <a:prstGeom prst="rect">
            <a:avLst/>
          </a:prstGeom>
          <a:noFill/>
          <a:ln/>
        </p:spPr>
        <p:txBody>
          <a:bodyPr wrap="square" lIns="25400" tIns="25400" rIns="25400" bIns="25400" rtlCol="0" anchor="t">
            <a:normAutofit/>
          </a:bodyPr>
          <a:lstStyle/>
          <a:p>
            <a:pPr algn="l" indent="0" marL="0">
              <a:lnSpc>
                <a:spcPct val="125667"/>
              </a:lnSpc>
              <a:buNone/>
            </a:pPr>
            <a:r>
              <a:rPr lang="en-US" sz="1950" dirty="0">
                <a:solidFill>
                  <a:srgbClr val="9AA2BC"/>
                </a:solidFill>
                <a:latin typeface="Arial" pitchFamily="34" charset="0"/>
                <a:ea typeface="Arial" pitchFamily="34" charset="-122"/>
                <a:cs typeface="Arial" pitchFamily="34" charset="-120"/>
              </a:rPr>
              <a:t>Sets the standards the sector IRBs define their sectorial, enabling and foundational nodes in — together, tested against the real world — and stewards the capability catalogue: FAIR solutions carrying implementation passports — each stamp granted per jurisdiction by AIFOD partnering universities and innovation hubs after re-engineering in the local context.</a:t>
            </a:r>
            <a:endParaRPr lang="en-US" sz="1950" dirty="0"/>
          </a:p>
        </p:txBody>
      </p:sp>
      <p:sp>
        <p:nvSpPr>
          <p:cNvPr id="19" name="Text 17"/>
          <p:cNvSpPr/>
          <p:nvPr/>
        </p:nvSpPr>
        <p:spPr>
          <a:xfrm>
            <a:off x="14485590" y="8230567"/>
            <a:ext cx="2715801" cy="333375"/>
          </a:xfrm>
          <a:prstGeom prst="rect">
            <a:avLst/>
          </a:prstGeom>
          <a:noFill/>
          <a:ln/>
        </p:spPr>
        <p:txBody>
          <a:bodyPr wrap="non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sets the standards</a:t>
            </a:r>
            <a:endParaRPr lang="en-US" sz="1800" dirty="0"/>
          </a:p>
        </p:txBody>
      </p:sp>
      <p:sp>
        <p:nvSpPr>
          <p:cNvPr id="20" name="Text 18"/>
          <p:cNvSpPr/>
          <p:nvPr/>
        </p:nvSpPr>
        <p:spPr>
          <a:xfrm>
            <a:off x="952500" y="9904512"/>
            <a:ext cx="18021300" cy="361950"/>
          </a:xfrm>
          <a:prstGeom prst="rect">
            <a:avLst/>
          </a:prstGeom>
          <a:noFill/>
          <a:ln/>
        </p:spPr>
        <p:txBody>
          <a:bodyPr wrap="square" lIns="25400" tIns="25400" rIns="25400" bIns="25400" rtlCol="0" anchor="t">
            <a:normAutofit/>
          </a:bodyPr>
          <a:lstStyle/>
          <a:p>
            <a:pPr algn="l" indent="0" marL="0">
              <a:buNone/>
            </a:pPr>
            <a:r>
              <a:rPr lang="en-US" sz="2250" i="1" dirty="0">
                <a:solidFill>
                  <a:srgbClr val="000B33"/>
                </a:solidFill>
                <a:latin typeface="Georgia" pitchFamily="34" charset="0"/>
                <a:ea typeface="Georgia" pitchFamily="34" charset="-122"/>
                <a:cs typeface="Georgia" pitchFamily="34" charset="-120"/>
              </a:rPr>
              <a:t>Twelve graphs authored by twelve boards — and they remain one comparable space.</a:t>
            </a:r>
            <a:endParaRPr lang="en-US" sz="2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9"/>
        </a:solidFill>
      </p:bgPr>
    </p:bg>
    <p:spTree>
      <p:nvGrpSpPr>
        <p:cNvPr id="1" name=""/>
        <p:cNvGrpSpPr/>
        <p:nvPr/>
      </p:nvGrpSpPr>
      <p:grpSpPr>
        <a:xfrm>
          <a:off x="0" y="0"/>
          <a:ext cx="0" cy="0"/>
          <a:chOff x="0" y="0"/>
          <a:chExt cx="0" cy="0"/>
        </a:xfrm>
      </p:grpSpPr>
      <p:sp>
        <p:nvSpPr>
          <p:cNvPr id="2" name="Text 0"/>
          <p:cNvSpPr/>
          <p:nvPr/>
        </p:nvSpPr>
        <p:spPr>
          <a:xfrm>
            <a:off x="952500" y="500063"/>
            <a:ext cx="9996845"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A FOUNDATIONAL GRAPH, WORKED FOR ONE SMALL NATION</a:t>
            </a:r>
            <a:endParaRPr lang="en-US" sz="1950" dirty="0"/>
          </a:p>
        </p:txBody>
      </p:sp>
      <p:sp>
        <p:nvSpPr>
          <p:cNvPr id="3" name="Text 1"/>
          <p:cNvSpPr/>
          <p:nvPr/>
        </p:nvSpPr>
        <p:spPr>
          <a:xfrm>
            <a:off x="12175703" y="495300"/>
            <a:ext cx="3110917" cy="333375"/>
          </a:xfrm>
          <a:prstGeom prst="rect">
            <a:avLst/>
          </a:prstGeom>
          <a:noFill/>
          <a:ln/>
        </p:spPr>
        <p:txBody>
          <a:bodyPr wrap="none" lIns="25400" tIns="25400" rIns="25400" bIns="25400" rtlCol="0" anchor="t">
            <a:normAutofit/>
          </a:bodyPr>
          <a:lstStyle/>
          <a:p>
            <a:pPr algn="l" indent="0" marL="0">
              <a:buNone/>
            </a:pPr>
            <a:r>
              <a:rPr lang="en-US" sz="1800" b="1" dirty="0">
                <a:solidFill>
                  <a:srgbClr val="0E9E8F"/>
                </a:solidFill>
                <a:latin typeface="Arial" pitchFamily="34" charset="0"/>
                <a:ea typeface="Arial" pitchFamily="34" charset="-122"/>
                <a:cs typeface="Arial" pitchFamily="34" charset="-120"/>
              </a:rPr>
              <a:t>● </a:t>
            </a:r>
            <a:pPr algn="l" indent="0" marL="0">
              <a:buNone/>
            </a:pPr>
            <a:r>
              <a:rPr lang="en-US" sz="1800" dirty="0">
                <a:solidFill>
                  <a:srgbClr val="565D78"/>
                </a:solidFill>
                <a:latin typeface="Arial" pitchFamily="34" charset="0"/>
                <a:ea typeface="Arial" pitchFamily="34" charset="-122"/>
                <a:cs typeface="Arial" pitchFamily="34" charset="-120"/>
              </a:rPr>
              <a:t>live · FAIR where certified</a:t>
            </a:r>
            <a:endParaRPr lang="en-US" sz="1800" dirty="0"/>
          </a:p>
        </p:txBody>
      </p:sp>
      <p:sp>
        <p:nvSpPr>
          <p:cNvPr id="4" name="Text 2"/>
          <p:cNvSpPr/>
          <p:nvPr/>
        </p:nvSpPr>
        <p:spPr>
          <a:xfrm>
            <a:off x="15270510" y="495300"/>
            <a:ext cx="847799" cy="333375"/>
          </a:xfrm>
          <a:prstGeom prst="rect">
            <a:avLst/>
          </a:prstGeom>
          <a:noFill/>
          <a:ln/>
        </p:spPr>
        <p:txBody>
          <a:bodyPr wrap="none" lIns="25400" tIns="25400" rIns="25400" bIns="25400" rtlCol="0" anchor="t">
            <a:normAutofit/>
          </a:bodyPr>
          <a:lstStyle/>
          <a:p>
            <a:pPr algn="l" indent="0" marL="0">
              <a:buNone/>
            </a:pPr>
            <a:r>
              <a:rPr lang="en-US" sz="1800" b="1" dirty="0">
                <a:solidFill>
                  <a:srgbClr val="E21E51"/>
                </a:solidFill>
                <a:latin typeface="Arial" pitchFamily="34" charset="0"/>
                <a:ea typeface="Arial" pitchFamily="34" charset="-122"/>
                <a:cs typeface="Arial" pitchFamily="34" charset="-120"/>
              </a:rPr>
              <a:t>● </a:t>
            </a:r>
            <a:pPr algn="l" indent="0" marL="0">
              <a:buNone/>
            </a:pPr>
            <a:r>
              <a:rPr lang="en-US" sz="1800" dirty="0">
                <a:solidFill>
                  <a:srgbClr val="565D78"/>
                </a:solidFill>
                <a:latin typeface="Arial" pitchFamily="34" charset="0"/>
                <a:ea typeface="Arial" pitchFamily="34" charset="-122"/>
                <a:cs typeface="Arial" pitchFamily="34" charset="-120"/>
              </a:rPr>
              <a:t>setup</a:t>
            </a:r>
            <a:endParaRPr lang="en-US" sz="1800" dirty="0"/>
          </a:p>
        </p:txBody>
      </p:sp>
      <p:sp>
        <p:nvSpPr>
          <p:cNvPr id="5" name="Text 3"/>
          <p:cNvSpPr/>
          <p:nvPr/>
        </p:nvSpPr>
        <p:spPr>
          <a:xfrm>
            <a:off x="16308809" y="495300"/>
            <a:ext cx="1102891" cy="333375"/>
          </a:xfrm>
          <a:prstGeom prst="rect">
            <a:avLst/>
          </a:prstGeom>
          <a:noFill/>
          <a:ln/>
        </p:spPr>
        <p:txBody>
          <a:bodyPr wrap="none" lIns="25400" tIns="25400" rIns="25400" bIns="25400" rtlCol="0" anchor="t">
            <a:normAutofit/>
          </a:bodyPr>
          <a:lstStyle/>
          <a:p>
            <a:pPr algn="l" indent="0" marL="0">
              <a:buNone/>
            </a:pPr>
            <a:r>
              <a:rPr lang="en-US" sz="1800" b="1" dirty="0">
                <a:solidFill>
                  <a:srgbClr val="B4BACC"/>
                </a:solidFill>
                <a:latin typeface="Arial" pitchFamily="34" charset="0"/>
                <a:ea typeface="Arial" pitchFamily="34" charset="-122"/>
                <a:cs typeface="Arial" pitchFamily="34" charset="-120"/>
              </a:rPr>
              <a:t>● </a:t>
            </a:r>
            <a:pPr algn="l" indent="0" marL="0">
              <a:buNone/>
            </a:pPr>
            <a:r>
              <a:rPr lang="en-US" sz="1800" dirty="0">
                <a:solidFill>
                  <a:srgbClr val="565D78"/>
                </a:solidFill>
                <a:latin typeface="Arial" pitchFamily="34" charset="0"/>
                <a:ea typeface="Arial" pitchFamily="34" charset="-122"/>
                <a:cs typeface="Arial" pitchFamily="34" charset="-120"/>
              </a:rPr>
              <a:t>planned</a:t>
            </a:r>
            <a:endParaRPr lang="en-US" sz="1800" dirty="0"/>
          </a:p>
        </p:txBody>
      </p:sp>
      <p:sp>
        <p:nvSpPr>
          <p:cNvPr id="6" name="Text 4"/>
          <p:cNvSpPr/>
          <p:nvPr/>
        </p:nvSpPr>
        <p:spPr>
          <a:xfrm>
            <a:off x="952500" y="866775"/>
            <a:ext cx="18021300" cy="582885"/>
          </a:xfrm>
          <a:prstGeom prst="rect">
            <a:avLst/>
          </a:prstGeom>
          <a:noFill/>
          <a:ln/>
        </p:spPr>
        <p:txBody>
          <a:bodyPr wrap="square" lIns="25400" tIns="25400" rIns="25400" bIns="25400" rtlCol="0" anchor="t">
            <a:normAutofit/>
          </a:bodyPr>
          <a:lstStyle/>
          <a:p>
            <a:pPr algn="l" indent="0" marL="0">
              <a:lnSpc>
                <a:spcPct val="96949"/>
              </a:lnSpc>
              <a:buNone/>
            </a:pPr>
            <a:r>
              <a:rPr lang="en-US" sz="3900" dirty="0">
                <a:solidFill>
                  <a:srgbClr val="000B33"/>
                </a:solidFill>
                <a:latin typeface="Georgia" pitchFamily="34" charset="0"/>
                <a:ea typeface="Georgia" pitchFamily="34" charset="-122"/>
                <a:cs typeface="Georgia" pitchFamily="34" charset="-120"/>
              </a:rPr>
              <a:t>The AI Tech Stack for Nations</a:t>
            </a:r>
            <a:endParaRPr lang="en-US" sz="3900" dirty="0"/>
          </a:p>
        </p:txBody>
      </p:sp>
      <p:sp>
        <p:nvSpPr>
          <p:cNvPr id="7" name="Shape 5"/>
          <p:cNvSpPr/>
          <p:nvPr/>
        </p:nvSpPr>
        <p:spPr>
          <a:xfrm>
            <a:off x="952500" y="1621110"/>
            <a:ext cx="16383000" cy="1595438"/>
          </a:xfrm>
          <a:prstGeom prst="rect">
            <a:avLst/>
          </a:prstGeom>
          <a:solidFill>
            <a:srgbClr val="000B33"/>
          </a:solidFill>
          <a:ln/>
        </p:spPr>
      </p:sp>
      <p:sp>
        <p:nvSpPr>
          <p:cNvPr id="8" name="Text 6"/>
          <p:cNvSpPr/>
          <p:nvPr/>
        </p:nvSpPr>
        <p:spPr>
          <a:xfrm>
            <a:off x="1219200" y="1778273"/>
            <a:ext cx="4057903"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National AI services — the unlock</a:t>
            </a:r>
            <a:endParaRPr lang="en-US" sz="1950" dirty="0"/>
          </a:p>
        </p:txBody>
      </p:sp>
      <p:sp>
        <p:nvSpPr>
          <p:cNvPr id="9" name="Text 7"/>
          <p:cNvSpPr/>
          <p:nvPr/>
        </p:nvSpPr>
        <p:spPr>
          <a:xfrm>
            <a:off x="13228290" y="1773510"/>
            <a:ext cx="4224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sector graphs draw from here</a:t>
            </a:r>
            <a:endParaRPr lang="en-US" sz="1800" dirty="0"/>
          </a:p>
        </p:txBody>
      </p:sp>
      <p:sp>
        <p:nvSpPr>
          <p:cNvPr id="10" name="Shape 8"/>
          <p:cNvSpPr/>
          <p:nvPr/>
        </p:nvSpPr>
        <p:spPr>
          <a:xfrm>
            <a:off x="1219200" y="2164035"/>
            <a:ext cx="8199016" cy="423863"/>
          </a:xfrm>
          <a:prstGeom prst="rect">
            <a:avLst/>
          </a:prstGeom>
          <a:solidFill>
            <a:srgbClr val="0A1745"/>
          </a:solidFill>
          <a:ln w="14288">
            <a:solidFill>
              <a:srgbClr val="0E9E8F"/>
            </a:solidFill>
            <a:prstDash val="solid"/>
          </a:ln>
        </p:spPr>
      </p:sp>
      <p:sp>
        <p:nvSpPr>
          <p:cNvPr id="11" name="Text 9"/>
          <p:cNvSpPr/>
          <p:nvPr/>
        </p:nvSpPr>
        <p:spPr>
          <a:xfrm>
            <a:off x="1347788" y="2216423"/>
            <a:ext cx="8187811" cy="357188"/>
          </a:xfrm>
          <a:prstGeom prst="rect">
            <a:avLst/>
          </a:prstGeom>
          <a:noFill/>
          <a:ln/>
        </p:spPr>
        <p:txBody>
          <a:bodyPr wrap="none" lIns="25400" tIns="25400" rIns="25400" bIns="25400" rtlCol="0" anchor="t">
            <a:normAutofit/>
          </a:bodyPr>
          <a:lstStyle/>
          <a:p>
            <a:pPr algn="l" indent="0" marL="0">
              <a:buNone/>
            </a:pPr>
            <a:r>
              <a:rPr lang="en-US" sz="1800" dirty="0">
                <a:solidFill>
                  <a:srgbClr val="FFFFFF"/>
                </a:solidFill>
                <a:highlight>
                  <a:srgbClr val="0A1745"/>
                </a:highlight>
                <a:latin typeface="Arial" pitchFamily="34" charset="0"/>
                <a:ea typeface="Arial" pitchFamily="34" charset="-122"/>
                <a:cs typeface="Arial" pitchFamily="34" charset="-120"/>
              </a:rPr>
              <a:t>Citizen services in local language </a:t>
            </a:r>
            <a:pPr algn="l" indent="0" marL="0">
              <a:buNone/>
            </a:pPr>
            <a:r>
              <a:rPr lang="en-US" sz="1800" dirty="0">
                <a:solidFill>
                  <a:srgbClr val="3ECFB2"/>
                </a:solidFill>
                <a:latin typeface="Courier New" pitchFamily="34" charset="0"/>
                <a:ea typeface="Courier New" pitchFamily="34" charset="-122"/>
                <a:cs typeface="Courier New" pitchFamily="34" charset="-120"/>
              </a:rPr>
              <a:t>· FAIR 78 · 2.1M req/mo · QoS 96%</a:t>
            </a:r>
            <a:endParaRPr lang="en-US" sz="1800" dirty="0"/>
          </a:p>
        </p:txBody>
      </p:sp>
      <p:sp>
        <p:nvSpPr>
          <p:cNvPr id="12" name="Shape 10"/>
          <p:cNvSpPr/>
          <p:nvPr/>
        </p:nvSpPr>
        <p:spPr>
          <a:xfrm>
            <a:off x="9494416" y="2164035"/>
            <a:ext cx="4700290" cy="423863"/>
          </a:xfrm>
          <a:prstGeom prst="rect">
            <a:avLst/>
          </a:prstGeom>
          <a:solidFill>
            <a:srgbClr val="0A1745"/>
          </a:solidFill>
          <a:ln w="14288">
            <a:solidFill>
              <a:srgbClr val="E21E51"/>
            </a:solidFill>
            <a:prstDash val="solid"/>
          </a:ln>
        </p:spPr>
      </p:sp>
      <p:sp>
        <p:nvSpPr>
          <p:cNvPr id="13" name="Text 11"/>
          <p:cNvSpPr/>
          <p:nvPr/>
        </p:nvSpPr>
        <p:spPr>
          <a:xfrm>
            <a:off x="9623003" y="2225948"/>
            <a:ext cx="2590800" cy="333375"/>
          </a:xfrm>
          <a:prstGeom prst="rect">
            <a:avLst/>
          </a:prstGeom>
          <a:noFill/>
          <a:ln/>
        </p:spPr>
        <p:txBody>
          <a:bodyPr wrap="none" lIns="0" tIns="0" rIns="0" bIns="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AI-assisted health triage</a:t>
            </a:r>
            <a:endParaRPr lang="en-US" sz="1800" dirty="0"/>
          </a:p>
        </p:txBody>
      </p:sp>
      <p:sp>
        <p:nvSpPr>
          <p:cNvPr id="14" name="Text 12"/>
          <p:cNvSpPr/>
          <p:nvPr/>
        </p:nvSpPr>
        <p:spPr>
          <a:xfrm>
            <a:off x="12191554" y="2225948"/>
            <a:ext cx="2062021" cy="333375"/>
          </a:xfrm>
          <a:prstGeom prst="rect">
            <a:avLst/>
          </a:prstGeom>
          <a:noFill/>
          <a:ln/>
        </p:spPr>
        <p:txBody>
          <a:bodyPr wrap="non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 setup 40% ⓘ</a:t>
            </a:r>
            <a:endParaRPr lang="en-US" sz="1800" dirty="0"/>
          </a:p>
        </p:txBody>
      </p:sp>
      <p:sp>
        <p:nvSpPr>
          <p:cNvPr id="15" name="Shape 13"/>
          <p:cNvSpPr/>
          <p:nvPr/>
        </p:nvSpPr>
        <p:spPr>
          <a:xfrm>
            <a:off x="1219200" y="2664098"/>
            <a:ext cx="4929113" cy="400050"/>
          </a:xfrm>
          <a:prstGeom prst="rect">
            <a:avLst/>
          </a:prstGeom>
          <a:solidFill>
            <a:srgbClr val="0A1745"/>
          </a:solidFill>
          <a:ln w="14288">
            <a:solidFill>
              <a:srgbClr val="0E9E8F"/>
            </a:solidFill>
            <a:prstDash val="solid"/>
          </a:ln>
        </p:spPr>
      </p:sp>
      <p:sp>
        <p:nvSpPr>
          <p:cNvPr id="16" name="Text 14"/>
          <p:cNvSpPr/>
          <p:nvPr/>
        </p:nvSpPr>
        <p:spPr>
          <a:xfrm>
            <a:off x="1347788" y="2716485"/>
            <a:ext cx="4819811" cy="333375"/>
          </a:xfrm>
          <a:prstGeom prst="rect">
            <a:avLst/>
          </a:prstGeom>
          <a:noFill/>
          <a:ln/>
        </p:spPr>
        <p:txBody>
          <a:bodyPr wrap="none" lIns="25400" tIns="25400" rIns="25400" bIns="25400" rtlCol="0" anchor="t">
            <a:normAutofit/>
          </a:bodyPr>
          <a:lstStyle/>
          <a:p>
            <a:pPr algn="l" indent="0" marL="0">
              <a:buNone/>
            </a:pPr>
            <a:r>
              <a:rPr lang="en-US" sz="1800" dirty="0">
                <a:solidFill>
                  <a:srgbClr val="FFFFFF"/>
                </a:solidFill>
                <a:highlight>
                  <a:srgbClr val="0A1745"/>
                </a:highlight>
                <a:latin typeface="Arial" pitchFamily="34" charset="0"/>
                <a:ea typeface="Arial" pitchFamily="34" charset="-122"/>
                <a:cs typeface="Arial" pitchFamily="34" charset="-120"/>
              </a:rPr>
              <a:t>Agri advisory </a:t>
            </a:r>
            <a:pPr algn="l" indent="0" marL="0">
              <a:buNone/>
            </a:pPr>
            <a:r>
              <a:rPr lang="en-US" sz="1800" dirty="0">
                <a:solidFill>
                  <a:srgbClr val="3ECFB2"/>
                </a:solidFill>
                <a:latin typeface="Courier New" pitchFamily="34" charset="0"/>
                <a:ea typeface="Courier New" pitchFamily="34" charset="-122"/>
                <a:cs typeface="Courier New" pitchFamily="34" charset="-120"/>
              </a:rPr>
              <a:t>· FAIR 68 · 340k farmers</a:t>
            </a:r>
            <a:endParaRPr lang="en-US" sz="1800" dirty="0"/>
          </a:p>
        </p:txBody>
      </p:sp>
      <p:sp>
        <p:nvSpPr>
          <p:cNvPr id="17" name="Shape 15"/>
          <p:cNvSpPr/>
          <p:nvPr/>
        </p:nvSpPr>
        <p:spPr>
          <a:xfrm>
            <a:off x="6224513" y="2664098"/>
            <a:ext cx="3434283" cy="400050"/>
          </a:xfrm>
          <a:prstGeom prst="rect">
            <a:avLst/>
          </a:prstGeom>
          <a:solidFill>
            <a:srgbClr val="0A1745"/>
          </a:solidFill>
          <a:ln w="14288">
            <a:solidFill>
              <a:srgbClr val="2A3355"/>
            </a:solidFill>
            <a:prstDash val="solid"/>
          </a:ln>
        </p:spPr>
      </p:sp>
      <p:sp>
        <p:nvSpPr>
          <p:cNvPr id="18" name="Text 16"/>
          <p:cNvSpPr/>
          <p:nvPr/>
        </p:nvSpPr>
        <p:spPr>
          <a:xfrm>
            <a:off x="6353101" y="2716485"/>
            <a:ext cx="3280137" cy="333375"/>
          </a:xfrm>
          <a:prstGeom prst="rect">
            <a:avLst/>
          </a:prstGeom>
          <a:noFill/>
          <a:ln/>
        </p:spPr>
        <p:txBody>
          <a:bodyPr wrap="none" lIns="25400" tIns="25400" rIns="25400" bIns="25400" rtlCol="0" anchor="t">
            <a:normAutofit/>
          </a:bodyPr>
          <a:lstStyle/>
          <a:p>
            <a:pPr algn="l" indent="0" marL="0">
              <a:buNone/>
            </a:pPr>
            <a:r>
              <a:rPr lang="en-US" sz="1800" dirty="0">
                <a:solidFill>
                  <a:srgbClr val="FFFFFF"/>
                </a:solidFill>
                <a:highlight>
                  <a:srgbClr val="0A1745"/>
                </a:highlight>
                <a:latin typeface="Arial" pitchFamily="34" charset="0"/>
                <a:ea typeface="Arial" pitchFamily="34" charset="-122"/>
                <a:cs typeface="Arial" pitchFamily="34" charset="-120"/>
              </a:rPr>
              <a:t>Education tutoring </a:t>
            </a:r>
            <a:pPr algn="l" indent="0" marL="0">
              <a:buNone/>
            </a:pPr>
            <a:r>
              <a:rPr lang="en-US" sz="1800" dirty="0">
                <a:solidFill>
                  <a:srgbClr val="8A92B0"/>
                </a:solidFill>
                <a:latin typeface="Courier New" pitchFamily="34" charset="0"/>
                <a:ea typeface="Courier New" pitchFamily="34" charset="-122"/>
                <a:cs typeface="Courier New" pitchFamily="34" charset="-120"/>
              </a:rPr>
              <a:t>· planned</a:t>
            </a:r>
            <a:endParaRPr lang="en-US" sz="1800" dirty="0"/>
          </a:p>
        </p:txBody>
      </p:sp>
      <p:sp>
        <p:nvSpPr>
          <p:cNvPr id="19" name="Text 17"/>
          <p:cNvSpPr/>
          <p:nvPr/>
        </p:nvSpPr>
        <p:spPr>
          <a:xfrm>
            <a:off x="133350" y="3235598"/>
            <a:ext cx="18021300" cy="335235"/>
          </a:xfrm>
          <a:prstGeom prst="rect">
            <a:avLst/>
          </a:prstGeom>
          <a:noFill/>
          <a:ln/>
        </p:spPr>
        <p:txBody>
          <a:bodyPr wrap="square" lIns="25400" tIns="25400" rIns="25400" bIns="25400" rtlCol="0" anchor="t">
            <a:normAutofit/>
          </a:bodyPr>
          <a:lstStyle/>
          <a:p>
            <a:pPr algn="ctr" indent="0" marL="0">
              <a:lnSpc>
                <a:spcPct val="104000"/>
              </a:lnSpc>
              <a:buNone/>
            </a:pPr>
            <a:r>
              <a:rPr lang="en-US" sz="1950" dirty="0">
                <a:solidFill>
                  <a:srgbClr val="E21E51"/>
                </a:solidFill>
                <a:latin typeface="Arial" pitchFamily="34" charset="0"/>
                <a:ea typeface="Arial" pitchFamily="34" charset="-122"/>
                <a:cs typeface="Arial" pitchFamily="34" charset="-120"/>
              </a:rPr>
              <a:t>↑ </a:t>
            </a:r>
            <a:pPr algn="ctr" indent="0" marL="0">
              <a:lnSpc>
                <a:spcPct val="104000"/>
              </a:lnSpc>
              <a:buNone/>
            </a:pPr>
            <a:r>
              <a:rPr lang="en-US" sz="1800" dirty="0">
                <a:solidFill>
                  <a:srgbClr val="E21E51"/>
                </a:solidFill>
                <a:latin typeface="Courier New" pitchFamily="34" charset="0"/>
                <a:ea typeface="Courier New" pitchFamily="34" charset="-122"/>
                <a:cs typeface="Courier New" pitchFamily="34" charset="-120"/>
              </a:rPr>
              <a:t>dependsOn</a:t>
            </a:r>
            <a:endParaRPr lang="en-US" sz="1950" dirty="0"/>
          </a:p>
        </p:txBody>
      </p:sp>
      <p:sp>
        <p:nvSpPr>
          <p:cNvPr id="20" name="Shape 18"/>
          <p:cNvSpPr/>
          <p:nvPr/>
        </p:nvSpPr>
        <p:spPr>
          <a:xfrm>
            <a:off x="952500" y="3551783"/>
            <a:ext cx="16383000" cy="2066925"/>
          </a:xfrm>
          <a:prstGeom prst="rect">
            <a:avLst/>
          </a:prstGeom>
          <a:solidFill>
            <a:srgbClr val="FFFFFF"/>
          </a:solidFill>
          <a:ln w="9525">
            <a:solidFill>
              <a:srgbClr val="B4BACC"/>
            </a:solidFill>
            <a:prstDash val="solid"/>
          </a:ln>
        </p:spPr>
      </p:sp>
      <p:sp>
        <p:nvSpPr>
          <p:cNvPr id="21" name="Text 19"/>
          <p:cNvSpPr/>
          <p:nvPr/>
        </p:nvSpPr>
        <p:spPr>
          <a:xfrm>
            <a:off x="1228725" y="3718471"/>
            <a:ext cx="4618695"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00B33"/>
                </a:solidFill>
                <a:latin typeface="Arial" pitchFamily="34" charset="0"/>
                <a:ea typeface="Arial" pitchFamily="34" charset="-122"/>
                <a:cs typeface="Arial" pitchFamily="34" charset="-120"/>
              </a:rPr>
              <a:t>Enabling — where the nation localises</a:t>
            </a:r>
            <a:endParaRPr lang="en-US" sz="1950" dirty="0"/>
          </a:p>
        </p:txBody>
      </p:sp>
      <p:sp>
        <p:nvSpPr>
          <p:cNvPr id="22" name="Text 20"/>
          <p:cNvSpPr/>
          <p:nvPr/>
        </p:nvSpPr>
        <p:spPr>
          <a:xfrm>
            <a:off x="11435655" y="3713708"/>
            <a:ext cx="618598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forked national, verified by universities</a:t>
            </a:r>
            <a:endParaRPr lang="en-US" sz="1800" dirty="0"/>
          </a:p>
        </p:txBody>
      </p:sp>
      <p:sp>
        <p:nvSpPr>
          <p:cNvPr id="23" name="Shape 21"/>
          <p:cNvSpPr/>
          <p:nvPr/>
        </p:nvSpPr>
        <p:spPr>
          <a:xfrm>
            <a:off x="1228725" y="4104233"/>
            <a:ext cx="7259464" cy="400050"/>
          </a:xfrm>
          <a:prstGeom prst="rect">
            <a:avLst/>
          </a:prstGeom>
          <a:solidFill>
            <a:srgbClr val="FAFBFD"/>
          </a:solidFill>
          <a:ln w="14288">
            <a:solidFill>
              <a:srgbClr val="0E9E8F"/>
            </a:solidFill>
            <a:prstDash val="solid"/>
          </a:ln>
        </p:spPr>
      </p:sp>
      <p:sp>
        <p:nvSpPr>
          <p:cNvPr id="24" name="Text 22"/>
          <p:cNvSpPr/>
          <p:nvPr/>
        </p:nvSpPr>
        <p:spPr>
          <a:xfrm>
            <a:off x="1357313" y="4156621"/>
            <a:ext cx="7220073"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Digital Public Infrastructure </a:t>
            </a:r>
            <a:pPr algn="l" indent="0" marL="0">
              <a:buNone/>
            </a:pPr>
            <a:r>
              <a:rPr lang="en-US" sz="1800" dirty="0">
                <a:solidFill>
                  <a:srgbClr val="0E9E8F"/>
                </a:solidFill>
                <a:latin typeface="Courier New" pitchFamily="34" charset="0"/>
                <a:ea typeface="Courier New" pitchFamily="34" charset="-122"/>
                <a:cs typeface="Courier New" pitchFamily="34" charset="-120"/>
              </a:rPr>
              <a:t>· FAIR 81 · 12M tx/day · 99.2%</a:t>
            </a:r>
            <a:endParaRPr lang="en-US" sz="1800" dirty="0"/>
          </a:p>
        </p:txBody>
      </p:sp>
      <p:sp>
        <p:nvSpPr>
          <p:cNvPr id="25" name="Shape 23"/>
          <p:cNvSpPr/>
          <p:nvPr/>
        </p:nvSpPr>
        <p:spPr>
          <a:xfrm>
            <a:off x="8564389" y="4104233"/>
            <a:ext cx="6529611" cy="400050"/>
          </a:xfrm>
          <a:prstGeom prst="rect">
            <a:avLst/>
          </a:prstGeom>
          <a:solidFill>
            <a:srgbClr val="FAFBFD"/>
          </a:solidFill>
          <a:ln w="14288">
            <a:solidFill>
              <a:srgbClr val="E21E51"/>
            </a:solidFill>
            <a:prstDash val="solid"/>
          </a:ln>
        </p:spPr>
      </p:sp>
      <p:sp>
        <p:nvSpPr>
          <p:cNvPr id="26" name="Text 24"/>
          <p:cNvSpPr/>
          <p:nvPr/>
        </p:nvSpPr>
        <p:spPr>
          <a:xfrm>
            <a:off x="8692976" y="4156621"/>
            <a:ext cx="6468324"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Local-language corpus &amp; models </a:t>
            </a:r>
            <a:pPr algn="l" indent="0" marL="0">
              <a:buNone/>
            </a:pPr>
            <a:r>
              <a:rPr lang="en-US" sz="1800" dirty="0">
                <a:solidFill>
                  <a:srgbClr val="E21E51"/>
                </a:solidFill>
                <a:latin typeface="Courier New" pitchFamily="34" charset="0"/>
                <a:ea typeface="Courier New" pitchFamily="34" charset="-122"/>
                <a:cs typeface="Courier New" pitchFamily="34" charset="-120"/>
              </a:rPr>
              <a:t>· 60% · 3/5 languages</a:t>
            </a:r>
            <a:endParaRPr lang="en-US" sz="1800" dirty="0"/>
          </a:p>
        </p:txBody>
      </p:sp>
      <p:sp>
        <p:nvSpPr>
          <p:cNvPr id="27" name="Shape 25"/>
          <p:cNvSpPr/>
          <p:nvPr/>
        </p:nvSpPr>
        <p:spPr>
          <a:xfrm>
            <a:off x="1228725" y="4580483"/>
            <a:ext cx="5028158" cy="400050"/>
          </a:xfrm>
          <a:prstGeom prst="rect">
            <a:avLst/>
          </a:prstGeom>
          <a:solidFill>
            <a:srgbClr val="FAFBFD"/>
          </a:solidFill>
          <a:ln w="14288">
            <a:solidFill>
              <a:srgbClr val="0E9E8F"/>
            </a:solidFill>
            <a:prstDash val="solid"/>
          </a:ln>
        </p:spPr>
      </p:sp>
      <p:sp>
        <p:nvSpPr>
          <p:cNvPr id="28" name="Text 26"/>
          <p:cNvSpPr/>
          <p:nvPr/>
        </p:nvSpPr>
        <p:spPr>
          <a:xfrm>
            <a:off x="1357313" y="4632871"/>
            <a:ext cx="4921828"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Regional rulebook alignment </a:t>
            </a:r>
            <a:pPr algn="l" indent="0" marL="0">
              <a:buNone/>
            </a:pPr>
            <a:r>
              <a:rPr lang="en-US" sz="1800" dirty="0">
                <a:solidFill>
                  <a:srgbClr val="0E9E8F"/>
                </a:solidFill>
                <a:latin typeface="Courier New" pitchFamily="34" charset="0"/>
                <a:ea typeface="Courier New" pitchFamily="34" charset="-122"/>
                <a:cs typeface="Courier New" pitchFamily="34" charset="-120"/>
              </a:rPr>
              <a:t>· QoS audited</a:t>
            </a:r>
            <a:endParaRPr lang="en-US" sz="1800" dirty="0"/>
          </a:p>
        </p:txBody>
      </p:sp>
      <p:sp>
        <p:nvSpPr>
          <p:cNvPr id="29" name="Shape 27"/>
          <p:cNvSpPr/>
          <p:nvPr/>
        </p:nvSpPr>
        <p:spPr>
          <a:xfrm>
            <a:off x="6333083" y="4580483"/>
            <a:ext cx="4269135" cy="400050"/>
          </a:xfrm>
          <a:prstGeom prst="rect">
            <a:avLst/>
          </a:prstGeom>
          <a:solidFill>
            <a:srgbClr val="FAFBFD"/>
          </a:solidFill>
          <a:ln w="14288">
            <a:solidFill>
              <a:srgbClr val="E21E51"/>
            </a:solidFill>
            <a:prstDash val="solid"/>
          </a:ln>
        </p:spPr>
      </p:sp>
      <p:sp>
        <p:nvSpPr>
          <p:cNvPr id="30" name="Text 28"/>
          <p:cNvSpPr/>
          <p:nvPr/>
        </p:nvSpPr>
        <p:spPr>
          <a:xfrm>
            <a:off x="6461671" y="4632871"/>
            <a:ext cx="4140034"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Sovereign compute access </a:t>
            </a:r>
            <a:pPr algn="l" indent="0" marL="0">
              <a:buNone/>
            </a:pPr>
            <a:r>
              <a:rPr lang="en-US" sz="1800" dirty="0">
                <a:solidFill>
                  <a:srgbClr val="E21E51"/>
                </a:solidFill>
                <a:latin typeface="Courier New" pitchFamily="34" charset="0"/>
                <a:ea typeface="Courier New" pitchFamily="34" charset="-122"/>
                <a:cs typeface="Courier New" pitchFamily="34" charset="-120"/>
              </a:rPr>
              <a:t>· 4/10 MW</a:t>
            </a:r>
            <a:endParaRPr lang="en-US" sz="1800" dirty="0"/>
          </a:p>
        </p:txBody>
      </p:sp>
      <p:sp>
        <p:nvSpPr>
          <p:cNvPr id="31" name="Shape 29"/>
          <p:cNvSpPr/>
          <p:nvPr/>
        </p:nvSpPr>
        <p:spPr>
          <a:xfrm>
            <a:off x="10678418" y="4580483"/>
            <a:ext cx="5026000" cy="400050"/>
          </a:xfrm>
          <a:prstGeom prst="rect">
            <a:avLst/>
          </a:prstGeom>
          <a:solidFill>
            <a:srgbClr val="FAFBFD"/>
          </a:solidFill>
          <a:ln w="14288">
            <a:solidFill>
              <a:srgbClr val="0E9E8F"/>
            </a:solidFill>
            <a:prstDash val="solid"/>
          </a:ln>
        </p:spPr>
      </p:sp>
      <p:sp>
        <p:nvSpPr>
          <p:cNvPr id="32" name="Text 30"/>
          <p:cNvSpPr/>
          <p:nvPr/>
        </p:nvSpPr>
        <p:spPr>
          <a:xfrm>
            <a:off x="10807005" y="4632871"/>
            <a:ext cx="4919605"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Credentialed AI operators </a:t>
            </a:r>
            <a:pPr algn="l" indent="0" marL="0">
              <a:buNone/>
            </a:pPr>
            <a:r>
              <a:rPr lang="en-US" sz="1800" dirty="0">
                <a:solidFill>
                  <a:srgbClr val="0E9E8F"/>
                </a:solidFill>
                <a:latin typeface="Courier New" pitchFamily="34" charset="0"/>
                <a:ea typeface="Courier New" pitchFamily="34" charset="-122"/>
                <a:cs typeface="Courier New" pitchFamily="34" charset="-120"/>
              </a:rPr>
              <a:t>· 240 certified</a:t>
            </a:r>
            <a:endParaRPr lang="en-US" sz="1800" dirty="0"/>
          </a:p>
        </p:txBody>
      </p:sp>
      <p:sp>
        <p:nvSpPr>
          <p:cNvPr id="33" name="Shape 31"/>
          <p:cNvSpPr/>
          <p:nvPr/>
        </p:nvSpPr>
        <p:spPr>
          <a:xfrm>
            <a:off x="1228725" y="5056733"/>
            <a:ext cx="3057302" cy="400050"/>
          </a:xfrm>
          <a:prstGeom prst="rect">
            <a:avLst/>
          </a:prstGeom>
          <a:solidFill>
            <a:srgbClr val="FAFBFD"/>
          </a:solidFill>
          <a:ln w="14288">
            <a:solidFill>
              <a:srgbClr val="E21E51"/>
            </a:solidFill>
            <a:prstDash val="solid"/>
          </a:ln>
        </p:spPr>
      </p:sp>
      <p:sp>
        <p:nvSpPr>
          <p:cNvPr id="34" name="Text 32"/>
          <p:cNvSpPr/>
          <p:nvPr/>
        </p:nvSpPr>
        <p:spPr>
          <a:xfrm>
            <a:off x="1357313" y="5109121"/>
            <a:ext cx="2891846"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AI leadership </a:t>
            </a:r>
            <a:pPr algn="l" indent="0" marL="0">
              <a:buNone/>
            </a:pPr>
            <a:r>
              <a:rPr lang="en-US" sz="1800" dirty="0">
                <a:solidFill>
                  <a:srgbClr val="E21E51"/>
                </a:solidFill>
                <a:latin typeface="Courier New" pitchFamily="34" charset="0"/>
                <a:ea typeface="Courier New" pitchFamily="34" charset="-122"/>
                <a:cs typeface="Courier New" pitchFamily="34" charset="-120"/>
              </a:rPr>
              <a:t>· cohort 1</a:t>
            </a:r>
            <a:endParaRPr lang="en-US" sz="1800" dirty="0"/>
          </a:p>
        </p:txBody>
      </p:sp>
      <p:sp>
        <p:nvSpPr>
          <p:cNvPr id="35" name="Shape 33"/>
          <p:cNvSpPr/>
          <p:nvPr/>
        </p:nvSpPr>
        <p:spPr>
          <a:xfrm>
            <a:off x="4362227" y="5056733"/>
            <a:ext cx="3593381" cy="400050"/>
          </a:xfrm>
          <a:prstGeom prst="rect">
            <a:avLst/>
          </a:prstGeom>
          <a:solidFill>
            <a:srgbClr val="FAFBFD"/>
          </a:solidFill>
          <a:ln w="14288">
            <a:solidFill>
              <a:srgbClr val="0E9E8F"/>
            </a:solidFill>
            <a:prstDash val="solid"/>
          </a:ln>
        </p:spPr>
      </p:sp>
      <p:sp>
        <p:nvSpPr>
          <p:cNvPr id="36" name="Text 34"/>
          <p:cNvSpPr/>
          <p:nvPr/>
        </p:nvSpPr>
        <p:spPr>
          <a:xfrm>
            <a:off x="4490814" y="5109121"/>
            <a:ext cx="3444007"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Process governance </a:t>
            </a:r>
            <a:pPr algn="l" indent="0" marL="0">
              <a:buNone/>
            </a:pPr>
            <a:r>
              <a:rPr lang="en-US" sz="1800" dirty="0">
                <a:solidFill>
                  <a:srgbClr val="0E9E8F"/>
                </a:solidFill>
                <a:latin typeface="Courier New" pitchFamily="34" charset="0"/>
                <a:ea typeface="Courier New" pitchFamily="34" charset="-122"/>
                <a:cs typeface="Courier New" pitchFamily="34" charset="-120"/>
              </a:rPr>
              <a:t>· FAIR 71</a:t>
            </a:r>
            <a:endParaRPr lang="en-US" sz="1800" dirty="0"/>
          </a:p>
        </p:txBody>
      </p:sp>
      <p:sp>
        <p:nvSpPr>
          <p:cNvPr id="37" name="Shape 35"/>
          <p:cNvSpPr/>
          <p:nvPr/>
        </p:nvSpPr>
        <p:spPr>
          <a:xfrm>
            <a:off x="8031807" y="5056733"/>
            <a:ext cx="4356720" cy="400050"/>
          </a:xfrm>
          <a:prstGeom prst="rect">
            <a:avLst/>
          </a:prstGeom>
          <a:solidFill>
            <a:srgbClr val="FAFBFD"/>
          </a:solidFill>
          <a:ln w="14288">
            <a:solidFill>
              <a:srgbClr val="0E9E8F"/>
            </a:solidFill>
            <a:prstDash val="solid"/>
          </a:ln>
        </p:spPr>
      </p:sp>
      <p:sp>
        <p:nvSpPr>
          <p:cNvPr id="38" name="Text 36"/>
          <p:cNvSpPr/>
          <p:nvPr/>
        </p:nvSpPr>
        <p:spPr>
          <a:xfrm>
            <a:off x="8160395" y="5109121"/>
            <a:ext cx="4230247"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Capability governance </a:t>
            </a:r>
            <a:pPr algn="l" indent="0" marL="0">
              <a:buNone/>
            </a:pPr>
            <a:r>
              <a:rPr lang="en-US" sz="1800" dirty="0">
                <a:solidFill>
                  <a:srgbClr val="0E9E8F"/>
                </a:solidFill>
                <a:latin typeface="Courier New" pitchFamily="34" charset="0"/>
                <a:ea typeface="Courier New" pitchFamily="34" charset="-122"/>
                <a:cs typeface="Courier New" pitchFamily="34" charset="-120"/>
              </a:rPr>
              <a:t>· on ProcesOS</a:t>
            </a:r>
            <a:endParaRPr lang="en-US" sz="1800" dirty="0"/>
          </a:p>
        </p:txBody>
      </p:sp>
      <p:sp>
        <p:nvSpPr>
          <p:cNvPr id="39" name="Shape 37"/>
          <p:cNvSpPr/>
          <p:nvPr/>
        </p:nvSpPr>
        <p:spPr>
          <a:xfrm>
            <a:off x="12464728" y="5056733"/>
            <a:ext cx="3721671" cy="400050"/>
          </a:xfrm>
          <a:prstGeom prst="rect">
            <a:avLst/>
          </a:prstGeom>
          <a:solidFill>
            <a:srgbClr val="FAFBFD"/>
          </a:solidFill>
          <a:ln w="14288">
            <a:solidFill>
              <a:srgbClr val="B4BACC"/>
            </a:solidFill>
            <a:prstDash val="solid"/>
          </a:ln>
        </p:spPr>
      </p:sp>
      <p:sp>
        <p:nvSpPr>
          <p:cNvPr id="40" name="Text 38"/>
          <p:cNvSpPr/>
          <p:nvPr/>
        </p:nvSpPr>
        <p:spPr>
          <a:xfrm>
            <a:off x="12593315" y="5109121"/>
            <a:ext cx="3576146" cy="333375"/>
          </a:xfrm>
          <a:prstGeom prst="rect">
            <a:avLst/>
          </a:prstGeom>
          <a:noFill/>
          <a:ln/>
        </p:spPr>
        <p:txBody>
          <a:bodyPr wrap="none" lIns="25400" tIns="25400" rIns="25400" bIns="25400" rtlCol="0" anchor="t">
            <a:normAutofit/>
          </a:bodyPr>
          <a:lstStyle/>
          <a:p>
            <a:pPr algn="l" indent="0" marL="0">
              <a:buNone/>
            </a:pPr>
            <a:r>
              <a:rPr lang="en-US" sz="1800" dirty="0">
                <a:solidFill>
                  <a:srgbClr val="6E7590"/>
                </a:solidFill>
                <a:highlight>
                  <a:srgbClr val="FAFBFD"/>
                </a:highlight>
                <a:latin typeface="Arial" pitchFamily="34" charset="0"/>
                <a:ea typeface="Arial" pitchFamily="34" charset="-122"/>
                <a:cs typeface="Arial" pitchFamily="34" charset="-120"/>
              </a:rPr>
              <a:t>Change management </a:t>
            </a:r>
            <a:pPr algn="l" indent="0" marL="0">
              <a:buNone/>
            </a:pPr>
            <a:r>
              <a:rPr lang="en-US" sz="1800" dirty="0">
                <a:solidFill>
                  <a:srgbClr val="6E7590"/>
                </a:solidFill>
                <a:latin typeface="Courier New" pitchFamily="34" charset="0"/>
                <a:ea typeface="Courier New" pitchFamily="34" charset="-122"/>
                <a:cs typeface="Courier New" pitchFamily="34" charset="-120"/>
              </a:rPr>
              <a:t>· planned</a:t>
            </a:r>
            <a:endParaRPr lang="en-US" sz="1800" dirty="0"/>
          </a:p>
        </p:txBody>
      </p:sp>
      <p:sp>
        <p:nvSpPr>
          <p:cNvPr id="41" name="Text 39"/>
          <p:cNvSpPr/>
          <p:nvPr/>
        </p:nvSpPr>
        <p:spPr>
          <a:xfrm>
            <a:off x="133350" y="5637758"/>
            <a:ext cx="18021300" cy="335235"/>
          </a:xfrm>
          <a:prstGeom prst="rect">
            <a:avLst/>
          </a:prstGeom>
          <a:noFill/>
          <a:ln/>
        </p:spPr>
        <p:txBody>
          <a:bodyPr wrap="square" lIns="25400" tIns="25400" rIns="25400" bIns="25400" rtlCol="0" anchor="t">
            <a:normAutofit/>
          </a:bodyPr>
          <a:lstStyle/>
          <a:p>
            <a:pPr algn="ctr" indent="0" marL="0">
              <a:lnSpc>
                <a:spcPct val="104000"/>
              </a:lnSpc>
              <a:buNone/>
            </a:pPr>
            <a:r>
              <a:rPr lang="en-US" sz="1950" dirty="0">
                <a:solidFill>
                  <a:srgbClr val="E21E51"/>
                </a:solidFill>
                <a:latin typeface="Arial" pitchFamily="34" charset="0"/>
                <a:ea typeface="Arial" pitchFamily="34" charset="-122"/>
                <a:cs typeface="Arial" pitchFamily="34" charset="-120"/>
              </a:rPr>
              <a:t>↑ </a:t>
            </a:r>
            <a:pPr algn="ctr" indent="0" marL="0">
              <a:lnSpc>
                <a:spcPct val="104000"/>
              </a:lnSpc>
              <a:buNone/>
            </a:pPr>
            <a:r>
              <a:rPr lang="en-US" sz="1800" dirty="0">
                <a:solidFill>
                  <a:srgbClr val="E21E51"/>
                </a:solidFill>
                <a:latin typeface="Courier New" pitchFamily="34" charset="0"/>
                <a:ea typeface="Courier New" pitchFamily="34" charset="-122"/>
                <a:cs typeface="Courier New" pitchFamily="34" charset="-120"/>
              </a:rPr>
              <a:t>dependsOn</a:t>
            </a:r>
            <a:endParaRPr lang="en-US" sz="1950" dirty="0"/>
          </a:p>
        </p:txBody>
      </p:sp>
      <p:sp>
        <p:nvSpPr>
          <p:cNvPr id="42" name="Shape 40"/>
          <p:cNvSpPr/>
          <p:nvPr/>
        </p:nvSpPr>
        <p:spPr>
          <a:xfrm>
            <a:off x="952500" y="5953944"/>
            <a:ext cx="16383000" cy="1590675"/>
          </a:xfrm>
          <a:prstGeom prst="rect">
            <a:avLst/>
          </a:prstGeom>
          <a:solidFill>
            <a:srgbClr val="FFFFFF"/>
          </a:solidFill>
          <a:ln w="9525">
            <a:solidFill>
              <a:srgbClr val="B4BACC"/>
            </a:solidFill>
            <a:prstDash val="solid"/>
          </a:ln>
        </p:spPr>
      </p:sp>
      <p:sp>
        <p:nvSpPr>
          <p:cNvPr id="43" name="Text 41"/>
          <p:cNvSpPr/>
          <p:nvPr/>
        </p:nvSpPr>
        <p:spPr>
          <a:xfrm>
            <a:off x="1228725" y="6120631"/>
            <a:ext cx="4498040" cy="323850"/>
          </a:xfrm>
          <a:prstGeom prst="rect">
            <a:avLst/>
          </a:prstGeom>
          <a:noFill/>
          <a:ln/>
        </p:spPr>
        <p:txBody>
          <a:bodyPr wrap="square" lIns="25400" tIns="25400" rIns="25400" bIns="25400" rtlCol="0" anchor="t">
            <a:normAutofit/>
          </a:bodyPr>
          <a:lstStyle/>
          <a:p>
            <a:pPr algn="l" indent="0" marL="0">
              <a:buNone/>
            </a:pPr>
            <a:r>
              <a:rPr lang="en-US" sz="1950" b="1" dirty="0">
                <a:solidFill>
                  <a:srgbClr val="000B33"/>
                </a:solidFill>
                <a:latin typeface="Arial" pitchFamily="34" charset="0"/>
                <a:ea typeface="Arial" pitchFamily="34" charset="-122"/>
                <a:cs typeface="Arial" pitchFamily="34" charset="-120"/>
              </a:rPr>
              <a:t>Foundational — the national baseline</a:t>
            </a:r>
            <a:endParaRPr lang="en-US" sz="1950" dirty="0"/>
          </a:p>
        </p:txBody>
      </p:sp>
      <p:sp>
        <p:nvSpPr>
          <p:cNvPr id="44" name="Text 42"/>
          <p:cNvSpPr/>
          <p:nvPr/>
        </p:nvSpPr>
        <p:spPr>
          <a:xfrm>
            <a:off x="14316075" y="6115869"/>
            <a:ext cx="30175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one graph per nation</a:t>
            </a:r>
            <a:endParaRPr lang="en-US" sz="1800" dirty="0"/>
          </a:p>
        </p:txBody>
      </p:sp>
      <p:sp>
        <p:nvSpPr>
          <p:cNvPr id="45" name="Shape 43"/>
          <p:cNvSpPr/>
          <p:nvPr/>
        </p:nvSpPr>
        <p:spPr>
          <a:xfrm>
            <a:off x="1228725" y="6506394"/>
            <a:ext cx="4263703" cy="400050"/>
          </a:xfrm>
          <a:prstGeom prst="rect">
            <a:avLst/>
          </a:prstGeom>
          <a:solidFill>
            <a:srgbClr val="FAFBFD"/>
          </a:solidFill>
          <a:ln w="14288">
            <a:solidFill>
              <a:srgbClr val="0E9E8F"/>
            </a:solidFill>
            <a:prstDash val="solid"/>
          </a:ln>
        </p:spPr>
      </p:sp>
      <p:sp>
        <p:nvSpPr>
          <p:cNvPr id="46" name="Text 44"/>
          <p:cNvSpPr/>
          <p:nvPr/>
        </p:nvSpPr>
        <p:spPr>
          <a:xfrm>
            <a:off x="1357313" y="6558781"/>
            <a:ext cx="4134439"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Digital identity </a:t>
            </a:r>
            <a:pPr algn="l" indent="0" marL="0">
              <a:buNone/>
            </a:pPr>
            <a:r>
              <a:rPr lang="en-US" sz="1800" dirty="0">
                <a:solidFill>
                  <a:srgbClr val="0E9E8F"/>
                </a:solidFill>
                <a:latin typeface="Courier New" pitchFamily="34" charset="0"/>
                <a:ea typeface="Courier New" pitchFamily="34" charset="-122"/>
                <a:cs typeface="Courier New" pitchFamily="34" charset="-120"/>
              </a:rPr>
              <a:t>· 9.4M · QoS 99.6%</a:t>
            </a:r>
            <a:endParaRPr lang="en-US" sz="1800" dirty="0"/>
          </a:p>
        </p:txBody>
      </p:sp>
      <p:sp>
        <p:nvSpPr>
          <p:cNvPr id="47" name="Shape 45"/>
          <p:cNvSpPr/>
          <p:nvPr/>
        </p:nvSpPr>
        <p:spPr>
          <a:xfrm>
            <a:off x="5568628" y="6506394"/>
            <a:ext cx="3830241" cy="400050"/>
          </a:xfrm>
          <a:prstGeom prst="rect">
            <a:avLst/>
          </a:prstGeom>
          <a:solidFill>
            <a:srgbClr val="FAFBFD"/>
          </a:solidFill>
          <a:ln w="14288">
            <a:solidFill>
              <a:srgbClr val="E21E51"/>
            </a:solidFill>
            <a:prstDash val="solid"/>
          </a:ln>
        </p:spPr>
      </p:sp>
      <p:sp>
        <p:nvSpPr>
          <p:cNvPr id="48" name="Text 46"/>
          <p:cNvSpPr/>
          <p:nvPr/>
        </p:nvSpPr>
        <p:spPr>
          <a:xfrm>
            <a:off x="5697215" y="6558781"/>
            <a:ext cx="3687973"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Energy production </a:t>
            </a:r>
            <a:pPr algn="l" indent="0" marL="0">
              <a:buNone/>
            </a:pPr>
            <a:r>
              <a:rPr lang="en-US" sz="1800" dirty="0">
                <a:solidFill>
                  <a:srgbClr val="E21E51"/>
                </a:solidFill>
                <a:latin typeface="Courier New" pitchFamily="34" charset="0"/>
                <a:ea typeface="Courier New" pitchFamily="34" charset="-122"/>
                <a:cs typeface="Courier New" pitchFamily="34" charset="-120"/>
              </a:rPr>
              <a:t>· 120/180 MW</a:t>
            </a:r>
            <a:endParaRPr lang="en-US" sz="1800" dirty="0"/>
          </a:p>
        </p:txBody>
      </p:sp>
      <p:sp>
        <p:nvSpPr>
          <p:cNvPr id="49" name="Shape 47"/>
          <p:cNvSpPr/>
          <p:nvPr/>
        </p:nvSpPr>
        <p:spPr>
          <a:xfrm>
            <a:off x="9475068" y="6506394"/>
            <a:ext cx="4278957" cy="400050"/>
          </a:xfrm>
          <a:prstGeom prst="rect">
            <a:avLst/>
          </a:prstGeom>
          <a:solidFill>
            <a:srgbClr val="FAFBFD"/>
          </a:solidFill>
          <a:ln w="14288">
            <a:solidFill>
              <a:srgbClr val="E21E51"/>
            </a:solidFill>
            <a:prstDash val="solid"/>
          </a:ln>
        </p:spPr>
      </p:sp>
      <p:sp>
        <p:nvSpPr>
          <p:cNvPr id="50" name="Text 48"/>
          <p:cNvSpPr/>
          <p:nvPr/>
        </p:nvSpPr>
        <p:spPr>
          <a:xfrm>
            <a:off x="9603656" y="6558781"/>
            <a:ext cx="4150151"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Datacenter capacity </a:t>
            </a:r>
            <a:pPr algn="l" indent="0" marL="0">
              <a:buNone/>
            </a:pPr>
            <a:r>
              <a:rPr lang="en-US" sz="1800" dirty="0">
                <a:solidFill>
                  <a:srgbClr val="E21E51"/>
                </a:solidFill>
                <a:latin typeface="Courier New" pitchFamily="34" charset="0"/>
                <a:ea typeface="Courier New" pitchFamily="34" charset="-122"/>
                <a:cs typeface="Courier New" pitchFamily="34" charset="-120"/>
              </a:rPr>
              <a:t>· tier-3, 2027</a:t>
            </a:r>
            <a:endParaRPr lang="en-US" sz="1800" dirty="0"/>
          </a:p>
        </p:txBody>
      </p:sp>
      <p:sp>
        <p:nvSpPr>
          <p:cNvPr id="51" name="Shape 49"/>
          <p:cNvSpPr/>
          <p:nvPr/>
        </p:nvSpPr>
        <p:spPr>
          <a:xfrm>
            <a:off x="1228725" y="6982644"/>
            <a:ext cx="3502893" cy="400050"/>
          </a:xfrm>
          <a:prstGeom prst="rect">
            <a:avLst/>
          </a:prstGeom>
          <a:solidFill>
            <a:srgbClr val="FAFBFD"/>
          </a:solidFill>
          <a:ln w="14288">
            <a:solidFill>
              <a:srgbClr val="0E9E8F"/>
            </a:solidFill>
            <a:prstDash val="solid"/>
          </a:ln>
        </p:spPr>
      </p:sp>
      <p:sp>
        <p:nvSpPr>
          <p:cNvPr id="52" name="Text 50"/>
          <p:cNvSpPr/>
          <p:nvPr/>
        </p:nvSpPr>
        <p:spPr>
          <a:xfrm>
            <a:off x="1357313" y="7035031"/>
            <a:ext cx="3350805"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Connectivity </a:t>
            </a:r>
            <a:pPr algn="l" indent="0" marL="0">
              <a:buNone/>
            </a:pPr>
            <a:r>
              <a:rPr lang="en-US" sz="1800" dirty="0">
                <a:solidFill>
                  <a:srgbClr val="0E9E8F"/>
                </a:solidFill>
                <a:latin typeface="Courier New" pitchFamily="34" charset="0"/>
                <a:ea typeface="Courier New" pitchFamily="34" charset="-122"/>
                <a:cs typeface="Courier New" pitchFamily="34" charset="-120"/>
              </a:rPr>
              <a:t>· 68% coverage</a:t>
            </a:r>
            <a:endParaRPr lang="en-US" sz="1800" dirty="0"/>
          </a:p>
        </p:txBody>
      </p:sp>
      <p:sp>
        <p:nvSpPr>
          <p:cNvPr id="53" name="Shape 51"/>
          <p:cNvSpPr/>
          <p:nvPr/>
        </p:nvSpPr>
        <p:spPr>
          <a:xfrm>
            <a:off x="4807818" y="6982644"/>
            <a:ext cx="3263801" cy="400050"/>
          </a:xfrm>
          <a:prstGeom prst="rect">
            <a:avLst/>
          </a:prstGeom>
          <a:solidFill>
            <a:srgbClr val="FAFBFD"/>
          </a:solidFill>
          <a:ln w="14288">
            <a:solidFill>
              <a:srgbClr val="0E9E8F"/>
            </a:solidFill>
            <a:prstDash val="solid"/>
          </a:ln>
        </p:spPr>
      </p:sp>
      <p:sp>
        <p:nvSpPr>
          <p:cNvPr id="54" name="Text 52"/>
          <p:cNvSpPr/>
          <p:nvPr/>
        </p:nvSpPr>
        <p:spPr>
          <a:xfrm>
            <a:off x="4936406" y="7035031"/>
            <a:ext cx="3104540"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Data governance </a:t>
            </a:r>
            <a:pPr algn="l" indent="0" marL="0">
              <a:buNone/>
            </a:pPr>
            <a:r>
              <a:rPr lang="en-US" sz="1800" dirty="0">
                <a:solidFill>
                  <a:srgbClr val="0E9E8F"/>
                </a:solidFill>
                <a:latin typeface="Courier New" pitchFamily="34" charset="0"/>
                <a:ea typeface="Courier New" pitchFamily="34" charset="-122"/>
                <a:cs typeface="Courier New" pitchFamily="34" charset="-120"/>
              </a:rPr>
              <a:t>· FAIR 74</a:t>
            </a:r>
            <a:endParaRPr lang="en-US" sz="1800" dirty="0"/>
          </a:p>
        </p:txBody>
      </p:sp>
      <p:sp>
        <p:nvSpPr>
          <p:cNvPr id="55" name="Shape 53"/>
          <p:cNvSpPr/>
          <p:nvPr/>
        </p:nvSpPr>
        <p:spPr>
          <a:xfrm>
            <a:off x="8147819" y="6982644"/>
            <a:ext cx="4401294" cy="400050"/>
          </a:xfrm>
          <a:prstGeom prst="rect">
            <a:avLst/>
          </a:prstGeom>
          <a:solidFill>
            <a:srgbClr val="FAFBFD"/>
          </a:solidFill>
          <a:ln w="14288">
            <a:solidFill>
              <a:srgbClr val="E21E51"/>
            </a:solidFill>
            <a:prstDash val="solid"/>
          </a:ln>
        </p:spPr>
      </p:sp>
      <p:sp>
        <p:nvSpPr>
          <p:cNvPr id="56" name="Text 54"/>
          <p:cNvSpPr/>
          <p:nvPr/>
        </p:nvSpPr>
        <p:spPr>
          <a:xfrm>
            <a:off x="8276406" y="7035031"/>
            <a:ext cx="4276158"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Institutional capability </a:t>
            </a:r>
            <a:pPr algn="l" indent="0" marL="0">
              <a:buNone/>
            </a:pPr>
            <a:r>
              <a:rPr lang="en-US" sz="1800" dirty="0">
                <a:solidFill>
                  <a:srgbClr val="E21E51"/>
                </a:solidFill>
                <a:latin typeface="Courier New" pitchFamily="34" charset="0"/>
                <a:ea typeface="Courier New" pitchFamily="34" charset="-122"/>
                <a:cs typeface="Courier New" pitchFamily="34" charset="-120"/>
              </a:rPr>
              <a:t>· NTO staffed</a:t>
            </a:r>
            <a:endParaRPr lang="en-US" sz="1800" dirty="0"/>
          </a:p>
        </p:txBody>
      </p:sp>
      <p:sp>
        <p:nvSpPr>
          <p:cNvPr id="57" name="Shape 55"/>
          <p:cNvSpPr/>
          <p:nvPr/>
        </p:nvSpPr>
        <p:spPr>
          <a:xfrm>
            <a:off x="12625313" y="6982644"/>
            <a:ext cx="3144441" cy="400050"/>
          </a:xfrm>
          <a:prstGeom prst="rect">
            <a:avLst/>
          </a:prstGeom>
          <a:solidFill>
            <a:srgbClr val="FAFBFD"/>
          </a:solidFill>
          <a:ln w="14288">
            <a:solidFill>
              <a:srgbClr val="E21E51"/>
            </a:solidFill>
            <a:prstDash val="solid"/>
          </a:ln>
        </p:spPr>
      </p:sp>
      <p:sp>
        <p:nvSpPr>
          <p:cNvPr id="58" name="Text 56"/>
          <p:cNvSpPr/>
          <p:nvPr/>
        </p:nvSpPr>
        <p:spPr>
          <a:xfrm>
            <a:off x="12753901" y="7035031"/>
            <a:ext cx="2981599" cy="333375"/>
          </a:xfrm>
          <a:prstGeom prst="rect">
            <a:avLst/>
          </a:prstGeom>
          <a:noFill/>
          <a:ln/>
        </p:spPr>
        <p:txBody>
          <a:bodyPr wrap="none" lIns="25400" tIns="25400" rIns="25400" bIns="25400" rtlCol="0" anchor="t">
            <a:normAutofit/>
          </a:bodyPr>
          <a:lstStyle/>
          <a:p>
            <a:pPr algn="l" indent="0" marL="0">
              <a:buNone/>
            </a:pPr>
            <a:r>
              <a:rPr lang="en-US" sz="1800" dirty="0">
                <a:solidFill>
                  <a:srgbClr val="000B33"/>
                </a:solidFill>
                <a:highlight>
                  <a:srgbClr val="FAFBFD"/>
                </a:highlight>
                <a:latin typeface="Arial" pitchFamily="34" charset="0"/>
                <a:ea typeface="Arial" pitchFamily="34" charset="-122"/>
                <a:cs typeface="Arial" pitchFamily="34" charset="-120"/>
              </a:rPr>
              <a:t>AI literacy </a:t>
            </a:r>
            <a:pPr algn="l" indent="0" marL="0">
              <a:buNone/>
            </a:pPr>
            <a:r>
              <a:rPr lang="en-US" sz="1800" dirty="0">
                <a:solidFill>
                  <a:srgbClr val="E21E51"/>
                </a:solidFill>
                <a:latin typeface="Courier New" pitchFamily="34" charset="0"/>
                <a:ea typeface="Courier New" pitchFamily="34" charset="-122"/>
                <a:cs typeface="Courier New" pitchFamily="34" charset="-120"/>
              </a:rPr>
              <a:t>· 12k trained</a:t>
            </a:r>
            <a:endParaRPr lang="en-US" sz="1800" dirty="0"/>
          </a:p>
        </p:txBody>
      </p:sp>
      <p:sp>
        <p:nvSpPr>
          <p:cNvPr id="59" name="Shape 57"/>
          <p:cNvSpPr/>
          <p:nvPr/>
        </p:nvSpPr>
        <p:spPr>
          <a:xfrm>
            <a:off x="952500" y="8346877"/>
            <a:ext cx="16383000" cy="19050"/>
          </a:xfrm>
          <a:prstGeom prst="rect">
            <a:avLst/>
          </a:prstGeom>
          <a:solidFill>
            <a:srgbClr val="000B33"/>
          </a:solidFill>
          <a:ln/>
        </p:spPr>
      </p:sp>
      <p:sp>
        <p:nvSpPr>
          <p:cNvPr id="60" name="Text 58"/>
          <p:cNvSpPr/>
          <p:nvPr/>
        </p:nvSpPr>
        <p:spPr>
          <a:xfrm>
            <a:off x="952500" y="8537377"/>
            <a:ext cx="5441670" cy="1368623"/>
          </a:xfrm>
          <a:prstGeom prst="rect">
            <a:avLst/>
          </a:prstGeom>
          <a:noFill/>
          <a:ln/>
        </p:spPr>
        <p:txBody>
          <a:bodyPr wrap="square" lIns="25400" tIns="25400" rIns="25400" bIns="25400" rtlCol="0" anchor="t">
            <a:normAutofit/>
          </a:bodyPr>
          <a:lstStyle/>
          <a:p>
            <a:pPr algn="l" indent="0" marL="0">
              <a:lnSpc>
                <a:spcPct val="126545"/>
              </a:lnSpc>
              <a:buNone/>
            </a:pPr>
            <a:r>
              <a:rPr lang="en-US" sz="1800" b="1" dirty="0">
                <a:solidFill>
                  <a:srgbClr val="000B33"/>
                </a:solidFill>
                <a:latin typeface="Arial" pitchFamily="34" charset="0"/>
                <a:ea typeface="Arial" pitchFamily="34" charset="-122"/>
                <a:cs typeface="Arial" pitchFamily="34" charset="-120"/>
              </a:rPr>
              <a:t>Measure what matters </a:t>
            </a:r>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 every node runs as a Setup–Run–Change–Retire process with an evidence log, auditable by construction.</a:t>
            </a:r>
            <a:endParaRPr lang="en-US" sz="1800" dirty="0"/>
          </a:p>
        </p:txBody>
      </p:sp>
      <p:sp>
        <p:nvSpPr>
          <p:cNvPr id="61" name="Text 59"/>
          <p:cNvSpPr/>
          <p:nvPr/>
        </p:nvSpPr>
        <p:spPr>
          <a:xfrm>
            <a:off x="6502375" y="8537377"/>
            <a:ext cx="5441670" cy="1368623"/>
          </a:xfrm>
          <a:prstGeom prst="rect">
            <a:avLst/>
          </a:prstGeom>
          <a:noFill/>
          <a:ln/>
        </p:spPr>
        <p:txBody>
          <a:bodyPr wrap="square" lIns="25400" tIns="25400" rIns="25400" bIns="25400" rtlCol="0" anchor="t">
            <a:normAutofit/>
          </a:bodyPr>
          <a:lstStyle/>
          <a:p>
            <a:pPr algn="l" indent="0" marL="0">
              <a:lnSpc>
                <a:spcPct val="126545"/>
              </a:lnSpc>
              <a:buNone/>
            </a:pPr>
            <a:r>
              <a:rPr lang="en-US" sz="1800" b="1" dirty="0">
                <a:solidFill>
                  <a:srgbClr val="000B33"/>
                </a:solidFill>
                <a:latin typeface="Arial" pitchFamily="34" charset="0"/>
                <a:ea typeface="Arial" pitchFamily="34" charset="-122"/>
                <a:cs typeface="Arial" pitchFamily="34" charset="-120"/>
              </a:rPr>
              <a:t>Regional rules by inheritance </a:t>
            </a:r>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 forked common → regional → national, in local language.</a:t>
            </a:r>
            <a:endParaRPr lang="en-US" sz="1800" dirty="0"/>
          </a:p>
        </p:txBody>
      </p:sp>
      <p:sp>
        <p:nvSpPr>
          <p:cNvPr id="62" name="Text 60"/>
          <p:cNvSpPr/>
          <p:nvPr/>
        </p:nvSpPr>
        <p:spPr>
          <a:xfrm>
            <a:off x="12052250" y="8537377"/>
            <a:ext cx="5441747" cy="1368623"/>
          </a:xfrm>
          <a:prstGeom prst="rect">
            <a:avLst/>
          </a:prstGeom>
          <a:noFill/>
          <a:ln/>
        </p:spPr>
        <p:txBody>
          <a:bodyPr wrap="square" lIns="25400" tIns="25400" rIns="25400" bIns="25400" rtlCol="0" anchor="t">
            <a:normAutofit/>
          </a:bodyPr>
          <a:lstStyle/>
          <a:p>
            <a:pPr algn="l" indent="0" marL="0">
              <a:lnSpc>
                <a:spcPct val="126545"/>
              </a:lnSpc>
              <a:buNone/>
            </a:pPr>
            <a:r>
              <a:rPr lang="en-US" sz="1800" b="1" dirty="0">
                <a:solidFill>
                  <a:srgbClr val="000B33"/>
                </a:solidFill>
                <a:latin typeface="Arial" pitchFamily="34" charset="0"/>
                <a:ea typeface="Arial" pitchFamily="34" charset="-122"/>
                <a:cs typeface="Arial" pitchFamily="34" charset="-120"/>
              </a:rPr>
              <a:t>Sovereign at every node </a:t>
            </a:r>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 eleven-dimension profile; red flags override averages. Compare your AS-IS state with the SHOULD-BE state you defined for a given capability.</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95250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THE ASSURANCE CHAIN</a:t>
            </a:r>
            <a:endParaRPr lang="en-US" sz="1950" dirty="0"/>
          </a:p>
        </p:txBody>
      </p:sp>
      <p:sp>
        <p:nvSpPr>
          <p:cNvPr id="3" name="Text 1"/>
          <p:cNvSpPr/>
          <p:nvPr/>
        </p:nvSpPr>
        <p:spPr>
          <a:xfrm>
            <a:off x="952500" y="1524000"/>
            <a:ext cx="18021300" cy="792435"/>
          </a:xfrm>
          <a:prstGeom prst="rect">
            <a:avLst/>
          </a:prstGeom>
          <a:noFill/>
          <a:ln/>
        </p:spPr>
        <p:txBody>
          <a:bodyPr wrap="square" lIns="25400" tIns="25400" rIns="25400" bIns="25400" rtlCol="0" anchor="t">
            <a:normAutofit/>
          </a:bodyPr>
          <a:lstStyle/>
          <a:p>
            <a:pPr algn="l" indent="0" marL="0">
              <a:lnSpc>
                <a:spcPct val="96585"/>
              </a:lnSpc>
              <a:buNone/>
            </a:pPr>
            <a:r>
              <a:rPr lang="en-US" sz="5400" dirty="0">
                <a:solidFill>
                  <a:srgbClr val="000B33"/>
                </a:solidFill>
                <a:latin typeface="Georgia" pitchFamily="34" charset="0"/>
                <a:ea typeface="Georgia" pitchFamily="34" charset="-122"/>
                <a:cs typeface="Georgia" pitchFamily="34" charset="-120"/>
              </a:rPr>
              <a:t>IRBs: the First Independent Review</a:t>
            </a:r>
            <a:endParaRPr lang="en-US" sz="5400" dirty="0"/>
          </a:p>
        </p:txBody>
      </p:sp>
      <p:sp>
        <p:nvSpPr>
          <p:cNvPr id="4" name="Text 2"/>
          <p:cNvSpPr/>
          <p:nvPr/>
        </p:nvSpPr>
        <p:spPr>
          <a:xfrm>
            <a:off x="952500" y="2659335"/>
            <a:ext cx="15893415" cy="981075"/>
          </a:xfrm>
          <a:prstGeom prst="rect">
            <a:avLst/>
          </a:prstGeom>
          <a:noFill/>
          <a:ln/>
        </p:spPr>
        <p:txBody>
          <a:bodyPr wrap="square" lIns="25400" tIns="25400" rIns="25400" bIns="25400" rtlCol="0" anchor="t">
            <a:normAutofit/>
          </a:bodyPr>
          <a:lstStyle/>
          <a:p>
            <a:pPr algn="l" indent="0" marL="0">
              <a:lnSpc>
                <a:spcPct val="132000"/>
              </a:lnSpc>
              <a:buNone/>
            </a:pPr>
            <a:r>
              <a:rPr lang="en-US" sz="2475" dirty="0">
                <a:solidFill>
                  <a:srgbClr val="565D78"/>
                </a:solidFill>
                <a:latin typeface="Georgia" pitchFamily="34" charset="0"/>
                <a:ea typeface="Georgia" pitchFamily="34" charset="-122"/>
                <a:cs typeface="Georgia" pitchFamily="34" charset="-120"/>
              </a:rPr>
              <a:t>The sector IRB is the first independent reviewer and scorer of a FAIR solution — independent of the vendor and of any single buyer. Because that review is scored against the shared ontology, it holds internationally.</a:t>
            </a:r>
            <a:endParaRPr lang="en-US" sz="2475" dirty="0"/>
          </a:p>
        </p:txBody>
      </p:sp>
      <p:sp>
        <p:nvSpPr>
          <p:cNvPr id="5" name="Shape 3"/>
          <p:cNvSpPr/>
          <p:nvPr/>
        </p:nvSpPr>
        <p:spPr>
          <a:xfrm>
            <a:off x="952500" y="4173810"/>
            <a:ext cx="28575" cy="2503140"/>
          </a:xfrm>
          <a:prstGeom prst="rect">
            <a:avLst/>
          </a:prstGeom>
          <a:solidFill>
            <a:srgbClr val="E21E51"/>
          </a:solidFill>
          <a:ln/>
        </p:spPr>
      </p:sp>
      <p:sp>
        <p:nvSpPr>
          <p:cNvPr id="6" name="Text 4"/>
          <p:cNvSpPr/>
          <p:nvPr/>
        </p:nvSpPr>
        <p:spPr>
          <a:xfrm>
            <a:off x="1266825" y="4250010"/>
            <a:ext cx="504663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E21E51"/>
                </a:solidFill>
                <a:latin typeface="Courier New" pitchFamily="34" charset="0"/>
                <a:ea typeface="Courier New" pitchFamily="34" charset="-122"/>
                <a:cs typeface="Courier New" pitchFamily="34" charset="-120"/>
              </a:rPr>
              <a:t>01 · Sector IRB</a:t>
            </a:r>
            <a:endParaRPr lang="en-US" sz="1950" dirty="0"/>
          </a:p>
        </p:txBody>
      </p:sp>
      <p:sp>
        <p:nvSpPr>
          <p:cNvPr id="7" name="Text 5"/>
          <p:cNvSpPr/>
          <p:nvPr/>
        </p:nvSpPr>
        <p:spPr>
          <a:xfrm>
            <a:off x="1266825" y="4721498"/>
            <a:ext cx="4725486" cy="731490"/>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000B33"/>
                </a:solidFill>
                <a:latin typeface="Arial" pitchFamily="34" charset="0"/>
                <a:ea typeface="Arial" pitchFamily="34" charset="-122"/>
                <a:cs typeface="Arial" pitchFamily="34" charset="-120"/>
              </a:rPr>
              <a:t>First independent review &amp; FAIR scoring</a:t>
            </a:r>
            <a:endParaRPr lang="en-US" sz="2100" dirty="0"/>
          </a:p>
        </p:txBody>
      </p:sp>
      <p:sp>
        <p:nvSpPr>
          <p:cNvPr id="8" name="Text 6"/>
          <p:cNvSpPr/>
          <p:nvPr/>
        </p:nvSpPr>
        <p:spPr>
          <a:xfrm>
            <a:off x="1266825" y="5529188"/>
            <a:ext cx="4725486"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65D78"/>
                </a:solidFill>
                <a:latin typeface="Arial" pitchFamily="34" charset="0"/>
                <a:ea typeface="Arial" pitchFamily="34" charset="-122"/>
                <a:cs typeface="Arial" pitchFamily="34" charset="-120"/>
              </a:rPr>
              <a:t>One audit against the sector’s capability graph — capacity and quality of service evidenced, not claimed.</a:t>
            </a:r>
            <a:endParaRPr lang="en-US" sz="1875" dirty="0"/>
          </a:p>
        </p:txBody>
      </p:sp>
      <p:sp>
        <p:nvSpPr>
          <p:cNvPr id="9" name="Text 7"/>
          <p:cNvSpPr/>
          <p:nvPr/>
        </p:nvSpPr>
        <p:spPr>
          <a:xfrm>
            <a:off x="6083275" y="4173810"/>
            <a:ext cx="457200" cy="2541240"/>
          </a:xfrm>
          <a:prstGeom prst="rect">
            <a:avLst/>
          </a:prstGeom>
          <a:noFill/>
          <a:ln/>
        </p:spPr>
        <p:txBody>
          <a:bodyPr wrap="square" lIns="25400" tIns="25400" rIns="25400" bIns="25400" rtlCol="0" anchor="ctr">
            <a:normAutofit/>
          </a:bodyPr>
          <a:lstStyle/>
          <a:p>
            <a:pPr algn="l" indent="0" marL="0">
              <a:buNone/>
            </a:pPr>
            <a:r>
              <a:rPr lang="en-US" sz="3000" dirty="0">
                <a:solidFill>
                  <a:srgbClr val="E21E51"/>
                </a:solidFill>
                <a:latin typeface="Arial" pitchFamily="34" charset="0"/>
                <a:ea typeface="Arial" pitchFamily="34" charset="-122"/>
                <a:cs typeface="Arial" pitchFamily="34" charset="-120"/>
              </a:rPr>
              <a:t>→</a:t>
            </a:r>
            <a:endParaRPr lang="en-US" sz="3000" dirty="0"/>
          </a:p>
        </p:txBody>
      </p:sp>
      <p:sp>
        <p:nvSpPr>
          <p:cNvPr id="10" name="Shape 8"/>
          <p:cNvSpPr/>
          <p:nvPr/>
        </p:nvSpPr>
        <p:spPr>
          <a:xfrm>
            <a:off x="6692875" y="4173810"/>
            <a:ext cx="28575" cy="2503140"/>
          </a:xfrm>
          <a:prstGeom prst="rect">
            <a:avLst/>
          </a:prstGeom>
          <a:solidFill>
            <a:srgbClr val="E21E51"/>
          </a:solidFill>
          <a:ln/>
        </p:spPr>
      </p:sp>
      <p:sp>
        <p:nvSpPr>
          <p:cNvPr id="11" name="Text 9"/>
          <p:cNvSpPr/>
          <p:nvPr/>
        </p:nvSpPr>
        <p:spPr>
          <a:xfrm>
            <a:off x="7007200" y="4250010"/>
            <a:ext cx="5046635" cy="357188"/>
          </a:xfrm>
          <a:prstGeom prst="rect">
            <a:avLst/>
          </a:prstGeom>
          <a:noFill/>
          <a:ln/>
        </p:spPr>
        <p:txBody>
          <a:bodyPr wrap="square" lIns="25400" tIns="25400" rIns="25400" bIns="25400" rtlCol="0" anchor="t">
            <a:normAutofit/>
          </a:bodyPr>
          <a:lstStyle/>
          <a:p>
            <a:pPr algn="l" indent="0" marL="0">
              <a:buNone/>
            </a:pPr>
            <a:r>
              <a:rPr lang="en-US" sz="1950" dirty="0">
                <a:solidFill>
                  <a:srgbClr val="E21E51"/>
                </a:solidFill>
                <a:latin typeface="Courier New" pitchFamily="34" charset="0"/>
                <a:ea typeface="Courier New" pitchFamily="34" charset="-122"/>
                <a:cs typeface="Courier New" pitchFamily="34" charset="-120"/>
              </a:rPr>
              <a:t>02 · UCX</a:t>
            </a:r>
            <a:endParaRPr lang="en-US" sz="1950" dirty="0"/>
          </a:p>
        </p:txBody>
      </p:sp>
      <p:sp>
        <p:nvSpPr>
          <p:cNvPr id="12" name="Text 10"/>
          <p:cNvSpPr/>
          <p:nvPr/>
        </p:nvSpPr>
        <p:spPr>
          <a:xfrm>
            <a:off x="7007200" y="4721498"/>
            <a:ext cx="5046635"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000B33"/>
                </a:solidFill>
                <a:latin typeface="Arial" pitchFamily="34" charset="0"/>
                <a:ea typeface="Arial" pitchFamily="34" charset="-122"/>
                <a:cs typeface="Arial" pitchFamily="34" charset="-120"/>
              </a:rPr>
              <a:t>International rollout</a:t>
            </a:r>
            <a:endParaRPr lang="en-US" sz="2100" dirty="0"/>
          </a:p>
        </p:txBody>
      </p:sp>
      <p:sp>
        <p:nvSpPr>
          <p:cNvPr id="13" name="Text 11"/>
          <p:cNvSpPr/>
          <p:nvPr/>
        </p:nvSpPr>
        <p:spPr>
          <a:xfrm>
            <a:off x="7007200" y="5182493"/>
            <a:ext cx="4725486"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65D78"/>
                </a:solidFill>
                <a:latin typeface="Arial" pitchFamily="34" charset="0"/>
                <a:ea typeface="Arial" pitchFamily="34" charset="-122"/>
                <a:cs typeface="Arial" pitchFamily="34" charset="-120"/>
              </a:rPr>
              <a:t>The scored node is published once and becomes adoptable in every participating nation — the review travels with it.</a:t>
            </a:r>
            <a:endParaRPr lang="en-US" sz="1875" dirty="0"/>
          </a:p>
        </p:txBody>
      </p:sp>
      <p:sp>
        <p:nvSpPr>
          <p:cNvPr id="14" name="Text 12"/>
          <p:cNvSpPr/>
          <p:nvPr/>
        </p:nvSpPr>
        <p:spPr>
          <a:xfrm>
            <a:off x="11823650" y="4173810"/>
            <a:ext cx="457200" cy="2541240"/>
          </a:xfrm>
          <a:prstGeom prst="rect">
            <a:avLst/>
          </a:prstGeom>
          <a:noFill/>
          <a:ln/>
        </p:spPr>
        <p:txBody>
          <a:bodyPr wrap="square" lIns="25400" tIns="25400" rIns="25400" bIns="25400" rtlCol="0" anchor="ctr">
            <a:normAutofit/>
          </a:bodyPr>
          <a:lstStyle/>
          <a:p>
            <a:pPr algn="l" indent="0" marL="0">
              <a:buNone/>
            </a:pPr>
            <a:r>
              <a:rPr lang="en-US" sz="3000" dirty="0">
                <a:solidFill>
                  <a:srgbClr val="E21E51"/>
                </a:solidFill>
                <a:latin typeface="Arial" pitchFamily="34" charset="0"/>
                <a:ea typeface="Arial" pitchFamily="34" charset="-122"/>
                <a:cs typeface="Arial" pitchFamily="34" charset="-120"/>
              </a:rPr>
              <a:t>→</a:t>
            </a:r>
            <a:endParaRPr lang="en-US" sz="3000" dirty="0"/>
          </a:p>
        </p:txBody>
      </p:sp>
      <p:sp>
        <p:nvSpPr>
          <p:cNvPr id="15" name="Shape 13"/>
          <p:cNvSpPr/>
          <p:nvPr/>
        </p:nvSpPr>
        <p:spPr>
          <a:xfrm>
            <a:off x="12433250" y="4173810"/>
            <a:ext cx="4902250" cy="2503140"/>
          </a:xfrm>
          <a:prstGeom prst="rect">
            <a:avLst/>
          </a:prstGeom>
          <a:solidFill>
            <a:srgbClr val="FEF2F5"/>
          </a:solidFill>
          <a:ln/>
        </p:spPr>
      </p:sp>
      <p:sp>
        <p:nvSpPr>
          <p:cNvPr id="16" name="Shape 14"/>
          <p:cNvSpPr/>
          <p:nvPr/>
        </p:nvSpPr>
        <p:spPr>
          <a:xfrm>
            <a:off x="12433250" y="4173810"/>
            <a:ext cx="28575" cy="2503140"/>
          </a:xfrm>
          <a:prstGeom prst="rect">
            <a:avLst/>
          </a:prstGeom>
          <a:solidFill>
            <a:srgbClr val="000B33"/>
          </a:solidFill>
          <a:ln/>
        </p:spPr>
      </p:sp>
      <p:sp>
        <p:nvSpPr>
          <p:cNvPr id="17" name="Text 15"/>
          <p:cNvSpPr/>
          <p:nvPr/>
        </p:nvSpPr>
        <p:spPr>
          <a:xfrm>
            <a:off x="12747575" y="4250010"/>
            <a:ext cx="5046717" cy="357188"/>
          </a:xfrm>
          <a:prstGeom prst="rect">
            <a:avLst/>
          </a:prstGeom>
          <a:noFill/>
          <a:ln/>
        </p:spPr>
        <p:txBody>
          <a:bodyPr wrap="square" lIns="25400" tIns="25400" rIns="25400" bIns="25400" rtlCol="0" anchor="t">
            <a:normAutofit/>
          </a:bodyPr>
          <a:lstStyle/>
          <a:p>
            <a:pPr algn="l" indent="0" marL="0">
              <a:buNone/>
            </a:pPr>
            <a:r>
              <a:rPr lang="en-US" sz="1950" dirty="0">
                <a:solidFill>
                  <a:srgbClr val="E21E51"/>
                </a:solidFill>
                <a:latin typeface="Courier New" pitchFamily="34" charset="0"/>
                <a:ea typeface="Courier New" pitchFamily="34" charset="-122"/>
                <a:cs typeface="Courier New" pitchFamily="34" charset="-120"/>
              </a:rPr>
              <a:t>03 · Universities &amp; hubs</a:t>
            </a:r>
            <a:endParaRPr lang="en-US" sz="1950" dirty="0"/>
          </a:p>
        </p:txBody>
      </p:sp>
      <p:sp>
        <p:nvSpPr>
          <p:cNvPr id="18" name="Text 16"/>
          <p:cNvSpPr/>
          <p:nvPr/>
        </p:nvSpPr>
        <p:spPr>
          <a:xfrm>
            <a:off x="12747575" y="4721498"/>
            <a:ext cx="5046717"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000B33"/>
                </a:solidFill>
                <a:latin typeface="Arial" pitchFamily="34" charset="0"/>
                <a:ea typeface="Arial" pitchFamily="34" charset="-122"/>
                <a:cs typeface="Arial" pitchFamily="34" charset="-120"/>
              </a:rPr>
              <a:t>National assurance</a:t>
            </a:r>
            <a:endParaRPr lang="en-US" sz="2100" dirty="0"/>
          </a:p>
        </p:txBody>
      </p:sp>
      <p:sp>
        <p:nvSpPr>
          <p:cNvPr id="19" name="Text 17"/>
          <p:cNvSpPr/>
          <p:nvPr/>
        </p:nvSpPr>
        <p:spPr>
          <a:xfrm>
            <a:off x="12747575" y="5182493"/>
            <a:ext cx="4725562"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65D78"/>
                </a:solidFill>
                <a:latin typeface="Arial" pitchFamily="34" charset="0"/>
                <a:ea typeface="Arial" pitchFamily="34" charset="-122"/>
                <a:cs typeface="Arial" pitchFamily="34" charset="-120"/>
              </a:rPr>
              <a:t>Partner universities and innovation hubs verify locally against the same definition — assurance without re-certifying from zero.</a:t>
            </a:r>
            <a:endParaRPr lang="en-US" sz="1875" dirty="0"/>
          </a:p>
        </p:txBody>
      </p:sp>
      <p:sp>
        <p:nvSpPr>
          <p:cNvPr id="20" name="Shape 18"/>
          <p:cNvSpPr/>
          <p:nvPr/>
        </p:nvSpPr>
        <p:spPr>
          <a:xfrm>
            <a:off x="952500" y="8686800"/>
            <a:ext cx="16383000" cy="19050"/>
          </a:xfrm>
          <a:prstGeom prst="rect">
            <a:avLst/>
          </a:prstGeom>
          <a:solidFill>
            <a:srgbClr val="000B33"/>
          </a:solidFill>
          <a:ln/>
        </p:spPr>
      </p:sp>
      <p:sp>
        <p:nvSpPr>
          <p:cNvPr id="21" name="Text 19"/>
          <p:cNvSpPr/>
          <p:nvPr/>
        </p:nvSpPr>
        <p:spPr>
          <a:xfrm>
            <a:off x="952500" y="9010650"/>
            <a:ext cx="16874490" cy="361950"/>
          </a:xfrm>
          <a:prstGeom prst="rect">
            <a:avLst/>
          </a:prstGeom>
          <a:noFill/>
          <a:ln/>
        </p:spPr>
        <p:txBody>
          <a:bodyPr wrap="square" lIns="25400" tIns="25400" rIns="25400" bIns="25400" rtlCol="0" anchor="t">
            <a:normAutofit/>
          </a:bodyPr>
          <a:lstStyle/>
          <a:p>
            <a:pPr algn="l" indent="0" marL="0">
              <a:buNone/>
            </a:pPr>
            <a:r>
              <a:rPr lang="en-US" sz="2250" i="1" dirty="0">
                <a:solidFill>
                  <a:srgbClr val="000B33"/>
                </a:solidFill>
                <a:latin typeface="Georgia" pitchFamily="34" charset="0"/>
                <a:ea typeface="Georgia" pitchFamily="34" charset="-122"/>
                <a:cs typeface="Georgia" pitchFamily="34" charset="-120"/>
              </a:rPr>
              <a:t>Review once, independently — assure everywhere, nationally.</a:t>
            </a:r>
            <a:endParaRPr lang="en-US" sz="2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9"/>
        </a:solidFill>
      </p:bgPr>
    </p:bg>
    <p:spTree>
      <p:nvGrpSpPr>
        <p:cNvPr id="1" name=""/>
        <p:cNvGrpSpPr/>
        <p:nvPr/>
      </p:nvGrpSpPr>
      <p:grpSpPr>
        <a:xfrm>
          <a:off x="0" y="0"/>
          <a:ext cx="0" cy="0"/>
          <a:chOff x="0" y="0"/>
          <a:chExt cx="0" cy="0"/>
        </a:xfrm>
      </p:grpSpPr>
      <p:sp>
        <p:nvSpPr>
          <p:cNvPr id="2" name="Text 0"/>
          <p:cNvSpPr/>
          <p:nvPr/>
        </p:nvSpPr>
        <p:spPr>
          <a:xfrm>
            <a:off x="952500" y="95250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WHY EXCHANGE IS POSSIBLE AT ALL — FIGURE 18</a:t>
            </a:r>
            <a:endParaRPr lang="en-US" sz="1950" dirty="0"/>
          </a:p>
        </p:txBody>
      </p:sp>
      <p:sp>
        <p:nvSpPr>
          <p:cNvPr id="3" name="Text 1"/>
          <p:cNvSpPr/>
          <p:nvPr/>
        </p:nvSpPr>
        <p:spPr>
          <a:xfrm>
            <a:off x="952500" y="1524000"/>
            <a:ext cx="18021300" cy="792435"/>
          </a:xfrm>
          <a:prstGeom prst="rect">
            <a:avLst/>
          </a:prstGeom>
          <a:noFill/>
          <a:ln/>
        </p:spPr>
        <p:txBody>
          <a:bodyPr wrap="square" lIns="25400" tIns="25400" rIns="25400" bIns="25400" rtlCol="0" anchor="t">
            <a:normAutofit/>
          </a:bodyPr>
          <a:lstStyle/>
          <a:p>
            <a:pPr algn="l" indent="0" marL="0">
              <a:lnSpc>
                <a:spcPct val="96585"/>
              </a:lnSpc>
              <a:buNone/>
            </a:pPr>
            <a:r>
              <a:rPr lang="en-US" sz="5400" dirty="0">
                <a:solidFill>
                  <a:srgbClr val="000B33"/>
                </a:solidFill>
                <a:latin typeface="Georgia" pitchFamily="34" charset="0"/>
                <a:ea typeface="Georgia" pitchFamily="34" charset="-122"/>
                <a:cs typeface="Georgia" pitchFamily="34" charset="-120"/>
              </a:rPr>
              <a:t>Every Actor Type Holds a Different Foundation</a:t>
            </a:r>
            <a:endParaRPr lang="en-US" sz="5400" dirty="0"/>
          </a:p>
        </p:txBody>
      </p:sp>
      <p:sp>
        <p:nvSpPr>
          <p:cNvPr id="4" name="Text 2"/>
          <p:cNvSpPr/>
          <p:nvPr/>
        </p:nvSpPr>
        <p:spPr>
          <a:xfrm>
            <a:off x="952500" y="2583135"/>
            <a:ext cx="15697200" cy="952500"/>
          </a:xfrm>
          <a:prstGeom prst="rect">
            <a:avLst/>
          </a:prstGeom>
          <a:noFill/>
          <a:ln/>
        </p:spPr>
        <p:txBody>
          <a:bodyPr wrap="square" lIns="25400" tIns="25400" rIns="25400" bIns="25400" rtlCol="0" anchor="t">
            <a:normAutofit/>
          </a:bodyPr>
          <a:lstStyle/>
          <a:p>
            <a:pPr algn="l" indent="0" marL="0">
              <a:lnSpc>
                <a:spcPct val="131507"/>
              </a:lnSpc>
              <a:buNone/>
            </a:pPr>
            <a:r>
              <a:rPr lang="en-US" sz="2400" dirty="0">
                <a:solidFill>
                  <a:srgbClr val="565D78"/>
                </a:solidFill>
                <a:latin typeface="Georgia" pitchFamily="34" charset="0"/>
                <a:ea typeface="Georgia" pitchFamily="34" charset="-122"/>
                <a:cs typeface="Georgia" pitchFamily="34" charset="-120"/>
              </a:rPr>
              <a:t>The types are not tiers of the same thing — a person’s foundation is not a smaller ministry’s. Because the baselines differ, one type holds capability another lacks.</a:t>
            </a:r>
            <a:endParaRPr lang="en-US" sz="2400" dirty="0"/>
          </a:p>
        </p:txBody>
      </p:sp>
      <p:sp>
        <p:nvSpPr>
          <p:cNvPr id="5" name="Shape 3"/>
          <p:cNvSpPr/>
          <p:nvPr/>
        </p:nvSpPr>
        <p:spPr>
          <a:xfrm>
            <a:off x="952500" y="3992835"/>
            <a:ext cx="5308550" cy="2188369"/>
          </a:xfrm>
          <a:prstGeom prst="rect">
            <a:avLst/>
          </a:prstGeom>
          <a:solidFill>
            <a:srgbClr val="FFFFFF"/>
          </a:solidFill>
          <a:ln/>
        </p:spPr>
      </p:sp>
      <p:sp>
        <p:nvSpPr>
          <p:cNvPr id="6" name="Text 4"/>
          <p:cNvSpPr/>
          <p:nvPr/>
        </p:nvSpPr>
        <p:spPr>
          <a:xfrm>
            <a:off x="1295400" y="4297635"/>
            <a:ext cx="951458"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00B33"/>
                </a:solidFill>
                <a:latin typeface="Arial" pitchFamily="34" charset="0"/>
                <a:ea typeface="Arial" pitchFamily="34" charset="-122"/>
                <a:cs typeface="Arial" pitchFamily="34" charset="-120"/>
              </a:rPr>
              <a:t>Person</a:t>
            </a:r>
            <a:endParaRPr lang="en-US" sz="2175" dirty="0"/>
          </a:p>
        </p:txBody>
      </p:sp>
      <p:sp>
        <p:nvSpPr>
          <p:cNvPr id="7" name="Text 5"/>
          <p:cNvSpPr/>
          <p:nvPr/>
        </p:nvSpPr>
        <p:spPr>
          <a:xfrm>
            <a:off x="5780931" y="4321448"/>
            <a:ext cx="2134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P</a:t>
            </a:r>
            <a:endParaRPr lang="en-US" sz="1800" dirty="0"/>
          </a:p>
        </p:txBody>
      </p:sp>
      <p:sp>
        <p:nvSpPr>
          <p:cNvPr id="8" name="Text 6"/>
          <p:cNvSpPr/>
          <p:nvPr/>
        </p:nvSpPr>
        <p:spPr>
          <a:xfrm>
            <a:off x="1295400" y="4769123"/>
            <a:ext cx="4761433" cy="1145381"/>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65D78"/>
                </a:solidFill>
                <a:latin typeface="Arial" pitchFamily="34" charset="0"/>
                <a:ea typeface="Arial" pitchFamily="34" charset="-122"/>
                <a:cs typeface="Arial" pitchFamily="34" charset="-120"/>
              </a:rPr>
              <a:t>Identity · AI literacy · professional judgement · credentials · the right to refuse</a:t>
            </a:r>
            <a:endParaRPr lang="en-US" sz="1875" dirty="0"/>
          </a:p>
        </p:txBody>
      </p:sp>
      <p:sp>
        <p:nvSpPr>
          <p:cNvPr id="9" name="Shape 7"/>
          <p:cNvSpPr/>
          <p:nvPr/>
        </p:nvSpPr>
        <p:spPr>
          <a:xfrm>
            <a:off x="6489650" y="3992835"/>
            <a:ext cx="5308625" cy="2188369"/>
          </a:xfrm>
          <a:prstGeom prst="rect">
            <a:avLst/>
          </a:prstGeom>
          <a:solidFill>
            <a:srgbClr val="FFFFFF"/>
          </a:solidFill>
          <a:ln/>
        </p:spPr>
      </p:sp>
      <p:sp>
        <p:nvSpPr>
          <p:cNvPr id="10" name="Text 8"/>
          <p:cNvSpPr/>
          <p:nvPr/>
        </p:nvSpPr>
        <p:spPr>
          <a:xfrm>
            <a:off x="6832550" y="4297635"/>
            <a:ext cx="3293291"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00B33"/>
                </a:solidFill>
                <a:latin typeface="Arial" pitchFamily="34" charset="0"/>
                <a:ea typeface="Arial" pitchFamily="34" charset="-122"/>
                <a:cs typeface="Arial" pitchFamily="34" charset="-120"/>
              </a:rPr>
              <a:t>Household &amp; community</a:t>
            </a:r>
            <a:endParaRPr lang="en-US" sz="2175" dirty="0"/>
          </a:p>
        </p:txBody>
      </p:sp>
      <p:sp>
        <p:nvSpPr>
          <p:cNvPr id="11" name="Text 9"/>
          <p:cNvSpPr/>
          <p:nvPr/>
        </p:nvSpPr>
        <p:spPr>
          <a:xfrm>
            <a:off x="11318156" y="4321448"/>
            <a:ext cx="2134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C</a:t>
            </a:r>
            <a:endParaRPr lang="en-US" sz="1800" dirty="0"/>
          </a:p>
        </p:txBody>
      </p:sp>
      <p:sp>
        <p:nvSpPr>
          <p:cNvPr id="12" name="Text 10"/>
          <p:cNvSpPr/>
          <p:nvPr/>
        </p:nvSpPr>
        <p:spPr>
          <a:xfrm>
            <a:off x="6832550" y="4769123"/>
            <a:ext cx="476151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65D78"/>
                </a:solidFill>
                <a:latin typeface="Arial" pitchFamily="34" charset="0"/>
                <a:ea typeface="Arial" pitchFamily="34" charset="-122"/>
                <a:cs typeface="Arial" pitchFamily="34" charset="-120"/>
              </a:rPr>
              <a:t>Local knowledge · language and culture · collective voice · participation · trust</a:t>
            </a:r>
            <a:endParaRPr lang="en-US" sz="1875" dirty="0"/>
          </a:p>
        </p:txBody>
      </p:sp>
      <p:sp>
        <p:nvSpPr>
          <p:cNvPr id="13" name="Shape 11"/>
          <p:cNvSpPr/>
          <p:nvPr/>
        </p:nvSpPr>
        <p:spPr>
          <a:xfrm>
            <a:off x="12026875" y="3992835"/>
            <a:ext cx="5308550" cy="2188369"/>
          </a:xfrm>
          <a:prstGeom prst="rect">
            <a:avLst/>
          </a:prstGeom>
          <a:solidFill>
            <a:srgbClr val="FFFFFF"/>
          </a:solidFill>
          <a:ln/>
        </p:spPr>
      </p:sp>
      <p:sp>
        <p:nvSpPr>
          <p:cNvPr id="14" name="Text 12"/>
          <p:cNvSpPr/>
          <p:nvPr/>
        </p:nvSpPr>
        <p:spPr>
          <a:xfrm>
            <a:off x="12369775" y="4297635"/>
            <a:ext cx="1384831"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00B33"/>
                </a:solidFill>
                <a:latin typeface="Arial" pitchFamily="34" charset="0"/>
                <a:ea typeface="Arial" pitchFamily="34" charset="-122"/>
                <a:cs typeface="Arial" pitchFamily="34" charset="-120"/>
              </a:rPr>
              <a:t>Enterprise</a:t>
            </a:r>
            <a:endParaRPr lang="en-US" sz="2175" dirty="0"/>
          </a:p>
        </p:txBody>
      </p:sp>
      <p:sp>
        <p:nvSpPr>
          <p:cNvPr id="15" name="Text 13"/>
          <p:cNvSpPr/>
          <p:nvPr/>
        </p:nvSpPr>
        <p:spPr>
          <a:xfrm>
            <a:off x="16855306" y="4321448"/>
            <a:ext cx="2134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B</a:t>
            </a:r>
            <a:endParaRPr lang="en-US" sz="1800" dirty="0"/>
          </a:p>
        </p:txBody>
      </p:sp>
      <p:sp>
        <p:nvSpPr>
          <p:cNvPr id="16" name="Text 14"/>
          <p:cNvSpPr/>
          <p:nvPr/>
        </p:nvSpPr>
        <p:spPr>
          <a:xfrm>
            <a:off x="12369775" y="4769123"/>
            <a:ext cx="4761433"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65D78"/>
                </a:solidFill>
                <a:latin typeface="Arial" pitchFamily="34" charset="0"/>
                <a:ea typeface="Arial" pitchFamily="34" charset="-122"/>
                <a:cs typeface="Arial" pitchFamily="34" charset="-120"/>
              </a:rPr>
              <a:t>Process ownership · delivery capacity · credentialed workforce · compliance</a:t>
            </a:r>
            <a:endParaRPr lang="en-US" sz="1875" dirty="0"/>
          </a:p>
        </p:txBody>
      </p:sp>
      <p:sp>
        <p:nvSpPr>
          <p:cNvPr id="17" name="Shape 15"/>
          <p:cNvSpPr/>
          <p:nvPr/>
        </p:nvSpPr>
        <p:spPr>
          <a:xfrm>
            <a:off x="952500" y="6409804"/>
            <a:ext cx="5308550" cy="2188369"/>
          </a:xfrm>
          <a:prstGeom prst="rect">
            <a:avLst/>
          </a:prstGeom>
          <a:solidFill>
            <a:srgbClr val="FFFFFF"/>
          </a:solidFill>
          <a:ln/>
        </p:spPr>
      </p:sp>
      <p:sp>
        <p:nvSpPr>
          <p:cNvPr id="18" name="Text 16"/>
          <p:cNvSpPr/>
          <p:nvPr/>
        </p:nvSpPr>
        <p:spPr>
          <a:xfrm>
            <a:off x="1295400" y="6714604"/>
            <a:ext cx="1333835"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00B33"/>
                </a:solidFill>
                <a:latin typeface="Arial" pitchFamily="34" charset="0"/>
                <a:ea typeface="Arial" pitchFamily="34" charset="-122"/>
                <a:cs typeface="Arial" pitchFamily="34" charset="-120"/>
              </a:rPr>
              <a:t>University</a:t>
            </a:r>
            <a:endParaRPr lang="en-US" sz="2175" dirty="0"/>
          </a:p>
        </p:txBody>
      </p:sp>
      <p:sp>
        <p:nvSpPr>
          <p:cNvPr id="19" name="Text 17"/>
          <p:cNvSpPr/>
          <p:nvPr/>
        </p:nvSpPr>
        <p:spPr>
          <a:xfrm>
            <a:off x="5780931" y="6738417"/>
            <a:ext cx="21342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U</a:t>
            </a:r>
            <a:endParaRPr lang="en-US" sz="1800" dirty="0"/>
          </a:p>
        </p:txBody>
      </p:sp>
      <p:sp>
        <p:nvSpPr>
          <p:cNvPr id="20" name="Text 18"/>
          <p:cNvSpPr/>
          <p:nvPr/>
        </p:nvSpPr>
        <p:spPr>
          <a:xfrm>
            <a:off x="1295400" y="7186092"/>
            <a:ext cx="4761433"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65D78"/>
                </a:solidFill>
                <a:latin typeface="Arial" pitchFamily="34" charset="0"/>
                <a:ea typeface="Arial" pitchFamily="34" charset="-122"/>
                <a:cs typeface="Arial" pitchFamily="34" charset="-120"/>
              </a:rPr>
              <a:t>Validation method · research · curriculum · certification · independent challenge</a:t>
            </a:r>
            <a:endParaRPr lang="en-US" sz="1875" dirty="0"/>
          </a:p>
        </p:txBody>
      </p:sp>
      <p:sp>
        <p:nvSpPr>
          <p:cNvPr id="21" name="Shape 19"/>
          <p:cNvSpPr/>
          <p:nvPr/>
        </p:nvSpPr>
        <p:spPr>
          <a:xfrm>
            <a:off x="6489650" y="6409804"/>
            <a:ext cx="5308625" cy="2188369"/>
          </a:xfrm>
          <a:prstGeom prst="rect">
            <a:avLst/>
          </a:prstGeom>
          <a:solidFill>
            <a:srgbClr val="FFFFFF"/>
          </a:solidFill>
          <a:ln/>
        </p:spPr>
      </p:sp>
      <p:sp>
        <p:nvSpPr>
          <p:cNvPr id="22" name="Text 20"/>
          <p:cNvSpPr/>
          <p:nvPr/>
        </p:nvSpPr>
        <p:spPr>
          <a:xfrm>
            <a:off x="6832550" y="6714604"/>
            <a:ext cx="1587341"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00B33"/>
                </a:solidFill>
                <a:latin typeface="Arial" pitchFamily="34" charset="0"/>
                <a:ea typeface="Arial" pitchFamily="34" charset="-122"/>
                <a:cs typeface="Arial" pitchFamily="34" charset="-120"/>
              </a:rPr>
              <a:t>Municipality</a:t>
            </a:r>
            <a:endParaRPr lang="en-US" sz="2175" dirty="0"/>
          </a:p>
        </p:txBody>
      </p:sp>
      <p:sp>
        <p:nvSpPr>
          <p:cNvPr id="23" name="Text 21"/>
          <p:cNvSpPr/>
          <p:nvPr/>
        </p:nvSpPr>
        <p:spPr>
          <a:xfrm>
            <a:off x="10220920" y="6738417"/>
            <a:ext cx="135790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G · local</a:t>
            </a:r>
            <a:endParaRPr lang="en-US" sz="1800" dirty="0"/>
          </a:p>
        </p:txBody>
      </p:sp>
      <p:sp>
        <p:nvSpPr>
          <p:cNvPr id="24" name="Text 22"/>
          <p:cNvSpPr/>
          <p:nvPr/>
        </p:nvSpPr>
        <p:spPr>
          <a:xfrm>
            <a:off x="6832550" y="7186092"/>
            <a:ext cx="4761510" cy="1145381"/>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65D78"/>
                </a:solidFill>
                <a:latin typeface="Arial" pitchFamily="34" charset="0"/>
                <a:ea typeface="Arial" pitchFamily="34" charset="-122"/>
                <a:cs typeface="Arial" pitchFamily="34" charset="-120"/>
              </a:rPr>
              <a:t>Local legitimacy · service delivery · evidence production · translating national direction</a:t>
            </a:r>
            <a:endParaRPr lang="en-US" sz="1875" dirty="0"/>
          </a:p>
        </p:txBody>
      </p:sp>
      <p:sp>
        <p:nvSpPr>
          <p:cNvPr id="25" name="Shape 23"/>
          <p:cNvSpPr/>
          <p:nvPr/>
        </p:nvSpPr>
        <p:spPr>
          <a:xfrm>
            <a:off x="12026875" y="6409804"/>
            <a:ext cx="5308550" cy="2188369"/>
          </a:xfrm>
          <a:prstGeom prst="rect">
            <a:avLst/>
          </a:prstGeom>
          <a:solidFill>
            <a:srgbClr val="FFFFFF"/>
          </a:solidFill>
          <a:ln/>
        </p:spPr>
      </p:sp>
      <p:sp>
        <p:nvSpPr>
          <p:cNvPr id="26" name="Text 24"/>
          <p:cNvSpPr/>
          <p:nvPr/>
        </p:nvSpPr>
        <p:spPr>
          <a:xfrm>
            <a:off x="12369775" y="6714604"/>
            <a:ext cx="2245950"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000B33"/>
                </a:solidFill>
                <a:latin typeface="Arial" pitchFamily="34" charset="0"/>
                <a:ea typeface="Arial" pitchFamily="34" charset="-122"/>
                <a:cs typeface="Arial" pitchFamily="34" charset="-120"/>
              </a:rPr>
              <a:t>Ministry &amp; nation</a:t>
            </a:r>
            <a:endParaRPr lang="en-US" sz="2175" dirty="0"/>
          </a:p>
        </p:txBody>
      </p:sp>
      <p:sp>
        <p:nvSpPr>
          <p:cNvPr id="27" name="Text 25"/>
          <p:cNvSpPr/>
          <p:nvPr/>
        </p:nvSpPr>
        <p:spPr>
          <a:xfrm>
            <a:off x="15346561" y="6738417"/>
            <a:ext cx="181056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G · national</a:t>
            </a:r>
            <a:endParaRPr lang="en-US" sz="1800" dirty="0"/>
          </a:p>
        </p:txBody>
      </p:sp>
      <p:sp>
        <p:nvSpPr>
          <p:cNvPr id="28" name="Text 26"/>
          <p:cNvSpPr/>
          <p:nvPr/>
        </p:nvSpPr>
        <p:spPr>
          <a:xfrm>
            <a:off x="12369775" y="7186092"/>
            <a:ext cx="4761433" cy="1145381"/>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65D78"/>
                </a:solidFill>
                <a:latin typeface="Arial" pitchFamily="34" charset="0"/>
                <a:ea typeface="Arial" pitchFamily="34" charset="-122"/>
                <a:cs typeface="Arial" pitchFamily="34" charset="-120"/>
              </a:rPr>
              <a:t>Mandate · legal authority · portfolio governance · registry stewardship · sovereignty and exit</a:t>
            </a:r>
            <a:endParaRPr lang="en-US" sz="1875" dirty="0"/>
          </a:p>
        </p:txBody>
      </p:sp>
      <p:sp>
        <p:nvSpPr>
          <p:cNvPr id="29" name="Shape 27"/>
          <p:cNvSpPr/>
          <p:nvPr/>
        </p:nvSpPr>
        <p:spPr>
          <a:xfrm>
            <a:off x="952500" y="8686800"/>
            <a:ext cx="16383000" cy="19050"/>
          </a:xfrm>
          <a:prstGeom prst="rect">
            <a:avLst/>
          </a:prstGeom>
          <a:solidFill>
            <a:srgbClr val="000B33"/>
          </a:solidFill>
          <a:ln/>
        </p:spPr>
      </p:sp>
      <p:sp>
        <p:nvSpPr>
          <p:cNvPr id="30" name="Text 28"/>
          <p:cNvSpPr/>
          <p:nvPr/>
        </p:nvSpPr>
        <p:spPr>
          <a:xfrm>
            <a:off x="952500" y="9010650"/>
            <a:ext cx="16874490" cy="361950"/>
          </a:xfrm>
          <a:prstGeom prst="rect">
            <a:avLst/>
          </a:prstGeom>
          <a:noFill/>
          <a:ln/>
        </p:spPr>
        <p:txBody>
          <a:bodyPr wrap="square" lIns="25400" tIns="25400" rIns="25400" bIns="25400" rtlCol="0" anchor="t">
            <a:normAutofit/>
          </a:bodyPr>
          <a:lstStyle/>
          <a:p>
            <a:pPr algn="l" indent="0" marL="0">
              <a:buNone/>
            </a:pPr>
            <a:r>
              <a:rPr lang="en-US" sz="2250" i="1" dirty="0">
                <a:solidFill>
                  <a:srgbClr val="000B33"/>
                </a:solidFill>
                <a:latin typeface="Georgia" pitchFamily="34" charset="0"/>
                <a:ea typeface="Georgia" pitchFamily="34" charset="-122"/>
                <a:cs typeface="Georgia" pitchFamily="34" charset="-120"/>
              </a:rPr>
              <a:t>The levels stack rather than repeat — and one node format lets capability move between them.</a:t>
            </a:r>
            <a:endParaRPr lang="en-US" sz="2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0B33"/>
        </a:solidFill>
      </p:bgPr>
    </p:bg>
    <p:spTree>
      <p:nvGrpSpPr>
        <p:cNvPr id="1" name=""/>
        <p:cNvGrpSpPr/>
        <p:nvPr/>
      </p:nvGrpSpPr>
      <p:grpSpPr>
        <a:xfrm>
          <a:off x="0" y="0"/>
          <a:ext cx="0" cy="0"/>
          <a:chOff x="0" y="0"/>
          <a:chExt cx="0" cy="0"/>
        </a:xfrm>
      </p:grpSpPr>
      <p:sp>
        <p:nvSpPr>
          <p:cNvPr id="2" name="Text 0"/>
          <p:cNvSpPr/>
          <p:nvPr/>
        </p:nvSpPr>
        <p:spPr>
          <a:xfrm>
            <a:off x="952500" y="85725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F09CB6"/>
                </a:solidFill>
                <a:latin typeface="Arial" pitchFamily="34" charset="0"/>
                <a:ea typeface="Arial" pitchFamily="34" charset="-122"/>
                <a:cs typeface="Arial" pitchFamily="34" charset="-120"/>
              </a:rPr>
              <a:t>UNIVERSAL CAPABILITY ECONOMY, COORDINATED ON THE UCX</a:t>
            </a:r>
            <a:endParaRPr lang="en-US" sz="1950" dirty="0"/>
          </a:p>
        </p:txBody>
      </p:sp>
      <p:sp>
        <p:nvSpPr>
          <p:cNvPr id="3" name="Text 1"/>
          <p:cNvSpPr/>
          <p:nvPr/>
        </p:nvSpPr>
        <p:spPr>
          <a:xfrm>
            <a:off x="952500" y="1390650"/>
            <a:ext cx="18021300" cy="792435"/>
          </a:xfrm>
          <a:prstGeom prst="rect">
            <a:avLst/>
          </a:prstGeom>
          <a:noFill/>
          <a:ln/>
        </p:spPr>
        <p:txBody>
          <a:bodyPr wrap="square" lIns="25400" tIns="25400" rIns="25400" bIns="25400" rtlCol="0" anchor="t">
            <a:normAutofit/>
          </a:bodyPr>
          <a:lstStyle/>
          <a:p>
            <a:pPr algn="l" indent="0" marL="0">
              <a:lnSpc>
                <a:spcPct val="96585"/>
              </a:lnSpc>
              <a:buNone/>
            </a:pPr>
            <a:r>
              <a:rPr lang="en-US" sz="5400" dirty="0">
                <a:solidFill>
                  <a:srgbClr val="FFFFFF"/>
                </a:solidFill>
                <a:latin typeface="Georgia" pitchFamily="34" charset="0"/>
                <a:ea typeface="Georgia" pitchFamily="34" charset="-122"/>
                <a:cs typeface="Georgia" pitchFamily="34" charset="-120"/>
              </a:rPr>
              <a:t>The Markets One Model Unlocks</a:t>
            </a:r>
            <a:endParaRPr lang="en-US" sz="5400" dirty="0"/>
          </a:p>
        </p:txBody>
      </p:sp>
      <p:sp>
        <p:nvSpPr>
          <p:cNvPr id="4" name="Shape 2"/>
          <p:cNvSpPr/>
          <p:nvPr/>
        </p:nvSpPr>
        <p:spPr>
          <a:xfrm>
            <a:off x="952500" y="2602185"/>
            <a:ext cx="3952875" cy="2114550"/>
          </a:xfrm>
          <a:prstGeom prst="rect">
            <a:avLst/>
          </a:prstGeom>
          <a:ln w="9525">
            <a:solidFill>
              <a:srgbClr val="2A3355"/>
            </a:solidFill>
            <a:prstDash val="solid"/>
          </a:ln>
        </p:spPr>
      </p:sp>
      <p:sp>
        <p:nvSpPr>
          <p:cNvPr id="5" name="Text 3"/>
          <p:cNvSpPr/>
          <p:nvPr/>
        </p:nvSpPr>
        <p:spPr>
          <a:xfrm>
            <a:off x="1247775" y="2878410"/>
            <a:ext cx="3698558" cy="395288"/>
          </a:xfrm>
          <a:prstGeom prst="rect">
            <a:avLst/>
          </a:prstGeom>
          <a:noFill/>
          <a:ln/>
        </p:spPr>
        <p:txBody>
          <a:bodyPr wrap="square" lIns="25400" tIns="25400" rIns="25400" bIns="25400" rtlCol="0" anchor="t">
            <a:normAutofit/>
          </a:bodyPr>
          <a:lstStyle/>
          <a:p>
            <a:pPr algn="l" indent="0" marL="0">
              <a:buNone/>
            </a:pPr>
            <a:r>
              <a:rPr lang="en-US" sz="2175" dirty="0">
                <a:solidFill>
                  <a:srgbClr val="F09CB6"/>
                </a:solidFill>
                <a:latin typeface="Courier New" pitchFamily="34" charset="0"/>
                <a:ea typeface="Courier New" pitchFamily="34" charset="-122"/>
                <a:cs typeface="Courier New" pitchFamily="34" charset="-120"/>
              </a:rPr>
              <a:t>P2P</a:t>
            </a:r>
            <a:endParaRPr lang="en-US" sz="2175" dirty="0"/>
          </a:p>
        </p:txBody>
      </p:sp>
      <p:sp>
        <p:nvSpPr>
          <p:cNvPr id="6" name="Text 4"/>
          <p:cNvSpPr/>
          <p:nvPr/>
        </p:nvSpPr>
        <p:spPr>
          <a:xfrm>
            <a:off x="1247775" y="3368948"/>
            <a:ext cx="3463195"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Credentialed practitioners exchange method, mentoring and validated forks.</a:t>
            </a:r>
            <a:endParaRPr lang="en-US" sz="1875" dirty="0"/>
          </a:p>
        </p:txBody>
      </p:sp>
      <p:sp>
        <p:nvSpPr>
          <p:cNvPr id="7" name="Shape 5"/>
          <p:cNvSpPr/>
          <p:nvPr/>
        </p:nvSpPr>
        <p:spPr>
          <a:xfrm>
            <a:off x="5095875" y="2602185"/>
            <a:ext cx="3952875" cy="2114550"/>
          </a:xfrm>
          <a:prstGeom prst="rect">
            <a:avLst/>
          </a:prstGeom>
          <a:ln w="9525">
            <a:solidFill>
              <a:srgbClr val="2A3355"/>
            </a:solidFill>
            <a:prstDash val="solid"/>
          </a:ln>
        </p:spPr>
      </p:sp>
      <p:sp>
        <p:nvSpPr>
          <p:cNvPr id="8" name="Text 6"/>
          <p:cNvSpPr/>
          <p:nvPr/>
        </p:nvSpPr>
        <p:spPr>
          <a:xfrm>
            <a:off x="5391150" y="2878410"/>
            <a:ext cx="3698558" cy="395288"/>
          </a:xfrm>
          <a:prstGeom prst="rect">
            <a:avLst/>
          </a:prstGeom>
          <a:noFill/>
          <a:ln/>
        </p:spPr>
        <p:txBody>
          <a:bodyPr wrap="square" lIns="25400" tIns="25400" rIns="25400" bIns="25400" rtlCol="0" anchor="t">
            <a:normAutofit/>
          </a:bodyPr>
          <a:lstStyle/>
          <a:p>
            <a:pPr algn="l" indent="0" marL="0">
              <a:buNone/>
            </a:pPr>
            <a:r>
              <a:rPr lang="en-US" sz="2175" dirty="0">
                <a:solidFill>
                  <a:srgbClr val="F09CB6"/>
                </a:solidFill>
                <a:latin typeface="Courier New" pitchFamily="34" charset="0"/>
                <a:ea typeface="Courier New" pitchFamily="34" charset="-122"/>
                <a:cs typeface="Courier New" pitchFamily="34" charset="-120"/>
              </a:rPr>
              <a:t>B2C</a:t>
            </a:r>
            <a:endParaRPr lang="en-US" sz="2175" dirty="0"/>
          </a:p>
        </p:txBody>
      </p:sp>
      <p:sp>
        <p:nvSpPr>
          <p:cNvPr id="9" name="Text 7"/>
          <p:cNvSpPr/>
          <p:nvPr/>
        </p:nvSpPr>
        <p:spPr>
          <a:xfrm>
            <a:off x="5391150" y="3368948"/>
            <a:ext cx="3463195"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Certified capability delivered to people as a service, under FAIR scoring.</a:t>
            </a:r>
            <a:endParaRPr lang="en-US" sz="1875" dirty="0"/>
          </a:p>
        </p:txBody>
      </p:sp>
      <p:sp>
        <p:nvSpPr>
          <p:cNvPr id="10" name="Shape 8"/>
          <p:cNvSpPr/>
          <p:nvPr/>
        </p:nvSpPr>
        <p:spPr>
          <a:xfrm>
            <a:off x="9239250" y="2602185"/>
            <a:ext cx="3952875" cy="2114550"/>
          </a:xfrm>
          <a:prstGeom prst="rect">
            <a:avLst/>
          </a:prstGeom>
          <a:ln w="9525">
            <a:solidFill>
              <a:srgbClr val="2A3355"/>
            </a:solidFill>
            <a:prstDash val="solid"/>
          </a:ln>
        </p:spPr>
      </p:sp>
      <p:sp>
        <p:nvSpPr>
          <p:cNvPr id="11" name="Text 9"/>
          <p:cNvSpPr/>
          <p:nvPr/>
        </p:nvSpPr>
        <p:spPr>
          <a:xfrm>
            <a:off x="9534525" y="2878410"/>
            <a:ext cx="3698558" cy="395288"/>
          </a:xfrm>
          <a:prstGeom prst="rect">
            <a:avLst/>
          </a:prstGeom>
          <a:noFill/>
          <a:ln/>
        </p:spPr>
        <p:txBody>
          <a:bodyPr wrap="square" lIns="25400" tIns="25400" rIns="25400" bIns="25400" rtlCol="0" anchor="t">
            <a:normAutofit/>
          </a:bodyPr>
          <a:lstStyle/>
          <a:p>
            <a:pPr algn="l" indent="0" marL="0">
              <a:buNone/>
            </a:pPr>
            <a:r>
              <a:rPr lang="en-US" sz="2175" dirty="0">
                <a:solidFill>
                  <a:srgbClr val="F09CB6"/>
                </a:solidFill>
                <a:latin typeface="Courier New" pitchFamily="34" charset="0"/>
                <a:ea typeface="Courier New" pitchFamily="34" charset="-122"/>
                <a:cs typeface="Courier New" pitchFamily="34" charset="-120"/>
              </a:rPr>
              <a:t>B2B</a:t>
            </a:r>
            <a:endParaRPr lang="en-US" sz="2175" dirty="0"/>
          </a:p>
        </p:txBody>
      </p:sp>
      <p:sp>
        <p:nvSpPr>
          <p:cNvPr id="12" name="Text 10"/>
          <p:cNvSpPr/>
          <p:nvPr/>
        </p:nvSpPr>
        <p:spPr>
          <a:xfrm>
            <a:off x="9534525" y="3368948"/>
            <a:ext cx="3463195"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Reusable capability modules, delivery partnerships, joint ventures.</a:t>
            </a:r>
            <a:endParaRPr lang="en-US" sz="1875" dirty="0"/>
          </a:p>
        </p:txBody>
      </p:sp>
      <p:sp>
        <p:nvSpPr>
          <p:cNvPr id="13" name="Shape 11"/>
          <p:cNvSpPr/>
          <p:nvPr/>
        </p:nvSpPr>
        <p:spPr>
          <a:xfrm>
            <a:off x="13382625" y="2602185"/>
            <a:ext cx="3952875" cy="2114550"/>
          </a:xfrm>
          <a:prstGeom prst="rect">
            <a:avLst/>
          </a:prstGeom>
          <a:solidFill>
            <a:srgbClr val="0A1745"/>
          </a:solidFill>
          <a:ln w="9525">
            <a:solidFill>
              <a:srgbClr val="E21E51"/>
            </a:solidFill>
            <a:prstDash val="solid"/>
          </a:ln>
        </p:spPr>
      </p:sp>
      <p:sp>
        <p:nvSpPr>
          <p:cNvPr id="14" name="Text 12"/>
          <p:cNvSpPr/>
          <p:nvPr/>
        </p:nvSpPr>
        <p:spPr>
          <a:xfrm>
            <a:off x="13677900" y="2878410"/>
            <a:ext cx="3698558" cy="395288"/>
          </a:xfrm>
          <a:prstGeom prst="rect">
            <a:avLst/>
          </a:prstGeom>
          <a:noFill/>
          <a:ln/>
        </p:spPr>
        <p:txBody>
          <a:bodyPr wrap="square" lIns="25400" tIns="25400" rIns="25400" bIns="25400" rtlCol="0" anchor="t">
            <a:normAutofit/>
          </a:bodyPr>
          <a:lstStyle/>
          <a:p>
            <a:pPr algn="l" indent="0" marL="0">
              <a:buNone/>
            </a:pPr>
            <a:r>
              <a:rPr lang="en-US" sz="2175" dirty="0">
                <a:solidFill>
                  <a:srgbClr val="E21E51"/>
                </a:solidFill>
                <a:latin typeface="Courier New" pitchFamily="34" charset="0"/>
                <a:ea typeface="Courier New" pitchFamily="34" charset="-122"/>
                <a:cs typeface="Courier New" pitchFamily="34" charset="-120"/>
              </a:rPr>
              <a:t>B2G</a:t>
            </a:r>
            <a:endParaRPr lang="en-US" sz="2175" dirty="0"/>
          </a:p>
        </p:txBody>
      </p:sp>
      <p:sp>
        <p:nvSpPr>
          <p:cNvPr id="15" name="Text 13"/>
          <p:cNvSpPr/>
          <p:nvPr/>
        </p:nvSpPr>
        <p:spPr>
          <a:xfrm>
            <a:off x="13677900" y="3368948"/>
            <a:ext cx="3463195"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Governed procurement with exit, portability and knowledge transfer.</a:t>
            </a:r>
            <a:endParaRPr lang="en-US" sz="1875" dirty="0"/>
          </a:p>
        </p:txBody>
      </p:sp>
      <p:sp>
        <p:nvSpPr>
          <p:cNvPr id="16" name="Shape 14"/>
          <p:cNvSpPr/>
          <p:nvPr/>
        </p:nvSpPr>
        <p:spPr>
          <a:xfrm>
            <a:off x="952500" y="4907235"/>
            <a:ext cx="3952875" cy="3506093"/>
          </a:xfrm>
          <a:prstGeom prst="rect">
            <a:avLst/>
          </a:prstGeom>
          <a:solidFill>
            <a:srgbClr val="0A1745"/>
          </a:solidFill>
          <a:ln w="9525">
            <a:solidFill>
              <a:srgbClr val="E21E51"/>
            </a:solidFill>
            <a:prstDash val="solid"/>
          </a:ln>
        </p:spPr>
      </p:sp>
      <p:sp>
        <p:nvSpPr>
          <p:cNvPr id="17" name="Text 15"/>
          <p:cNvSpPr/>
          <p:nvPr/>
        </p:nvSpPr>
        <p:spPr>
          <a:xfrm>
            <a:off x="1247775" y="5183460"/>
            <a:ext cx="3698558" cy="395288"/>
          </a:xfrm>
          <a:prstGeom prst="rect">
            <a:avLst/>
          </a:prstGeom>
          <a:noFill/>
          <a:ln/>
        </p:spPr>
        <p:txBody>
          <a:bodyPr wrap="square" lIns="25400" tIns="25400" rIns="25400" bIns="25400" rtlCol="0" anchor="t">
            <a:normAutofit/>
          </a:bodyPr>
          <a:lstStyle/>
          <a:p>
            <a:pPr algn="l" indent="0" marL="0">
              <a:buNone/>
            </a:pPr>
            <a:r>
              <a:rPr lang="en-US" sz="2175" dirty="0">
                <a:solidFill>
                  <a:srgbClr val="E21E51"/>
                </a:solidFill>
                <a:latin typeface="Courier New" pitchFamily="34" charset="0"/>
                <a:ea typeface="Courier New" pitchFamily="34" charset="-122"/>
                <a:cs typeface="Courier New" pitchFamily="34" charset="-120"/>
              </a:rPr>
              <a:t>G2B</a:t>
            </a:r>
            <a:endParaRPr lang="en-US" sz="2175" dirty="0"/>
          </a:p>
        </p:txBody>
      </p:sp>
      <p:sp>
        <p:nvSpPr>
          <p:cNvPr id="18" name="Text 16"/>
          <p:cNvSpPr/>
          <p:nvPr/>
        </p:nvSpPr>
        <p:spPr>
          <a:xfrm>
            <a:off x="1247775" y="5673998"/>
            <a:ext cx="3463195"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Published rulebooks, open blueprints, capability tenders.</a:t>
            </a:r>
            <a:endParaRPr lang="en-US" sz="1875" dirty="0"/>
          </a:p>
        </p:txBody>
      </p:sp>
      <p:sp>
        <p:nvSpPr>
          <p:cNvPr id="19" name="Shape 17"/>
          <p:cNvSpPr/>
          <p:nvPr/>
        </p:nvSpPr>
        <p:spPr>
          <a:xfrm>
            <a:off x="5095875" y="4907235"/>
            <a:ext cx="3952875" cy="3506093"/>
          </a:xfrm>
          <a:prstGeom prst="rect">
            <a:avLst/>
          </a:prstGeom>
          <a:solidFill>
            <a:srgbClr val="0A1745"/>
          </a:solidFill>
          <a:ln w="9525">
            <a:solidFill>
              <a:srgbClr val="E21E51"/>
            </a:solidFill>
            <a:prstDash val="solid"/>
          </a:ln>
        </p:spPr>
      </p:sp>
      <p:sp>
        <p:nvSpPr>
          <p:cNvPr id="20" name="Text 18"/>
          <p:cNvSpPr/>
          <p:nvPr/>
        </p:nvSpPr>
        <p:spPr>
          <a:xfrm>
            <a:off x="5391150" y="5183460"/>
            <a:ext cx="3698558" cy="395288"/>
          </a:xfrm>
          <a:prstGeom prst="rect">
            <a:avLst/>
          </a:prstGeom>
          <a:noFill/>
          <a:ln/>
        </p:spPr>
        <p:txBody>
          <a:bodyPr wrap="square" lIns="25400" tIns="25400" rIns="25400" bIns="25400" rtlCol="0" anchor="t">
            <a:normAutofit/>
          </a:bodyPr>
          <a:lstStyle/>
          <a:p>
            <a:pPr algn="l" indent="0" marL="0">
              <a:buNone/>
            </a:pPr>
            <a:r>
              <a:rPr lang="en-US" sz="2175" dirty="0">
                <a:solidFill>
                  <a:srgbClr val="E21E51"/>
                </a:solidFill>
                <a:latin typeface="Courier New" pitchFamily="34" charset="0"/>
                <a:ea typeface="Courier New" pitchFamily="34" charset="-122"/>
                <a:cs typeface="Courier New" pitchFamily="34" charset="-120"/>
              </a:rPr>
              <a:t>G2C</a:t>
            </a:r>
            <a:endParaRPr lang="en-US" sz="2175" dirty="0"/>
          </a:p>
        </p:txBody>
      </p:sp>
      <p:sp>
        <p:nvSpPr>
          <p:cNvPr id="21" name="Text 19"/>
          <p:cNvSpPr/>
          <p:nvPr/>
        </p:nvSpPr>
        <p:spPr>
          <a:xfrm>
            <a:off x="5391150" y="5673998"/>
            <a:ext cx="3463195"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Certified public services delivered to citizens against published target profiles.</a:t>
            </a:r>
            <a:endParaRPr lang="en-US" sz="1875" dirty="0"/>
          </a:p>
        </p:txBody>
      </p:sp>
      <p:sp>
        <p:nvSpPr>
          <p:cNvPr id="22" name="Shape 20"/>
          <p:cNvSpPr/>
          <p:nvPr/>
        </p:nvSpPr>
        <p:spPr>
          <a:xfrm>
            <a:off x="9239250" y="4907235"/>
            <a:ext cx="3952875" cy="3506093"/>
          </a:xfrm>
          <a:prstGeom prst="rect">
            <a:avLst/>
          </a:prstGeom>
          <a:solidFill>
            <a:srgbClr val="0A1745"/>
          </a:solidFill>
          <a:ln w="9525">
            <a:solidFill>
              <a:srgbClr val="E21E51"/>
            </a:solidFill>
            <a:prstDash val="solid"/>
          </a:ln>
        </p:spPr>
      </p:sp>
      <p:sp>
        <p:nvSpPr>
          <p:cNvPr id="23" name="Text 21"/>
          <p:cNvSpPr/>
          <p:nvPr/>
        </p:nvSpPr>
        <p:spPr>
          <a:xfrm>
            <a:off x="9534525" y="5183460"/>
            <a:ext cx="3698558" cy="395288"/>
          </a:xfrm>
          <a:prstGeom prst="rect">
            <a:avLst/>
          </a:prstGeom>
          <a:noFill/>
          <a:ln/>
        </p:spPr>
        <p:txBody>
          <a:bodyPr wrap="square" lIns="25400" tIns="25400" rIns="25400" bIns="25400" rtlCol="0" anchor="t">
            <a:normAutofit/>
          </a:bodyPr>
          <a:lstStyle/>
          <a:p>
            <a:pPr algn="l" indent="0" marL="0">
              <a:buNone/>
            </a:pPr>
            <a:r>
              <a:rPr lang="en-US" sz="2175" dirty="0">
                <a:solidFill>
                  <a:srgbClr val="E21E51"/>
                </a:solidFill>
                <a:latin typeface="Courier New" pitchFamily="34" charset="0"/>
                <a:ea typeface="Courier New" pitchFamily="34" charset="-122"/>
                <a:cs typeface="Courier New" pitchFamily="34" charset="-120"/>
              </a:rPr>
              <a:t>C2G</a:t>
            </a:r>
            <a:endParaRPr lang="en-US" sz="2175" dirty="0"/>
          </a:p>
        </p:txBody>
      </p:sp>
      <p:sp>
        <p:nvSpPr>
          <p:cNvPr id="24" name="Text 22"/>
          <p:cNvSpPr/>
          <p:nvPr/>
        </p:nvSpPr>
        <p:spPr>
          <a:xfrm>
            <a:off x="9534525" y="5673998"/>
            <a:ext cx="3463195" cy="1466850"/>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Communities contribute local knowledge, evidence and validated forks back to government.</a:t>
            </a:r>
            <a:endParaRPr lang="en-US" sz="1875" dirty="0"/>
          </a:p>
        </p:txBody>
      </p:sp>
      <p:sp>
        <p:nvSpPr>
          <p:cNvPr id="25" name="Shape 23"/>
          <p:cNvSpPr/>
          <p:nvPr/>
        </p:nvSpPr>
        <p:spPr>
          <a:xfrm>
            <a:off x="13382625" y="4907235"/>
            <a:ext cx="3952875" cy="3506093"/>
          </a:xfrm>
          <a:prstGeom prst="rect">
            <a:avLst/>
          </a:prstGeom>
          <a:ln w="9525">
            <a:solidFill>
              <a:srgbClr val="2A3355"/>
            </a:solidFill>
            <a:prstDash val="dash"/>
          </a:ln>
        </p:spPr>
      </p:sp>
      <p:sp>
        <p:nvSpPr>
          <p:cNvPr id="26" name="Text 24"/>
          <p:cNvSpPr/>
          <p:nvPr/>
        </p:nvSpPr>
        <p:spPr>
          <a:xfrm>
            <a:off x="13677900" y="5183460"/>
            <a:ext cx="3463195" cy="681930"/>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FFFFFF"/>
                </a:solidFill>
                <a:latin typeface="Arial" pitchFamily="34" charset="0"/>
                <a:ea typeface="Arial" pitchFamily="34" charset="-122"/>
                <a:cs typeface="Arial" pitchFamily="34" charset="-120"/>
              </a:rPr>
              <a:t>Enable the FAIR Universal Capability Economy</a:t>
            </a:r>
            <a:endParaRPr lang="en-US" sz="1950" dirty="0"/>
          </a:p>
        </p:txBody>
      </p:sp>
      <p:sp>
        <p:nvSpPr>
          <p:cNvPr id="27" name="Text 25"/>
          <p:cNvSpPr/>
          <p:nvPr/>
        </p:nvSpPr>
        <p:spPr>
          <a:xfrm>
            <a:off x="13677900" y="5922541"/>
            <a:ext cx="3463195" cy="2252663"/>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8A92B0"/>
                </a:solidFill>
                <a:latin typeface="Arial" pitchFamily="34" charset="0"/>
                <a:ea typeface="Arial" pitchFamily="34" charset="-122"/>
                <a:cs typeface="Arial" pitchFamily="34" charset="-120"/>
              </a:rPr>
              <a:t>Ecosystem members collaborate in defining shared processes and supply chains — governed by the people actually doing the work: the stakeholders.</a:t>
            </a:r>
            <a:endParaRPr lang="en-US" sz="1875" dirty="0"/>
          </a:p>
        </p:txBody>
      </p:sp>
      <p:sp>
        <p:nvSpPr>
          <p:cNvPr id="28" name="Shape 26"/>
          <p:cNvSpPr/>
          <p:nvPr/>
        </p:nvSpPr>
        <p:spPr>
          <a:xfrm>
            <a:off x="952500" y="8832428"/>
            <a:ext cx="16383000" cy="9525"/>
          </a:xfrm>
          <a:prstGeom prst="rect">
            <a:avLst/>
          </a:prstGeom>
          <a:solidFill>
            <a:srgbClr val="2A3355"/>
          </a:solidFill>
          <a:ln/>
        </p:spPr>
      </p:sp>
      <p:sp>
        <p:nvSpPr>
          <p:cNvPr id="29" name="Text 27"/>
          <p:cNvSpPr/>
          <p:nvPr/>
        </p:nvSpPr>
        <p:spPr>
          <a:xfrm>
            <a:off x="952500" y="9146753"/>
            <a:ext cx="5285489" cy="357188"/>
          </a:xfrm>
          <a:prstGeom prst="rect">
            <a:avLst/>
          </a:prstGeom>
          <a:noFill/>
          <a:ln/>
        </p:spPr>
        <p:txBody>
          <a:bodyPr wrap="square" lIns="25400" tIns="25400" rIns="25400" bIns="25400" rtlCol="0" anchor="t">
            <a:normAutofit/>
          </a:bodyPr>
          <a:lstStyle/>
          <a:p>
            <a:pPr algn="l" indent="0" marL="0">
              <a:buNone/>
            </a:pPr>
            <a:r>
              <a:rPr lang="en-US" sz="1950" dirty="0">
                <a:solidFill>
                  <a:srgbClr val="F09CB6"/>
                </a:solidFill>
                <a:latin typeface="Courier New" pitchFamily="34" charset="0"/>
                <a:ea typeface="Courier New" pitchFamily="34" charset="-122"/>
                <a:cs typeface="Courier New" pitchFamily="34" charset="-120"/>
              </a:rPr>
              <a:t>unit of exchange </a:t>
            </a:r>
            <a:pPr algn="l" indent="0" marL="0">
              <a:buNone/>
            </a:pPr>
            <a:r>
              <a:rPr lang="en-US" sz="1950" dirty="0">
                <a:solidFill>
                  <a:srgbClr val="FFFFFF"/>
                </a:solidFill>
                <a:latin typeface="Arial" pitchFamily="34" charset="0"/>
                <a:ea typeface="Arial" pitchFamily="34" charset="-122"/>
                <a:cs typeface="Arial" pitchFamily="34" charset="-120"/>
              </a:rPr>
              <a:t>— the capability node</a:t>
            </a:r>
            <a:endParaRPr lang="en-US" sz="1950" dirty="0"/>
          </a:p>
        </p:txBody>
      </p:sp>
      <p:sp>
        <p:nvSpPr>
          <p:cNvPr id="30" name="Text 28"/>
          <p:cNvSpPr/>
          <p:nvPr/>
        </p:nvSpPr>
        <p:spPr>
          <a:xfrm>
            <a:off x="6328990" y="9146753"/>
            <a:ext cx="5860279" cy="357188"/>
          </a:xfrm>
          <a:prstGeom prst="rect">
            <a:avLst/>
          </a:prstGeom>
          <a:noFill/>
          <a:ln/>
        </p:spPr>
        <p:txBody>
          <a:bodyPr wrap="square" lIns="25400" tIns="25400" rIns="25400" bIns="25400" rtlCol="0" anchor="t">
            <a:normAutofit/>
          </a:bodyPr>
          <a:lstStyle/>
          <a:p>
            <a:pPr algn="l" indent="0" marL="0">
              <a:buNone/>
            </a:pPr>
            <a:r>
              <a:rPr lang="en-US" sz="1950" dirty="0">
                <a:solidFill>
                  <a:srgbClr val="F09CB6"/>
                </a:solidFill>
                <a:latin typeface="Courier New" pitchFamily="34" charset="0"/>
                <a:ea typeface="Courier New" pitchFamily="34" charset="-122"/>
                <a:cs typeface="Courier New" pitchFamily="34" charset="-120"/>
              </a:rPr>
              <a:t>unit of value </a:t>
            </a:r>
            <a:pPr algn="l" indent="0" marL="0">
              <a:buNone/>
            </a:pPr>
            <a:r>
              <a:rPr lang="en-US" sz="1950" dirty="0">
                <a:solidFill>
                  <a:srgbClr val="FFFFFF"/>
                </a:solidFill>
                <a:latin typeface="Arial" pitchFamily="34" charset="0"/>
                <a:ea typeface="Arial" pitchFamily="34" charset="-122"/>
                <a:cs typeface="Arial" pitchFamily="34" charset="-120"/>
              </a:rPr>
              <a:t>— the Verified Capability Delta</a:t>
            </a:r>
            <a:endParaRPr lang="en-US" sz="1950" dirty="0"/>
          </a:p>
        </p:txBody>
      </p:sp>
      <p:sp>
        <p:nvSpPr>
          <p:cNvPr id="31" name="Text 29"/>
          <p:cNvSpPr/>
          <p:nvPr/>
        </p:nvSpPr>
        <p:spPr>
          <a:xfrm>
            <a:off x="12228016" y="9146753"/>
            <a:ext cx="5027481" cy="357188"/>
          </a:xfrm>
          <a:prstGeom prst="rect">
            <a:avLst/>
          </a:prstGeom>
          <a:noFill/>
          <a:ln/>
        </p:spPr>
        <p:txBody>
          <a:bodyPr wrap="square" lIns="25400" tIns="25400" rIns="25400" bIns="25400" rtlCol="0" anchor="t">
            <a:normAutofit/>
          </a:bodyPr>
          <a:lstStyle/>
          <a:p>
            <a:pPr algn="l" indent="0" marL="0">
              <a:buNone/>
            </a:pPr>
            <a:r>
              <a:rPr lang="en-US" sz="1950" dirty="0">
                <a:solidFill>
                  <a:srgbClr val="F09CB6"/>
                </a:solidFill>
                <a:latin typeface="Courier New" pitchFamily="34" charset="0"/>
                <a:ea typeface="Courier New" pitchFamily="34" charset="-122"/>
                <a:cs typeface="Courier New" pitchFamily="34" charset="-120"/>
              </a:rPr>
              <a:t>unit of trust </a:t>
            </a:r>
            <a:pPr algn="l" indent="0" marL="0">
              <a:buNone/>
            </a:pPr>
            <a:r>
              <a:rPr lang="en-US" sz="1950" dirty="0">
                <a:solidFill>
                  <a:srgbClr val="FFFFFF"/>
                </a:solidFill>
                <a:latin typeface="Arial" pitchFamily="34" charset="0"/>
                <a:ea typeface="Arial" pitchFamily="34" charset="-122"/>
                <a:cs typeface="Arial" pitchFamily="34" charset="-120"/>
              </a:rPr>
              <a:t>— the assurance ladder</a:t>
            </a:r>
            <a:endParaRPr lang="en-US" sz="1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2399035"/>
            <a:ext cx="859155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ADAPTATION WITHOUT FRAGMENTATION</a:t>
            </a:r>
            <a:endParaRPr lang="en-US" sz="1950" dirty="0"/>
          </a:p>
        </p:txBody>
      </p:sp>
      <p:sp>
        <p:nvSpPr>
          <p:cNvPr id="3" name="Text 1"/>
          <p:cNvSpPr/>
          <p:nvPr/>
        </p:nvSpPr>
        <p:spPr>
          <a:xfrm>
            <a:off x="952500" y="2970535"/>
            <a:ext cx="8044815" cy="1574155"/>
          </a:xfrm>
          <a:prstGeom prst="rect">
            <a:avLst/>
          </a:prstGeom>
          <a:noFill/>
          <a:ln/>
        </p:spPr>
        <p:txBody>
          <a:bodyPr wrap="square" lIns="25400" tIns="25400" rIns="25400" bIns="25400" rtlCol="0" anchor="t">
            <a:normAutofit/>
          </a:bodyPr>
          <a:lstStyle/>
          <a:p>
            <a:pPr algn="l" indent="0" marL="0">
              <a:lnSpc>
                <a:spcPct val="98341"/>
              </a:lnSpc>
              <a:buNone/>
            </a:pPr>
            <a:r>
              <a:rPr lang="en-US" sz="5400" dirty="0">
                <a:solidFill>
                  <a:srgbClr val="000B33"/>
                </a:solidFill>
                <a:latin typeface="Georgia" pitchFamily="34" charset="0"/>
                <a:ea typeface="Georgia" pitchFamily="34" charset="-122"/>
                <a:cs typeface="Georgia" pitchFamily="34" charset="-120"/>
              </a:rPr>
              <a:t>Sovereign by Construction</a:t>
            </a:r>
            <a:endParaRPr lang="en-US" sz="5400" dirty="0"/>
          </a:p>
        </p:txBody>
      </p:sp>
      <p:sp>
        <p:nvSpPr>
          <p:cNvPr id="4" name="Shape 2"/>
          <p:cNvSpPr/>
          <p:nvPr/>
        </p:nvSpPr>
        <p:spPr>
          <a:xfrm>
            <a:off x="952500" y="4925690"/>
            <a:ext cx="1304925" cy="528638"/>
          </a:xfrm>
          <a:prstGeom prst="rect">
            <a:avLst/>
          </a:prstGeom>
          <a:ln w="14288">
            <a:solidFill>
              <a:srgbClr val="000B33"/>
            </a:solidFill>
            <a:prstDash val="solid"/>
          </a:ln>
        </p:spPr>
      </p:sp>
      <p:sp>
        <p:nvSpPr>
          <p:cNvPr id="5" name="Text 3"/>
          <p:cNvSpPr/>
          <p:nvPr/>
        </p:nvSpPr>
        <p:spPr>
          <a:xfrm>
            <a:off x="1176338" y="5035228"/>
            <a:ext cx="93345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00B33"/>
                </a:solidFill>
                <a:latin typeface="Courier New" pitchFamily="34" charset="0"/>
                <a:ea typeface="Courier New" pitchFamily="34" charset="-122"/>
                <a:cs typeface="Courier New" pitchFamily="34" charset="-120"/>
              </a:rPr>
              <a:t>common</a:t>
            </a:r>
            <a:endParaRPr lang="en-US" sz="1875" dirty="0"/>
          </a:p>
        </p:txBody>
      </p:sp>
      <p:sp>
        <p:nvSpPr>
          <p:cNvPr id="6" name="Text 4"/>
          <p:cNvSpPr/>
          <p:nvPr/>
        </p:nvSpPr>
        <p:spPr>
          <a:xfrm>
            <a:off x="2371725" y="5018559"/>
            <a:ext cx="342900" cy="381000"/>
          </a:xfrm>
          <a:prstGeom prst="rect">
            <a:avLst/>
          </a:prstGeom>
          <a:noFill/>
          <a:ln/>
        </p:spPr>
        <p:txBody>
          <a:bodyPr wrap="square" lIns="25400" tIns="25400" rIns="25400" bIns="25400" rtlCol="0" anchor="t">
            <a:normAutofit/>
          </a:bodyPr>
          <a:lstStyle/>
          <a:p>
            <a:pPr algn="l" indent="0" marL="0">
              <a:buNone/>
            </a:pPr>
            <a:r>
              <a:rPr lang="en-US" sz="2100" dirty="0">
                <a:solidFill>
                  <a:srgbClr val="E21E51"/>
                </a:solidFill>
                <a:latin typeface="Arial" pitchFamily="34" charset="0"/>
                <a:ea typeface="Arial" pitchFamily="34" charset="-122"/>
                <a:cs typeface="Arial" pitchFamily="34" charset="-120"/>
              </a:rPr>
              <a:t>→</a:t>
            </a:r>
            <a:endParaRPr lang="en-US" sz="2100" dirty="0"/>
          </a:p>
        </p:txBody>
      </p:sp>
      <p:sp>
        <p:nvSpPr>
          <p:cNvPr id="7" name="Shape 5"/>
          <p:cNvSpPr/>
          <p:nvPr/>
        </p:nvSpPr>
        <p:spPr>
          <a:xfrm>
            <a:off x="2752725" y="4925690"/>
            <a:ext cx="1590675" cy="528638"/>
          </a:xfrm>
          <a:prstGeom prst="rect">
            <a:avLst/>
          </a:prstGeom>
          <a:ln w="14288">
            <a:solidFill>
              <a:srgbClr val="000B33"/>
            </a:solidFill>
            <a:prstDash val="solid"/>
          </a:ln>
        </p:spPr>
      </p:sp>
      <p:sp>
        <p:nvSpPr>
          <p:cNvPr id="8" name="Text 6"/>
          <p:cNvSpPr/>
          <p:nvPr/>
        </p:nvSpPr>
        <p:spPr>
          <a:xfrm>
            <a:off x="2976562" y="5035228"/>
            <a:ext cx="121920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00B33"/>
                </a:solidFill>
                <a:latin typeface="Courier New" pitchFamily="34" charset="0"/>
                <a:ea typeface="Courier New" pitchFamily="34" charset="-122"/>
                <a:cs typeface="Courier New" pitchFamily="34" charset="-120"/>
              </a:rPr>
              <a:t>regional</a:t>
            </a:r>
            <a:endParaRPr lang="en-US" sz="1875" dirty="0"/>
          </a:p>
        </p:txBody>
      </p:sp>
      <p:sp>
        <p:nvSpPr>
          <p:cNvPr id="9" name="Text 7"/>
          <p:cNvSpPr/>
          <p:nvPr/>
        </p:nvSpPr>
        <p:spPr>
          <a:xfrm>
            <a:off x="4457700" y="5018559"/>
            <a:ext cx="342900" cy="381000"/>
          </a:xfrm>
          <a:prstGeom prst="rect">
            <a:avLst/>
          </a:prstGeom>
          <a:noFill/>
          <a:ln/>
        </p:spPr>
        <p:txBody>
          <a:bodyPr wrap="square" lIns="25400" tIns="25400" rIns="25400" bIns="25400" rtlCol="0" anchor="t">
            <a:normAutofit/>
          </a:bodyPr>
          <a:lstStyle/>
          <a:p>
            <a:pPr algn="l" indent="0" marL="0">
              <a:buNone/>
            </a:pPr>
            <a:r>
              <a:rPr lang="en-US" sz="2100" dirty="0">
                <a:solidFill>
                  <a:srgbClr val="E21E51"/>
                </a:solidFill>
                <a:latin typeface="Arial" pitchFamily="34" charset="0"/>
                <a:ea typeface="Arial" pitchFamily="34" charset="-122"/>
                <a:cs typeface="Arial" pitchFamily="34" charset="-120"/>
              </a:rPr>
              <a:t>→</a:t>
            </a:r>
            <a:endParaRPr lang="en-US" sz="2100" dirty="0"/>
          </a:p>
        </p:txBody>
      </p:sp>
      <p:sp>
        <p:nvSpPr>
          <p:cNvPr id="10" name="Shape 8"/>
          <p:cNvSpPr/>
          <p:nvPr/>
        </p:nvSpPr>
        <p:spPr>
          <a:xfrm>
            <a:off x="4838700" y="4925690"/>
            <a:ext cx="1590675" cy="528638"/>
          </a:xfrm>
          <a:prstGeom prst="rect">
            <a:avLst/>
          </a:prstGeom>
          <a:ln w="14288">
            <a:solidFill>
              <a:srgbClr val="000B33"/>
            </a:solidFill>
            <a:prstDash val="solid"/>
          </a:ln>
        </p:spPr>
      </p:sp>
      <p:sp>
        <p:nvSpPr>
          <p:cNvPr id="11" name="Text 9"/>
          <p:cNvSpPr/>
          <p:nvPr/>
        </p:nvSpPr>
        <p:spPr>
          <a:xfrm>
            <a:off x="5062538" y="5035228"/>
            <a:ext cx="121920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00B33"/>
                </a:solidFill>
                <a:latin typeface="Courier New" pitchFamily="34" charset="0"/>
                <a:ea typeface="Courier New" pitchFamily="34" charset="-122"/>
                <a:cs typeface="Courier New" pitchFamily="34" charset="-120"/>
              </a:rPr>
              <a:t>national</a:t>
            </a:r>
            <a:endParaRPr lang="en-US" sz="1875" dirty="0"/>
          </a:p>
        </p:txBody>
      </p:sp>
      <p:sp>
        <p:nvSpPr>
          <p:cNvPr id="12" name="Text 10"/>
          <p:cNvSpPr/>
          <p:nvPr/>
        </p:nvSpPr>
        <p:spPr>
          <a:xfrm>
            <a:off x="6543675" y="5018559"/>
            <a:ext cx="342900" cy="381000"/>
          </a:xfrm>
          <a:prstGeom prst="rect">
            <a:avLst/>
          </a:prstGeom>
          <a:noFill/>
          <a:ln/>
        </p:spPr>
        <p:txBody>
          <a:bodyPr wrap="square" lIns="25400" tIns="25400" rIns="25400" bIns="25400" rtlCol="0" anchor="t">
            <a:normAutofit/>
          </a:bodyPr>
          <a:lstStyle/>
          <a:p>
            <a:pPr algn="l" indent="0" marL="0">
              <a:buNone/>
            </a:pPr>
            <a:r>
              <a:rPr lang="en-US" sz="2100" dirty="0">
                <a:solidFill>
                  <a:srgbClr val="E21E51"/>
                </a:solidFill>
                <a:latin typeface="Arial" pitchFamily="34" charset="0"/>
                <a:ea typeface="Arial" pitchFamily="34" charset="-122"/>
                <a:cs typeface="Arial" pitchFamily="34" charset="-120"/>
              </a:rPr>
              <a:t>→</a:t>
            </a:r>
            <a:endParaRPr lang="en-US" sz="2100" dirty="0"/>
          </a:p>
        </p:txBody>
      </p:sp>
      <p:sp>
        <p:nvSpPr>
          <p:cNvPr id="13" name="Shape 11"/>
          <p:cNvSpPr/>
          <p:nvPr/>
        </p:nvSpPr>
        <p:spPr>
          <a:xfrm>
            <a:off x="6924675" y="4925690"/>
            <a:ext cx="1304925" cy="528638"/>
          </a:xfrm>
          <a:prstGeom prst="rect">
            <a:avLst/>
          </a:prstGeom>
          <a:ln w="14288">
            <a:solidFill>
              <a:srgbClr val="000B33"/>
            </a:solidFill>
            <a:prstDash val="solid"/>
          </a:ln>
        </p:spPr>
      </p:sp>
      <p:sp>
        <p:nvSpPr>
          <p:cNvPr id="14" name="Text 12"/>
          <p:cNvSpPr/>
          <p:nvPr/>
        </p:nvSpPr>
        <p:spPr>
          <a:xfrm>
            <a:off x="7148513" y="5035228"/>
            <a:ext cx="933450"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00B33"/>
                </a:solidFill>
                <a:latin typeface="Courier New" pitchFamily="34" charset="0"/>
                <a:ea typeface="Courier New" pitchFamily="34" charset="-122"/>
                <a:cs typeface="Courier New" pitchFamily="34" charset="-120"/>
              </a:rPr>
              <a:t>sector</a:t>
            </a:r>
            <a:endParaRPr lang="en-US" sz="1875" dirty="0"/>
          </a:p>
        </p:txBody>
      </p:sp>
      <p:sp>
        <p:nvSpPr>
          <p:cNvPr id="15" name="Text 13"/>
          <p:cNvSpPr/>
          <p:nvPr/>
        </p:nvSpPr>
        <p:spPr>
          <a:xfrm>
            <a:off x="8343900" y="5018559"/>
            <a:ext cx="342900" cy="381000"/>
          </a:xfrm>
          <a:prstGeom prst="rect">
            <a:avLst/>
          </a:prstGeom>
          <a:noFill/>
          <a:ln/>
        </p:spPr>
        <p:txBody>
          <a:bodyPr wrap="square" lIns="25400" tIns="25400" rIns="25400" bIns="25400" rtlCol="0" anchor="t">
            <a:normAutofit/>
          </a:bodyPr>
          <a:lstStyle/>
          <a:p>
            <a:pPr algn="l" indent="0" marL="0">
              <a:buNone/>
            </a:pPr>
            <a:r>
              <a:rPr lang="en-US" sz="2100" dirty="0">
                <a:solidFill>
                  <a:srgbClr val="E21E51"/>
                </a:solidFill>
                <a:latin typeface="Arial" pitchFamily="34" charset="0"/>
                <a:ea typeface="Arial" pitchFamily="34" charset="-122"/>
                <a:cs typeface="Arial" pitchFamily="34" charset="-120"/>
              </a:rPr>
              <a:t>→</a:t>
            </a:r>
            <a:endParaRPr lang="en-US" sz="2100" dirty="0"/>
          </a:p>
        </p:txBody>
      </p:sp>
      <p:sp>
        <p:nvSpPr>
          <p:cNvPr id="16" name="Shape 14"/>
          <p:cNvSpPr/>
          <p:nvPr/>
        </p:nvSpPr>
        <p:spPr>
          <a:xfrm>
            <a:off x="952500" y="5568628"/>
            <a:ext cx="2019300" cy="528638"/>
          </a:xfrm>
          <a:prstGeom prst="rect">
            <a:avLst/>
          </a:prstGeom>
          <a:ln w="14288">
            <a:solidFill>
              <a:srgbClr val="000B33"/>
            </a:solidFill>
            <a:prstDash val="solid"/>
          </a:ln>
        </p:spPr>
      </p:sp>
      <p:sp>
        <p:nvSpPr>
          <p:cNvPr id="17" name="Text 15"/>
          <p:cNvSpPr/>
          <p:nvPr/>
        </p:nvSpPr>
        <p:spPr>
          <a:xfrm>
            <a:off x="1176338" y="5678165"/>
            <a:ext cx="1647825" cy="347663"/>
          </a:xfrm>
          <a:prstGeom prst="rect">
            <a:avLst/>
          </a:prstGeom>
          <a:noFill/>
          <a:ln/>
        </p:spPr>
        <p:txBody>
          <a:bodyPr wrap="square" lIns="25400" tIns="25400" rIns="25400" bIns="25400" rtlCol="0" anchor="t">
            <a:normAutofit/>
          </a:bodyPr>
          <a:lstStyle/>
          <a:p>
            <a:pPr algn="l" indent="0" marL="0">
              <a:buNone/>
            </a:pPr>
            <a:r>
              <a:rPr lang="en-US" sz="1875" dirty="0">
                <a:solidFill>
                  <a:srgbClr val="000B33"/>
                </a:solidFill>
                <a:latin typeface="Courier New" pitchFamily="34" charset="0"/>
                <a:ea typeface="Courier New" pitchFamily="34" charset="-122"/>
                <a:cs typeface="Courier New" pitchFamily="34" charset="-120"/>
              </a:rPr>
              <a:t>institution</a:t>
            </a:r>
            <a:endParaRPr lang="en-US" sz="1875" dirty="0"/>
          </a:p>
        </p:txBody>
      </p:sp>
      <p:sp>
        <p:nvSpPr>
          <p:cNvPr id="18" name="Text 16"/>
          <p:cNvSpPr/>
          <p:nvPr/>
        </p:nvSpPr>
        <p:spPr>
          <a:xfrm>
            <a:off x="952500" y="6516365"/>
            <a:ext cx="8044815" cy="1409700"/>
          </a:xfrm>
          <a:prstGeom prst="rect">
            <a:avLst/>
          </a:prstGeom>
          <a:noFill/>
          <a:ln/>
        </p:spPr>
        <p:txBody>
          <a:bodyPr wrap="square" lIns="25400" tIns="25400" rIns="25400" bIns="25400" rtlCol="0" anchor="t">
            <a:normAutofit/>
          </a:bodyPr>
          <a:lstStyle/>
          <a:p>
            <a:pPr algn="l" indent="0" marL="0">
              <a:lnSpc>
                <a:spcPct val="131507"/>
              </a:lnSpc>
              <a:buNone/>
            </a:pPr>
            <a:r>
              <a:rPr lang="en-US" sz="2400" dirty="0">
                <a:solidFill>
                  <a:srgbClr val="565D78"/>
                </a:solidFill>
                <a:latin typeface="Georgia" pitchFamily="34" charset="0"/>
                <a:ea typeface="Georgia" pitchFamily="34" charset="-122"/>
                <a:cs typeface="Georgia" pitchFamily="34" charset="-120"/>
              </a:rPr>
              <a:t>A definition forks along an ordered chain; it does not multiply. A fork inherits the substance — and never inherits its parent’s jurisdiction, publication status or review.</a:t>
            </a:r>
            <a:endParaRPr lang="en-US" sz="2400" dirty="0"/>
          </a:p>
        </p:txBody>
      </p:sp>
      <p:sp>
        <p:nvSpPr>
          <p:cNvPr id="19" name="Shape 17"/>
          <p:cNvSpPr/>
          <p:nvPr/>
        </p:nvSpPr>
        <p:spPr>
          <a:xfrm>
            <a:off x="9525000" y="2369344"/>
            <a:ext cx="28575" cy="1671638"/>
          </a:xfrm>
          <a:prstGeom prst="rect">
            <a:avLst/>
          </a:prstGeom>
          <a:solidFill>
            <a:srgbClr val="E21E51"/>
          </a:solidFill>
          <a:ln/>
        </p:spPr>
      </p:sp>
      <p:sp>
        <p:nvSpPr>
          <p:cNvPr id="20" name="Text 18"/>
          <p:cNvSpPr/>
          <p:nvPr/>
        </p:nvSpPr>
        <p:spPr>
          <a:xfrm>
            <a:off x="9858375" y="2445544"/>
            <a:ext cx="8224838"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000B33"/>
                </a:solidFill>
                <a:latin typeface="Arial" pitchFamily="34" charset="0"/>
                <a:ea typeface="Arial" pitchFamily="34" charset="-122"/>
                <a:cs typeface="Arial" pitchFamily="34" charset="-120"/>
              </a:rPr>
              <a:t>The rights floor</a:t>
            </a:r>
            <a:endParaRPr lang="en-US" sz="2100" dirty="0"/>
          </a:p>
        </p:txBody>
      </p:sp>
      <p:sp>
        <p:nvSpPr>
          <p:cNvPr id="21" name="Text 19"/>
          <p:cNvSpPr/>
          <p:nvPr/>
        </p:nvSpPr>
        <p:spPr>
          <a:xfrm>
            <a:off x="9858375" y="2850356"/>
            <a:ext cx="7701439" cy="115252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65D78"/>
                </a:solidFill>
                <a:latin typeface="Arial" pitchFamily="34" charset="0"/>
                <a:ea typeface="Arial" pitchFamily="34" charset="-122"/>
                <a:cs typeface="Arial" pitchFamily="34" charset="-120"/>
              </a:rPr>
              <a:t>A national adaptation may change language, risk criteria and community protocols — it may not remove a rights protection or a preserved human judgement. Enforced, not requested.</a:t>
            </a:r>
            <a:endParaRPr lang="en-US" sz="1950" dirty="0"/>
          </a:p>
        </p:txBody>
      </p:sp>
      <p:sp>
        <p:nvSpPr>
          <p:cNvPr id="22" name="Shape 20"/>
          <p:cNvSpPr/>
          <p:nvPr/>
        </p:nvSpPr>
        <p:spPr>
          <a:xfrm>
            <a:off x="9525000" y="4307681"/>
            <a:ext cx="28575" cy="1671638"/>
          </a:xfrm>
          <a:prstGeom prst="rect">
            <a:avLst/>
          </a:prstGeom>
          <a:solidFill>
            <a:srgbClr val="E21E51"/>
          </a:solidFill>
          <a:ln/>
        </p:spPr>
      </p:sp>
      <p:sp>
        <p:nvSpPr>
          <p:cNvPr id="23" name="Text 21"/>
          <p:cNvSpPr/>
          <p:nvPr/>
        </p:nvSpPr>
        <p:spPr>
          <a:xfrm>
            <a:off x="9858375" y="4383881"/>
            <a:ext cx="8224838"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000B33"/>
                </a:solidFill>
                <a:latin typeface="Arial" pitchFamily="34" charset="0"/>
                <a:ea typeface="Arial" pitchFamily="34" charset="-122"/>
                <a:cs typeface="Arial" pitchFamily="34" charset="-120"/>
              </a:rPr>
              <a:t>A profile, never a ranking</a:t>
            </a:r>
            <a:endParaRPr lang="en-US" sz="2100" dirty="0"/>
          </a:p>
        </p:txBody>
      </p:sp>
      <p:sp>
        <p:nvSpPr>
          <p:cNvPr id="24" name="Text 22"/>
          <p:cNvSpPr/>
          <p:nvPr/>
        </p:nvSpPr>
        <p:spPr>
          <a:xfrm>
            <a:off x="9858375" y="4788694"/>
            <a:ext cx="7701439" cy="115252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65D78"/>
                </a:solidFill>
                <a:latin typeface="Arial" pitchFamily="34" charset="0"/>
                <a:ea typeface="Arial" pitchFamily="34" charset="-122"/>
                <a:cs typeface="Arial" pitchFamily="34" charset="-120"/>
              </a:rPr>
              <a:t>Sovereignty is scored on eleven dimensions separately — data control, exit readiness, key-person dependency … Red flags override averages; no country is ranked by a single number.</a:t>
            </a:r>
            <a:endParaRPr lang="en-US" sz="1950" dirty="0"/>
          </a:p>
        </p:txBody>
      </p:sp>
      <p:sp>
        <p:nvSpPr>
          <p:cNvPr id="25" name="Shape 23"/>
          <p:cNvSpPr/>
          <p:nvPr/>
        </p:nvSpPr>
        <p:spPr>
          <a:xfrm>
            <a:off x="9525000" y="6246019"/>
            <a:ext cx="28575" cy="1671638"/>
          </a:xfrm>
          <a:prstGeom prst="rect">
            <a:avLst/>
          </a:prstGeom>
          <a:solidFill>
            <a:srgbClr val="E21E51"/>
          </a:solidFill>
          <a:ln/>
        </p:spPr>
      </p:sp>
      <p:sp>
        <p:nvSpPr>
          <p:cNvPr id="26" name="Text 24"/>
          <p:cNvSpPr/>
          <p:nvPr/>
        </p:nvSpPr>
        <p:spPr>
          <a:xfrm>
            <a:off x="9858375" y="6322219"/>
            <a:ext cx="8224838" cy="347663"/>
          </a:xfrm>
          <a:prstGeom prst="rect">
            <a:avLst/>
          </a:prstGeom>
          <a:noFill/>
          <a:ln/>
        </p:spPr>
        <p:txBody>
          <a:bodyPr wrap="square" lIns="25400" tIns="25400" rIns="25400" bIns="25400" rtlCol="0" anchor="t">
            <a:normAutofit/>
          </a:bodyPr>
          <a:lstStyle/>
          <a:p>
            <a:pPr algn="l" indent="0" marL="0">
              <a:buNone/>
            </a:pPr>
            <a:r>
              <a:rPr lang="en-US" sz="2100" b="1" dirty="0">
                <a:solidFill>
                  <a:srgbClr val="000B33"/>
                </a:solidFill>
                <a:latin typeface="Arial" pitchFamily="34" charset="0"/>
                <a:ea typeface="Arial" pitchFamily="34" charset="-122"/>
                <a:cs typeface="Arial" pitchFamily="34" charset="-120"/>
              </a:rPr>
              <a:t>Holistic development</a:t>
            </a:r>
            <a:endParaRPr lang="en-US" sz="2100" dirty="0"/>
          </a:p>
        </p:txBody>
      </p:sp>
      <p:sp>
        <p:nvSpPr>
          <p:cNvPr id="27" name="Text 25"/>
          <p:cNvSpPr/>
          <p:nvPr/>
        </p:nvSpPr>
        <p:spPr>
          <a:xfrm>
            <a:off x="9858375" y="6727031"/>
            <a:ext cx="7701439" cy="115252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565D78"/>
                </a:solidFill>
                <a:latin typeface="Arial" pitchFamily="34" charset="0"/>
                <a:ea typeface="Arial" pitchFamily="34" charset="-122"/>
                <a:cs typeface="Arial" pitchFamily="34" charset="-120"/>
              </a:rPr>
              <a:t>Person, community, enterprise, university, municipality, nation — every layer develops on its own foundational baseline, in one connected graph.</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00B33"/>
        </a:solidFill>
      </p:bgPr>
    </p:bg>
    <p:spTree>
      <p:nvGrpSpPr>
        <p:cNvPr id="1" name=""/>
        <p:cNvGrpSpPr/>
        <p:nvPr/>
      </p:nvGrpSpPr>
      <p:grpSpPr>
        <a:xfrm>
          <a:off x="0" y="0"/>
          <a:ext cx="0" cy="0"/>
          <a:chOff x="0" y="0"/>
          <a:chExt cx="0" cy="0"/>
        </a:xfrm>
      </p:grpSpPr>
      <p:sp>
        <p:nvSpPr>
          <p:cNvPr id="2" name="Text 0"/>
          <p:cNvSpPr/>
          <p:nvPr/>
        </p:nvSpPr>
        <p:spPr>
          <a:xfrm>
            <a:off x="952500" y="85725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F09CB6"/>
                </a:solidFill>
                <a:latin typeface="Arial" pitchFamily="34" charset="0"/>
                <a:ea typeface="Arial" pitchFamily="34" charset="-122"/>
                <a:cs typeface="Arial" pitchFamily="34" charset="-120"/>
              </a:rPr>
              <a:t>FAIR + AID + IRBS, ON ONE GRAPH</a:t>
            </a:r>
            <a:endParaRPr lang="en-US" sz="1950" dirty="0"/>
          </a:p>
        </p:txBody>
      </p:sp>
      <p:sp>
        <p:nvSpPr>
          <p:cNvPr id="3" name="Text 1"/>
          <p:cNvSpPr/>
          <p:nvPr/>
        </p:nvSpPr>
        <p:spPr>
          <a:xfrm>
            <a:off x="952500" y="1390650"/>
            <a:ext cx="18021300" cy="771525"/>
          </a:xfrm>
          <a:prstGeom prst="rect">
            <a:avLst/>
          </a:prstGeom>
          <a:noFill/>
          <a:ln/>
        </p:spPr>
        <p:txBody>
          <a:bodyPr wrap="square" lIns="25400" tIns="25400" rIns="25400" bIns="25400" rtlCol="0" anchor="t">
            <a:normAutofit/>
          </a:bodyPr>
          <a:lstStyle/>
          <a:p>
            <a:pPr algn="l" indent="0" marL="0">
              <a:lnSpc>
                <a:spcPct val="96855"/>
              </a:lnSpc>
              <a:buNone/>
            </a:pPr>
            <a:r>
              <a:rPr lang="en-US" sz="5250" dirty="0">
                <a:solidFill>
                  <a:srgbClr val="FFFFFF"/>
                </a:solidFill>
                <a:latin typeface="Georgia" pitchFamily="34" charset="0"/>
                <a:ea typeface="Georgia" pitchFamily="34" charset="-122"/>
                <a:cs typeface="Georgia" pitchFamily="34" charset="-120"/>
              </a:rPr>
              <a:t>One World Model for Digital Reality Checks</a:t>
            </a:r>
            <a:endParaRPr lang="en-US" sz="5250" dirty="0"/>
          </a:p>
        </p:txBody>
      </p:sp>
      <p:sp>
        <p:nvSpPr>
          <p:cNvPr id="4" name="Shape 2"/>
          <p:cNvSpPr/>
          <p:nvPr/>
        </p:nvSpPr>
        <p:spPr>
          <a:xfrm>
            <a:off x="952500" y="2543175"/>
            <a:ext cx="5308550" cy="2627933"/>
          </a:xfrm>
          <a:prstGeom prst="rect">
            <a:avLst/>
          </a:prstGeom>
          <a:ln w="9525">
            <a:solidFill>
              <a:srgbClr val="2A3355"/>
            </a:solidFill>
            <a:prstDash val="solid"/>
          </a:ln>
        </p:spPr>
      </p:sp>
      <p:sp>
        <p:nvSpPr>
          <p:cNvPr id="5" name="Text 3"/>
          <p:cNvSpPr/>
          <p:nvPr/>
        </p:nvSpPr>
        <p:spPr>
          <a:xfrm>
            <a:off x="1304925" y="2857500"/>
            <a:ext cx="5064070" cy="371475"/>
          </a:xfrm>
          <a:prstGeom prst="rect">
            <a:avLst/>
          </a:prstGeom>
          <a:noFill/>
          <a:ln/>
        </p:spPr>
        <p:txBody>
          <a:bodyPr wrap="square" lIns="25400" tIns="25400" rIns="25400" bIns="25400" rtlCol="0" anchor="t">
            <a:normAutofit/>
          </a:bodyPr>
          <a:lstStyle/>
          <a:p>
            <a:pPr algn="l" indent="0" marL="0">
              <a:buNone/>
            </a:pPr>
            <a:r>
              <a:rPr lang="en-US" sz="2025" dirty="0">
                <a:solidFill>
                  <a:srgbClr val="E21E51"/>
                </a:solidFill>
                <a:latin typeface="Courier New" pitchFamily="34" charset="0"/>
                <a:ea typeface="Courier New" pitchFamily="34" charset="-122"/>
                <a:cs typeface="Courier New" pitchFamily="34" charset="-120"/>
              </a:rPr>
              <a:t>FAIR</a:t>
            </a:r>
            <a:endParaRPr lang="en-US" sz="2025" dirty="0"/>
          </a:p>
        </p:txBody>
      </p:sp>
      <p:sp>
        <p:nvSpPr>
          <p:cNvPr id="6" name="Text 4"/>
          <p:cNvSpPr/>
          <p:nvPr/>
        </p:nvSpPr>
        <p:spPr>
          <a:xfrm>
            <a:off x="1304925" y="3324225"/>
            <a:ext cx="5064070"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FFFFFF"/>
                </a:solidFill>
                <a:latin typeface="Arial" pitchFamily="34" charset="0"/>
                <a:ea typeface="Arial" pitchFamily="34" charset="-122"/>
                <a:cs typeface="Arial" pitchFamily="34" charset="-120"/>
              </a:rPr>
              <a:t>The trust layer</a:t>
            </a:r>
            <a:endParaRPr lang="en-US" sz="2100" dirty="0"/>
          </a:p>
        </p:txBody>
      </p:sp>
      <p:sp>
        <p:nvSpPr>
          <p:cNvPr id="7" name="Text 5"/>
          <p:cNvSpPr/>
          <p:nvPr/>
        </p:nvSpPr>
        <p:spPr>
          <a:xfrm>
            <a:off x="1304925" y="3785220"/>
            <a:ext cx="4741811"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Independent, reproducible scoring of solutions — the seal that makes a claim credible anywhere.</a:t>
            </a:r>
            <a:endParaRPr lang="en-US" sz="1875" dirty="0"/>
          </a:p>
        </p:txBody>
      </p:sp>
      <p:sp>
        <p:nvSpPr>
          <p:cNvPr id="8" name="Shape 6"/>
          <p:cNvSpPr/>
          <p:nvPr/>
        </p:nvSpPr>
        <p:spPr>
          <a:xfrm>
            <a:off x="6489650" y="2543175"/>
            <a:ext cx="5308625" cy="2627933"/>
          </a:xfrm>
          <a:prstGeom prst="rect">
            <a:avLst/>
          </a:prstGeom>
          <a:ln w="9525">
            <a:solidFill>
              <a:srgbClr val="2A3355"/>
            </a:solidFill>
            <a:prstDash val="solid"/>
          </a:ln>
        </p:spPr>
      </p:sp>
      <p:sp>
        <p:nvSpPr>
          <p:cNvPr id="9" name="Text 7"/>
          <p:cNvSpPr/>
          <p:nvPr/>
        </p:nvSpPr>
        <p:spPr>
          <a:xfrm>
            <a:off x="6842075" y="2857500"/>
            <a:ext cx="5064152" cy="371475"/>
          </a:xfrm>
          <a:prstGeom prst="rect">
            <a:avLst/>
          </a:prstGeom>
          <a:noFill/>
          <a:ln/>
        </p:spPr>
        <p:txBody>
          <a:bodyPr wrap="square" lIns="25400" tIns="25400" rIns="25400" bIns="25400" rtlCol="0" anchor="t">
            <a:normAutofit/>
          </a:bodyPr>
          <a:lstStyle/>
          <a:p>
            <a:pPr algn="l" indent="0" marL="0">
              <a:buNone/>
            </a:pPr>
            <a:r>
              <a:rPr lang="en-US" sz="2025" dirty="0">
                <a:solidFill>
                  <a:srgbClr val="E21E51"/>
                </a:solidFill>
                <a:latin typeface="Courier New" pitchFamily="34" charset="0"/>
                <a:ea typeface="Courier New" pitchFamily="34" charset="-122"/>
                <a:cs typeface="Courier New" pitchFamily="34" charset="-120"/>
              </a:rPr>
              <a:t>AID</a:t>
            </a:r>
            <a:endParaRPr lang="en-US" sz="2025" dirty="0"/>
          </a:p>
        </p:txBody>
      </p:sp>
      <p:sp>
        <p:nvSpPr>
          <p:cNvPr id="10" name="Text 8"/>
          <p:cNvSpPr/>
          <p:nvPr/>
        </p:nvSpPr>
        <p:spPr>
          <a:xfrm>
            <a:off x="6842075" y="3324225"/>
            <a:ext cx="5064152"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FFFFFF"/>
                </a:solidFill>
                <a:latin typeface="Arial" pitchFamily="34" charset="0"/>
                <a:ea typeface="Arial" pitchFamily="34" charset="-122"/>
                <a:cs typeface="Arial" pitchFamily="34" charset="-120"/>
              </a:rPr>
              <a:t>The value layer</a:t>
            </a:r>
            <a:endParaRPr lang="en-US" sz="2100" dirty="0"/>
          </a:p>
        </p:txBody>
      </p:sp>
      <p:sp>
        <p:nvSpPr>
          <p:cNvPr id="11" name="Text 9"/>
          <p:cNvSpPr/>
          <p:nvPr/>
        </p:nvSpPr>
        <p:spPr>
          <a:xfrm>
            <a:off x="6842075" y="3785220"/>
            <a:ext cx="4741888"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Impact funding paid per verified capability delta — money flows where the evidence is.</a:t>
            </a:r>
            <a:endParaRPr lang="en-US" sz="1875" dirty="0"/>
          </a:p>
        </p:txBody>
      </p:sp>
      <p:sp>
        <p:nvSpPr>
          <p:cNvPr id="12" name="Shape 10"/>
          <p:cNvSpPr/>
          <p:nvPr/>
        </p:nvSpPr>
        <p:spPr>
          <a:xfrm>
            <a:off x="12026875" y="2543175"/>
            <a:ext cx="5308550" cy="2627933"/>
          </a:xfrm>
          <a:prstGeom prst="rect">
            <a:avLst/>
          </a:prstGeom>
          <a:ln w="9525">
            <a:solidFill>
              <a:srgbClr val="2A3355"/>
            </a:solidFill>
            <a:prstDash val="solid"/>
          </a:ln>
        </p:spPr>
      </p:sp>
      <p:sp>
        <p:nvSpPr>
          <p:cNvPr id="13" name="Text 11"/>
          <p:cNvSpPr/>
          <p:nvPr/>
        </p:nvSpPr>
        <p:spPr>
          <a:xfrm>
            <a:off x="12379300" y="2857500"/>
            <a:ext cx="5064070" cy="371475"/>
          </a:xfrm>
          <a:prstGeom prst="rect">
            <a:avLst/>
          </a:prstGeom>
          <a:noFill/>
          <a:ln/>
        </p:spPr>
        <p:txBody>
          <a:bodyPr wrap="square" lIns="25400" tIns="25400" rIns="25400" bIns="25400" rtlCol="0" anchor="t">
            <a:normAutofit/>
          </a:bodyPr>
          <a:lstStyle/>
          <a:p>
            <a:pPr algn="l" indent="0" marL="0">
              <a:buNone/>
            </a:pPr>
            <a:r>
              <a:rPr lang="en-US" sz="2025" dirty="0">
                <a:solidFill>
                  <a:srgbClr val="E21E51"/>
                </a:solidFill>
                <a:latin typeface="Courier New" pitchFamily="34" charset="0"/>
                <a:ea typeface="Courier New" pitchFamily="34" charset="-122"/>
                <a:cs typeface="Courier New" pitchFamily="34" charset="-120"/>
              </a:rPr>
              <a:t>IRBs</a:t>
            </a:r>
            <a:endParaRPr lang="en-US" sz="2025" dirty="0"/>
          </a:p>
        </p:txBody>
      </p:sp>
      <p:sp>
        <p:nvSpPr>
          <p:cNvPr id="14" name="Text 12"/>
          <p:cNvSpPr/>
          <p:nvPr/>
        </p:nvSpPr>
        <p:spPr>
          <a:xfrm>
            <a:off x="12379300" y="3324225"/>
            <a:ext cx="5064070" cy="384795"/>
          </a:xfrm>
          <a:prstGeom prst="rect">
            <a:avLst/>
          </a:prstGeom>
          <a:noFill/>
          <a:ln/>
        </p:spPr>
        <p:txBody>
          <a:bodyPr wrap="square" lIns="25400" tIns="25400" rIns="25400" bIns="25400" rtlCol="0" anchor="t">
            <a:normAutofit/>
          </a:bodyPr>
          <a:lstStyle/>
          <a:p>
            <a:pPr algn="l" indent="0" marL="0">
              <a:lnSpc>
                <a:spcPct val="112000"/>
              </a:lnSpc>
              <a:buNone/>
            </a:pPr>
            <a:r>
              <a:rPr lang="en-US" sz="2100" b="1" dirty="0">
                <a:solidFill>
                  <a:srgbClr val="FFFFFF"/>
                </a:solidFill>
                <a:latin typeface="Arial" pitchFamily="34" charset="0"/>
                <a:ea typeface="Arial" pitchFamily="34" charset="-122"/>
                <a:cs typeface="Arial" pitchFamily="34" charset="-120"/>
              </a:rPr>
              <a:t>The governance layer</a:t>
            </a:r>
            <a:endParaRPr lang="en-US" sz="2100" dirty="0"/>
          </a:p>
        </p:txBody>
      </p:sp>
      <p:sp>
        <p:nvSpPr>
          <p:cNvPr id="15" name="Text 13"/>
          <p:cNvSpPr/>
          <p:nvPr/>
        </p:nvSpPr>
        <p:spPr>
          <a:xfrm>
            <a:off x="12379300" y="3785220"/>
            <a:ext cx="4741811"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B4BACC"/>
                </a:solidFill>
                <a:latin typeface="Arial" pitchFamily="34" charset="0"/>
                <a:ea typeface="Arial" pitchFamily="34" charset="-122"/>
                <a:cs typeface="Arial" pitchFamily="34" charset="-120"/>
              </a:rPr>
              <a:t>Sector boards review and score; E1 keeps the vocabulary one comparable space.</a:t>
            </a:r>
            <a:endParaRPr lang="en-US" sz="1875" dirty="0"/>
          </a:p>
        </p:txBody>
      </p:sp>
      <p:sp>
        <p:nvSpPr>
          <p:cNvPr id="16" name="Shape 14"/>
          <p:cNvSpPr/>
          <p:nvPr/>
        </p:nvSpPr>
        <p:spPr>
          <a:xfrm>
            <a:off x="952500" y="5437808"/>
            <a:ext cx="16383000" cy="2185988"/>
          </a:xfrm>
          <a:prstGeom prst="rect">
            <a:avLst/>
          </a:prstGeom>
          <a:solidFill>
            <a:srgbClr val="0A1745"/>
          </a:solidFill>
          <a:ln w="14288">
            <a:solidFill>
              <a:srgbClr val="E21E51"/>
            </a:solidFill>
            <a:prstDash val="solid"/>
          </a:ln>
        </p:spPr>
      </p:sp>
      <p:sp>
        <p:nvSpPr>
          <p:cNvPr id="17" name="Text 15"/>
          <p:cNvSpPr/>
          <p:nvPr/>
        </p:nvSpPr>
        <p:spPr>
          <a:xfrm>
            <a:off x="1347788" y="5756895"/>
            <a:ext cx="5084452" cy="357188"/>
          </a:xfrm>
          <a:prstGeom prst="rect">
            <a:avLst/>
          </a:prstGeom>
          <a:noFill/>
          <a:ln/>
        </p:spPr>
        <p:txBody>
          <a:bodyPr wrap="square" lIns="25400" tIns="25400" rIns="25400" bIns="25400" rtlCol="0" anchor="t">
            <a:normAutofit/>
          </a:bodyPr>
          <a:lstStyle/>
          <a:p>
            <a:pPr algn="l" indent="0" marL="0">
              <a:buNone/>
            </a:pPr>
            <a:r>
              <a:rPr lang="en-US" sz="2175" b="1" dirty="0">
                <a:solidFill>
                  <a:srgbClr val="FFFFFF"/>
                </a:solidFill>
                <a:latin typeface="Arial" pitchFamily="34" charset="0"/>
                <a:ea typeface="Arial" pitchFamily="34" charset="-122"/>
                <a:cs typeface="Arial" pitchFamily="34" charset="-120"/>
              </a:rPr>
              <a:t>The capability graph beneath all three</a:t>
            </a:r>
            <a:endParaRPr lang="en-US" sz="2175" dirty="0"/>
          </a:p>
        </p:txBody>
      </p:sp>
      <p:sp>
        <p:nvSpPr>
          <p:cNvPr id="18" name="Text 16"/>
          <p:cNvSpPr/>
          <p:nvPr/>
        </p:nvSpPr>
        <p:spPr>
          <a:xfrm>
            <a:off x="13922648" y="5780708"/>
            <a:ext cx="331932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the shared world model</a:t>
            </a:r>
            <a:endParaRPr lang="en-US" sz="1800" dirty="0"/>
          </a:p>
        </p:txBody>
      </p:sp>
      <p:sp>
        <p:nvSpPr>
          <p:cNvPr id="19" name="Text 17"/>
          <p:cNvSpPr/>
          <p:nvPr/>
        </p:nvSpPr>
        <p:spPr>
          <a:xfrm>
            <a:off x="1347788" y="6190283"/>
            <a:ext cx="16060198" cy="1152525"/>
          </a:xfrm>
          <a:prstGeom prst="rect">
            <a:avLst/>
          </a:prstGeom>
          <a:noFill/>
          <a:ln/>
        </p:spPr>
        <p:txBody>
          <a:bodyPr wrap="square" lIns="25400" tIns="25400" rIns="25400" bIns="25400" rtlCol="0" anchor="t">
            <a:normAutofit/>
          </a:bodyPr>
          <a:lstStyle/>
          <a:p>
            <a:pPr algn="l" indent="0" marL="0">
              <a:lnSpc>
                <a:spcPct val="130000"/>
              </a:lnSpc>
              <a:buNone/>
            </a:pPr>
            <a:r>
              <a:rPr lang="en-US" sz="1950" dirty="0">
                <a:solidFill>
                  <a:srgbClr val="B4BACC"/>
                </a:solidFill>
                <a:latin typeface="Arial" pitchFamily="34" charset="0"/>
                <a:ea typeface="Arial" pitchFamily="34" charset="-122"/>
                <a:cs typeface="Arial" pitchFamily="34" charset="-120"/>
              </a:rPr>
              <a:t>One semantic layer of definitions, instances, relations and evidence — every stated capacity and quality of service checkable against measured reality. Proven data-driven decision points through self-calculating process metrics: the ability to holistically see, discuss and decide on what, why and with what impact changes are made.</a:t>
            </a:r>
            <a:endParaRPr lang="en-US" sz="1950" dirty="0"/>
          </a:p>
        </p:txBody>
      </p:sp>
      <p:sp>
        <p:nvSpPr>
          <p:cNvPr id="20" name="Shape 18"/>
          <p:cNvSpPr/>
          <p:nvPr/>
        </p:nvSpPr>
        <p:spPr>
          <a:xfrm>
            <a:off x="952500" y="8810625"/>
            <a:ext cx="16383000" cy="9525"/>
          </a:xfrm>
          <a:prstGeom prst="rect">
            <a:avLst/>
          </a:prstGeom>
          <a:solidFill>
            <a:srgbClr val="2A3355"/>
          </a:solidFill>
          <a:ln/>
        </p:spPr>
      </p:sp>
      <p:sp>
        <p:nvSpPr>
          <p:cNvPr id="21" name="Text 19"/>
          <p:cNvSpPr/>
          <p:nvPr/>
        </p:nvSpPr>
        <p:spPr>
          <a:xfrm>
            <a:off x="952500" y="9105900"/>
            <a:ext cx="16874490" cy="361950"/>
          </a:xfrm>
          <a:prstGeom prst="rect">
            <a:avLst/>
          </a:prstGeom>
          <a:noFill/>
          <a:ln/>
        </p:spPr>
        <p:txBody>
          <a:bodyPr wrap="square" lIns="25400" tIns="25400" rIns="25400" bIns="25400" rtlCol="0" anchor="t">
            <a:normAutofit/>
          </a:bodyPr>
          <a:lstStyle/>
          <a:p>
            <a:pPr algn="l" indent="0" marL="0">
              <a:buNone/>
            </a:pPr>
            <a:r>
              <a:rPr lang="en-US" sz="2250" i="1" dirty="0">
                <a:solidFill>
                  <a:srgbClr val="FFFFFF"/>
                </a:solidFill>
                <a:latin typeface="Georgia" pitchFamily="34" charset="0"/>
                <a:ea typeface="Georgia" pitchFamily="34" charset="-122"/>
                <a:cs typeface="Georgia" pitchFamily="34" charset="-120"/>
              </a:rPr>
              <a:t>Three initiatives, one graph — trust, value and governance reading the same reality.</a:t>
            </a:r>
            <a:endParaRPr lang="en-US" sz="2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76200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THE LANE, WORKED ON ONE CAPABILITY — FIGURE 33</a:t>
            </a:r>
            <a:endParaRPr lang="en-US" sz="1950" dirty="0"/>
          </a:p>
        </p:txBody>
      </p:sp>
      <p:sp>
        <p:nvSpPr>
          <p:cNvPr id="3" name="Text 1"/>
          <p:cNvSpPr/>
          <p:nvPr/>
        </p:nvSpPr>
        <p:spPr>
          <a:xfrm>
            <a:off x="952500" y="1276350"/>
            <a:ext cx="18021300" cy="708645"/>
          </a:xfrm>
          <a:prstGeom prst="rect">
            <a:avLst/>
          </a:prstGeom>
          <a:noFill/>
          <a:ln/>
        </p:spPr>
        <p:txBody>
          <a:bodyPr wrap="square" lIns="25400" tIns="25400" rIns="25400" bIns="25400" rtlCol="0" anchor="t">
            <a:normAutofit/>
          </a:bodyPr>
          <a:lstStyle/>
          <a:p>
            <a:pPr algn="l" indent="0" marL="0">
              <a:lnSpc>
                <a:spcPct val="97103"/>
              </a:lnSpc>
              <a:buNone/>
            </a:pPr>
            <a:r>
              <a:rPr lang="en-US" sz="4800" dirty="0">
                <a:solidFill>
                  <a:srgbClr val="000B33"/>
                </a:solidFill>
                <a:latin typeface="Georgia" pitchFamily="34" charset="0"/>
                <a:ea typeface="Georgia" pitchFamily="34" charset="-122"/>
                <a:cs typeface="Georgia" pitchFamily="34" charset="-120"/>
              </a:rPr>
              <a:t>Smart Seeding, End to End</a:t>
            </a:r>
            <a:endParaRPr lang="en-US" sz="4800" dirty="0"/>
          </a:p>
        </p:txBody>
      </p:sp>
      <p:sp>
        <p:nvSpPr>
          <p:cNvPr id="4" name="Text 2"/>
          <p:cNvSpPr/>
          <p:nvPr/>
        </p:nvSpPr>
        <p:spPr>
          <a:xfrm>
            <a:off x="952500" y="2232645"/>
            <a:ext cx="16187738" cy="895350"/>
          </a:xfrm>
          <a:prstGeom prst="rect">
            <a:avLst/>
          </a:prstGeom>
          <a:noFill/>
          <a:ln/>
        </p:spPr>
        <p:txBody>
          <a:bodyPr wrap="square" lIns="25400" tIns="25400" rIns="25400" bIns="25400" rtlCol="0" anchor="t">
            <a:normAutofit/>
          </a:bodyPr>
          <a:lstStyle/>
          <a:p>
            <a:pPr algn="l" indent="0" marL="0">
              <a:lnSpc>
                <a:spcPct val="132353"/>
              </a:lnSpc>
              <a:buNone/>
            </a:pPr>
            <a:r>
              <a:rPr lang="en-US" sz="2250" dirty="0">
                <a:solidFill>
                  <a:srgbClr val="565D78"/>
                </a:solidFill>
                <a:latin typeface="Georgia" pitchFamily="34" charset="0"/>
                <a:ea typeface="Georgia" pitchFamily="34" charset="-122"/>
                <a:cs typeface="Georgia" pitchFamily="34" charset="-120"/>
              </a:rPr>
              <a:t>A Kenyan agritech collective runs AI-supported seeding that lifts yields on smallholder plots. Today it is invisible beyond its county. On the lane, it travels:</a:t>
            </a:r>
            <a:endParaRPr lang="en-US" sz="2250" dirty="0"/>
          </a:p>
        </p:txBody>
      </p:sp>
      <p:sp>
        <p:nvSpPr>
          <p:cNvPr id="5" name="Shape 3"/>
          <p:cNvSpPr/>
          <p:nvPr/>
        </p:nvSpPr>
        <p:spPr>
          <a:xfrm>
            <a:off x="952500" y="3508995"/>
            <a:ext cx="28575" cy="3301305"/>
          </a:xfrm>
          <a:prstGeom prst="rect">
            <a:avLst/>
          </a:prstGeom>
          <a:solidFill>
            <a:srgbClr val="E21E51"/>
          </a:solidFill>
          <a:ln/>
        </p:spPr>
      </p:sp>
      <p:sp>
        <p:nvSpPr>
          <p:cNvPr id="6" name="Text 4"/>
          <p:cNvSpPr/>
          <p:nvPr/>
        </p:nvSpPr>
        <p:spPr>
          <a:xfrm>
            <a:off x="1190625" y="3566145"/>
            <a:ext cx="256698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01</a:t>
            </a:r>
            <a:endParaRPr lang="en-US" sz="1800" dirty="0"/>
          </a:p>
        </p:txBody>
      </p:sp>
      <p:sp>
        <p:nvSpPr>
          <p:cNvPr id="7" name="Text 5"/>
          <p:cNvSpPr/>
          <p:nvPr/>
        </p:nvSpPr>
        <p:spPr>
          <a:xfrm>
            <a:off x="1190625" y="3975720"/>
            <a:ext cx="2409825" cy="681930"/>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00B33"/>
                </a:solidFill>
                <a:latin typeface="Arial" pitchFamily="34" charset="0"/>
                <a:ea typeface="Arial" pitchFamily="34" charset="-122"/>
                <a:cs typeface="Arial" pitchFamily="34" charset="-120"/>
              </a:rPr>
              <a:t>Shaped into a FAIR solution</a:t>
            </a:r>
            <a:endParaRPr lang="en-US" sz="1950" dirty="0"/>
          </a:p>
        </p:txBody>
      </p:sp>
      <p:sp>
        <p:nvSpPr>
          <p:cNvPr id="8" name="Text 6"/>
          <p:cNvSpPr/>
          <p:nvPr/>
        </p:nvSpPr>
        <p:spPr>
          <a:xfrm>
            <a:off x="1190625" y="4695751"/>
            <a:ext cx="2409825" cy="20955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65D78"/>
                </a:solidFill>
                <a:latin typeface="Arial" pitchFamily="34" charset="0"/>
                <a:ea typeface="Arial" pitchFamily="34" charset="-122"/>
                <a:cs typeface="Arial" pitchFamily="34" charset="-120"/>
              </a:rPr>
              <a:t>With an innovation hub or AIFOD regional chapter: Setup, Run and Retire modelled, at minimum. Intake: </a:t>
            </a:r>
            <a:pPr algn="l" indent="0" marL="0">
              <a:lnSpc>
                <a:spcPct val="130909"/>
              </a:lnSpc>
              <a:buNone/>
            </a:pPr>
            <a:r>
              <a:rPr lang="en-US" sz="1800" dirty="0">
                <a:solidFill>
                  <a:srgbClr val="E21E51"/>
                </a:solidFill>
                <a:latin typeface="Courier New" pitchFamily="34" charset="0"/>
                <a:ea typeface="Courier New" pitchFamily="34" charset="-122"/>
                <a:cs typeface="Courier New" pitchFamily="34" charset="-120"/>
              </a:rPr>
              <a:t>af.net/fair</a:t>
            </a:r>
            <a:endParaRPr lang="en-US" sz="1800" dirty="0"/>
          </a:p>
        </p:txBody>
      </p:sp>
      <p:sp>
        <p:nvSpPr>
          <p:cNvPr id="9" name="Shape 7"/>
          <p:cNvSpPr/>
          <p:nvPr/>
        </p:nvSpPr>
        <p:spPr>
          <a:xfrm>
            <a:off x="3714750" y="3508995"/>
            <a:ext cx="28575" cy="3301305"/>
          </a:xfrm>
          <a:prstGeom prst="rect">
            <a:avLst/>
          </a:prstGeom>
          <a:solidFill>
            <a:srgbClr val="E21E51"/>
          </a:solidFill>
          <a:ln/>
        </p:spPr>
      </p:sp>
      <p:sp>
        <p:nvSpPr>
          <p:cNvPr id="10" name="Text 8"/>
          <p:cNvSpPr/>
          <p:nvPr/>
        </p:nvSpPr>
        <p:spPr>
          <a:xfrm>
            <a:off x="3952875" y="3566145"/>
            <a:ext cx="256698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02</a:t>
            </a:r>
            <a:endParaRPr lang="en-US" sz="1800" dirty="0"/>
          </a:p>
        </p:txBody>
      </p:sp>
      <p:sp>
        <p:nvSpPr>
          <p:cNvPr id="11" name="Text 9"/>
          <p:cNvSpPr/>
          <p:nvPr/>
        </p:nvSpPr>
        <p:spPr>
          <a:xfrm>
            <a:off x="3952875" y="3975720"/>
            <a:ext cx="2566988"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00B33"/>
                </a:solidFill>
                <a:latin typeface="Arial" pitchFamily="34" charset="0"/>
                <a:ea typeface="Arial" pitchFamily="34" charset="-122"/>
                <a:cs typeface="Arial" pitchFamily="34" charset="-120"/>
              </a:rPr>
              <a:t>Passes the gate</a:t>
            </a:r>
            <a:endParaRPr lang="en-US" sz="1950" dirty="0"/>
          </a:p>
        </p:txBody>
      </p:sp>
      <p:sp>
        <p:nvSpPr>
          <p:cNvPr id="12" name="Text 10"/>
          <p:cNvSpPr/>
          <p:nvPr/>
        </p:nvSpPr>
        <p:spPr>
          <a:xfrm>
            <a:off x="3952875" y="4373835"/>
            <a:ext cx="2409825" cy="17526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65D78"/>
                </a:solidFill>
                <a:latin typeface="Arial" pitchFamily="34" charset="0"/>
                <a:ea typeface="Arial" pitchFamily="34" charset="-122"/>
                <a:cs typeface="Arial" pitchFamily="34" charset="-120"/>
              </a:rPr>
              <a:t>Process maturity plus technical readiness level 6 — only then can the solution enter review.</a:t>
            </a:r>
            <a:endParaRPr lang="en-US" sz="1800" dirty="0"/>
          </a:p>
        </p:txBody>
      </p:sp>
      <p:sp>
        <p:nvSpPr>
          <p:cNvPr id="13" name="Shape 11"/>
          <p:cNvSpPr/>
          <p:nvPr/>
        </p:nvSpPr>
        <p:spPr>
          <a:xfrm>
            <a:off x="6477000" y="3508995"/>
            <a:ext cx="28575" cy="3301305"/>
          </a:xfrm>
          <a:prstGeom prst="rect">
            <a:avLst/>
          </a:prstGeom>
          <a:solidFill>
            <a:srgbClr val="E21E51"/>
          </a:solidFill>
          <a:ln/>
        </p:spPr>
      </p:sp>
      <p:sp>
        <p:nvSpPr>
          <p:cNvPr id="14" name="Text 12"/>
          <p:cNvSpPr/>
          <p:nvPr/>
        </p:nvSpPr>
        <p:spPr>
          <a:xfrm>
            <a:off x="6715125" y="3566145"/>
            <a:ext cx="256698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03</a:t>
            </a:r>
            <a:endParaRPr lang="en-US" sz="1800" dirty="0"/>
          </a:p>
        </p:txBody>
      </p:sp>
      <p:sp>
        <p:nvSpPr>
          <p:cNvPr id="15" name="Text 13"/>
          <p:cNvSpPr/>
          <p:nvPr/>
        </p:nvSpPr>
        <p:spPr>
          <a:xfrm>
            <a:off x="6715125" y="3975720"/>
            <a:ext cx="2566988" cy="360015"/>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00B33"/>
                </a:solidFill>
                <a:latin typeface="Arial" pitchFamily="34" charset="0"/>
                <a:ea typeface="Arial" pitchFamily="34" charset="-122"/>
                <a:cs typeface="Arial" pitchFamily="34" charset="-120"/>
              </a:rPr>
              <a:t>Scored &amp; mapped</a:t>
            </a:r>
            <a:endParaRPr lang="en-US" sz="1950" dirty="0"/>
          </a:p>
        </p:txBody>
      </p:sp>
      <p:sp>
        <p:nvSpPr>
          <p:cNvPr id="16" name="Text 14"/>
          <p:cNvSpPr/>
          <p:nvPr/>
        </p:nvSpPr>
        <p:spPr>
          <a:xfrm>
            <a:off x="6715125" y="4373835"/>
            <a:ext cx="2409825" cy="17526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65D78"/>
                </a:solidFill>
                <a:latin typeface="Arial" pitchFamily="34" charset="0"/>
                <a:ea typeface="Arial" pitchFamily="34" charset="-122"/>
                <a:cs typeface="Arial" pitchFamily="34" charset="-120"/>
              </a:rPr>
              <a:t>The sectorial IRB runs FAIR scoring and capability mapping against the Agriculture graph.</a:t>
            </a:r>
            <a:endParaRPr lang="en-US" sz="1800" dirty="0"/>
          </a:p>
        </p:txBody>
      </p:sp>
      <p:sp>
        <p:nvSpPr>
          <p:cNvPr id="17" name="Shape 15"/>
          <p:cNvSpPr/>
          <p:nvPr/>
        </p:nvSpPr>
        <p:spPr>
          <a:xfrm>
            <a:off x="9239250" y="3508995"/>
            <a:ext cx="28575" cy="3301305"/>
          </a:xfrm>
          <a:prstGeom prst="rect">
            <a:avLst/>
          </a:prstGeom>
          <a:solidFill>
            <a:srgbClr val="E21E51"/>
          </a:solidFill>
          <a:ln/>
        </p:spPr>
      </p:sp>
      <p:sp>
        <p:nvSpPr>
          <p:cNvPr id="18" name="Text 16"/>
          <p:cNvSpPr/>
          <p:nvPr/>
        </p:nvSpPr>
        <p:spPr>
          <a:xfrm>
            <a:off x="9477375" y="3566145"/>
            <a:ext cx="256698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04</a:t>
            </a:r>
            <a:endParaRPr lang="en-US" sz="1800" dirty="0"/>
          </a:p>
        </p:txBody>
      </p:sp>
      <p:sp>
        <p:nvSpPr>
          <p:cNvPr id="19" name="Text 17"/>
          <p:cNvSpPr/>
          <p:nvPr/>
        </p:nvSpPr>
        <p:spPr>
          <a:xfrm>
            <a:off x="9477375" y="3975720"/>
            <a:ext cx="2409825" cy="681930"/>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00B33"/>
                </a:solidFill>
                <a:latin typeface="Arial" pitchFamily="34" charset="0"/>
                <a:ea typeface="Arial" pitchFamily="34" charset="-122"/>
                <a:cs typeface="Arial" pitchFamily="34" charset="-120"/>
              </a:rPr>
              <a:t>Anchored on Cardano</a:t>
            </a:r>
            <a:endParaRPr lang="en-US" sz="1950" dirty="0"/>
          </a:p>
        </p:txBody>
      </p:sp>
      <p:sp>
        <p:nvSpPr>
          <p:cNvPr id="20" name="Text 18"/>
          <p:cNvSpPr/>
          <p:nvPr/>
        </p:nvSpPr>
        <p:spPr>
          <a:xfrm>
            <a:off x="9477375" y="4695751"/>
            <a:ext cx="2409825" cy="20955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65D78"/>
                </a:solidFill>
                <a:latin typeface="Arial" pitchFamily="34" charset="0"/>
                <a:ea typeface="Arial" pitchFamily="34" charset="-122"/>
                <a:cs typeface="Arial" pitchFamily="34" charset="-120"/>
              </a:rPr>
              <a:t>Immutable authorship; royalty shares locked in escrows — defined once, for the whole chain.</a:t>
            </a:r>
            <a:endParaRPr lang="en-US" sz="1800" dirty="0"/>
          </a:p>
        </p:txBody>
      </p:sp>
      <p:sp>
        <p:nvSpPr>
          <p:cNvPr id="21" name="Shape 19"/>
          <p:cNvSpPr/>
          <p:nvPr/>
        </p:nvSpPr>
        <p:spPr>
          <a:xfrm>
            <a:off x="12001500" y="3508995"/>
            <a:ext cx="28575" cy="3301305"/>
          </a:xfrm>
          <a:prstGeom prst="rect">
            <a:avLst/>
          </a:prstGeom>
          <a:solidFill>
            <a:srgbClr val="E21E51"/>
          </a:solidFill>
          <a:ln/>
        </p:spPr>
      </p:sp>
      <p:sp>
        <p:nvSpPr>
          <p:cNvPr id="22" name="Text 20"/>
          <p:cNvSpPr/>
          <p:nvPr/>
        </p:nvSpPr>
        <p:spPr>
          <a:xfrm>
            <a:off x="12239625" y="3566145"/>
            <a:ext cx="256698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05</a:t>
            </a:r>
            <a:endParaRPr lang="en-US" sz="1800" dirty="0"/>
          </a:p>
        </p:txBody>
      </p:sp>
      <p:sp>
        <p:nvSpPr>
          <p:cNvPr id="23" name="Text 21"/>
          <p:cNvSpPr/>
          <p:nvPr/>
        </p:nvSpPr>
        <p:spPr>
          <a:xfrm>
            <a:off x="12239625" y="3975720"/>
            <a:ext cx="2409825" cy="681930"/>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00B33"/>
                </a:solidFill>
                <a:latin typeface="Arial" pitchFamily="34" charset="0"/>
                <a:ea typeface="Arial" pitchFamily="34" charset="-122"/>
                <a:cs typeface="Arial" pitchFamily="34" charset="-120"/>
              </a:rPr>
              <a:t>Published on the UCX</a:t>
            </a:r>
            <a:endParaRPr lang="en-US" sz="1950" dirty="0"/>
          </a:p>
        </p:txBody>
      </p:sp>
      <p:sp>
        <p:nvSpPr>
          <p:cNvPr id="24" name="Text 22"/>
          <p:cNvSpPr/>
          <p:nvPr/>
        </p:nvSpPr>
        <p:spPr>
          <a:xfrm>
            <a:off x="12239625" y="4695751"/>
            <a:ext cx="2409825" cy="17526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65D78"/>
                </a:solidFill>
                <a:latin typeface="Arial" pitchFamily="34" charset="0"/>
                <a:ea typeface="Arial" pitchFamily="34" charset="-122"/>
                <a:cs typeface="Arial" pitchFamily="34" charset="-120"/>
              </a:rPr>
              <a:t>Reference implementation, discoverable by need — forkable with lineage, worldwide.</a:t>
            </a:r>
            <a:endParaRPr lang="en-US" sz="1800" dirty="0"/>
          </a:p>
        </p:txBody>
      </p:sp>
      <p:sp>
        <p:nvSpPr>
          <p:cNvPr id="25" name="Shape 23"/>
          <p:cNvSpPr/>
          <p:nvPr/>
        </p:nvSpPr>
        <p:spPr>
          <a:xfrm>
            <a:off x="14763750" y="3508995"/>
            <a:ext cx="2571750" cy="3301305"/>
          </a:xfrm>
          <a:prstGeom prst="rect">
            <a:avLst/>
          </a:prstGeom>
          <a:solidFill>
            <a:srgbClr val="FEF2F5"/>
          </a:solidFill>
          <a:ln/>
        </p:spPr>
      </p:sp>
      <p:sp>
        <p:nvSpPr>
          <p:cNvPr id="26" name="Shape 24"/>
          <p:cNvSpPr/>
          <p:nvPr/>
        </p:nvSpPr>
        <p:spPr>
          <a:xfrm>
            <a:off x="14763750" y="3508995"/>
            <a:ext cx="28575" cy="3301305"/>
          </a:xfrm>
          <a:prstGeom prst="rect">
            <a:avLst/>
          </a:prstGeom>
          <a:solidFill>
            <a:srgbClr val="000B33"/>
          </a:solidFill>
          <a:ln/>
        </p:spPr>
      </p:sp>
      <p:sp>
        <p:nvSpPr>
          <p:cNvPr id="27" name="Text 25"/>
          <p:cNvSpPr/>
          <p:nvPr/>
        </p:nvSpPr>
        <p:spPr>
          <a:xfrm>
            <a:off x="15001875" y="3566145"/>
            <a:ext cx="2566988"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06</a:t>
            </a:r>
            <a:endParaRPr lang="en-US" sz="1800" dirty="0"/>
          </a:p>
        </p:txBody>
      </p:sp>
      <p:sp>
        <p:nvSpPr>
          <p:cNvPr id="28" name="Text 26"/>
          <p:cNvSpPr/>
          <p:nvPr/>
        </p:nvSpPr>
        <p:spPr>
          <a:xfrm>
            <a:off x="15001875" y="3975720"/>
            <a:ext cx="2409825" cy="681930"/>
          </a:xfrm>
          <a:prstGeom prst="rect">
            <a:avLst/>
          </a:prstGeom>
          <a:noFill/>
          <a:ln/>
        </p:spPr>
        <p:txBody>
          <a:bodyPr wrap="square" lIns="25400" tIns="25400" rIns="25400" bIns="25400" rtlCol="0" anchor="t">
            <a:normAutofit/>
          </a:bodyPr>
          <a:lstStyle/>
          <a:p>
            <a:pPr algn="l" indent="0" marL="0">
              <a:lnSpc>
                <a:spcPct val="112667"/>
              </a:lnSpc>
              <a:buNone/>
            </a:pPr>
            <a:r>
              <a:rPr lang="en-US" sz="1950" b="1" dirty="0">
                <a:solidFill>
                  <a:srgbClr val="000B33"/>
                </a:solidFill>
                <a:latin typeface="Arial" pitchFamily="34" charset="0"/>
                <a:ea typeface="Arial" pitchFamily="34" charset="-122"/>
                <a:cs typeface="Arial" pitchFamily="34" charset="-120"/>
              </a:rPr>
              <a:t>Escrow triggers on Setup</a:t>
            </a:r>
            <a:endParaRPr lang="en-US" sz="1950" dirty="0"/>
          </a:p>
        </p:txBody>
      </p:sp>
      <p:sp>
        <p:nvSpPr>
          <p:cNvPr id="29" name="Text 27"/>
          <p:cNvSpPr/>
          <p:nvPr/>
        </p:nvSpPr>
        <p:spPr>
          <a:xfrm>
            <a:off x="15001875" y="4695751"/>
            <a:ext cx="2409825" cy="20955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65D78"/>
                </a:solidFill>
                <a:latin typeface="Arial" pitchFamily="34" charset="0"/>
                <a:ea typeface="Arial" pitchFamily="34" charset="-122"/>
                <a:cs typeface="Arial" pitchFamily="34" charset="-120"/>
              </a:rPr>
              <a:t>Each successfully completed Setup releases the escrow — royalties flow along the contribution chain, back to Kenya.</a:t>
            </a:r>
            <a:endParaRPr lang="en-US" sz="1800" dirty="0"/>
          </a:p>
        </p:txBody>
      </p:sp>
      <p:sp>
        <p:nvSpPr>
          <p:cNvPr id="30" name="Shape 28"/>
          <p:cNvSpPr/>
          <p:nvPr/>
        </p:nvSpPr>
        <p:spPr>
          <a:xfrm>
            <a:off x="952500" y="9115425"/>
            <a:ext cx="16383000" cy="19050"/>
          </a:xfrm>
          <a:prstGeom prst="rect">
            <a:avLst/>
          </a:prstGeom>
          <a:solidFill>
            <a:srgbClr val="000B33"/>
          </a:solidFill>
          <a:ln/>
        </p:spPr>
      </p:sp>
      <p:sp>
        <p:nvSpPr>
          <p:cNvPr id="31" name="Text 29"/>
          <p:cNvSpPr/>
          <p:nvPr/>
        </p:nvSpPr>
        <p:spPr>
          <a:xfrm>
            <a:off x="952500" y="9401175"/>
            <a:ext cx="16874490" cy="352425"/>
          </a:xfrm>
          <a:prstGeom prst="rect">
            <a:avLst/>
          </a:prstGeom>
          <a:noFill/>
          <a:ln/>
        </p:spPr>
        <p:txBody>
          <a:bodyPr wrap="square" lIns="25400" tIns="25400" rIns="25400" bIns="25400" rtlCol="0" anchor="t">
            <a:normAutofit/>
          </a:bodyPr>
          <a:lstStyle/>
          <a:p>
            <a:pPr algn="l" indent="0" marL="0">
              <a:buNone/>
            </a:pPr>
            <a:r>
              <a:rPr lang="en-US" sz="2175" i="1" dirty="0">
                <a:solidFill>
                  <a:srgbClr val="000B33"/>
                </a:solidFill>
                <a:latin typeface="Georgia" pitchFamily="34" charset="0"/>
                <a:ea typeface="Georgia" pitchFamily="34" charset="-122"/>
                <a:cs typeface="Georgia" pitchFamily="34" charset="-120"/>
              </a:rPr>
              <a:t>Value follows evidence — publication earns attribution, a completed Setup earns the royalty.</a:t>
            </a:r>
            <a:endParaRPr lang="en-US" sz="21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5F9"/>
        </a:solidFill>
      </p:bgPr>
    </p:bg>
    <p:spTree>
      <p:nvGrpSpPr>
        <p:cNvPr id="1" name=""/>
        <p:cNvGrpSpPr/>
        <p:nvPr/>
      </p:nvGrpSpPr>
      <p:grpSpPr>
        <a:xfrm>
          <a:off x="0" y="0"/>
          <a:ext cx="0" cy="0"/>
          <a:chOff x="0" y="0"/>
          <a:chExt cx="0" cy="0"/>
        </a:xfrm>
      </p:grpSpPr>
      <p:sp>
        <p:nvSpPr>
          <p:cNvPr id="2" name="Text 0"/>
          <p:cNvSpPr/>
          <p:nvPr/>
        </p:nvSpPr>
        <p:spPr>
          <a:xfrm>
            <a:off x="952500" y="76200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ADOPTING THE NCTB — FIGURE 32</a:t>
            </a:r>
            <a:endParaRPr lang="en-US" sz="1950" dirty="0"/>
          </a:p>
        </p:txBody>
      </p:sp>
      <p:sp>
        <p:nvSpPr>
          <p:cNvPr id="3" name="Text 1"/>
          <p:cNvSpPr/>
          <p:nvPr/>
        </p:nvSpPr>
        <p:spPr>
          <a:xfrm>
            <a:off x="952500" y="1276350"/>
            <a:ext cx="18021300" cy="708645"/>
          </a:xfrm>
          <a:prstGeom prst="rect">
            <a:avLst/>
          </a:prstGeom>
          <a:noFill/>
          <a:ln/>
        </p:spPr>
        <p:txBody>
          <a:bodyPr wrap="square" lIns="25400" tIns="25400" rIns="25400" bIns="25400" rtlCol="0" anchor="t">
            <a:normAutofit/>
          </a:bodyPr>
          <a:lstStyle/>
          <a:p>
            <a:pPr algn="l" indent="0" marL="0">
              <a:lnSpc>
                <a:spcPct val="97103"/>
              </a:lnSpc>
              <a:buNone/>
            </a:pPr>
            <a:r>
              <a:rPr lang="en-US" sz="4800" dirty="0">
                <a:solidFill>
                  <a:srgbClr val="000B33"/>
                </a:solidFill>
                <a:latin typeface="Georgia" pitchFamily="34" charset="0"/>
                <a:ea typeface="Georgia" pitchFamily="34" charset="-122"/>
                <a:cs typeface="Georgia" pitchFamily="34" charset="-120"/>
              </a:rPr>
              <a:t>The Roadmap, and Every Way In</a:t>
            </a:r>
            <a:endParaRPr lang="en-US" sz="4800" dirty="0"/>
          </a:p>
        </p:txBody>
      </p:sp>
      <p:sp>
        <p:nvSpPr>
          <p:cNvPr id="4" name="Shape 2"/>
          <p:cNvSpPr/>
          <p:nvPr/>
        </p:nvSpPr>
        <p:spPr>
          <a:xfrm>
            <a:off x="952500" y="2365995"/>
            <a:ext cx="3981450" cy="2752725"/>
          </a:xfrm>
          <a:prstGeom prst="rect">
            <a:avLst/>
          </a:prstGeom>
          <a:solidFill>
            <a:srgbClr val="FFFFFF"/>
          </a:solidFill>
          <a:ln/>
        </p:spPr>
      </p:sp>
      <p:sp>
        <p:nvSpPr>
          <p:cNvPr id="5" name="Shape 3"/>
          <p:cNvSpPr/>
          <p:nvPr/>
        </p:nvSpPr>
        <p:spPr>
          <a:xfrm>
            <a:off x="952500" y="2365995"/>
            <a:ext cx="3981450" cy="38100"/>
          </a:xfrm>
          <a:prstGeom prst="rect">
            <a:avLst/>
          </a:prstGeom>
          <a:solidFill>
            <a:srgbClr val="FAD9E3"/>
          </a:solidFill>
          <a:ln/>
        </p:spPr>
      </p:sp>
      <p:sp>
        <p:nvSpPr>
          <p:cNvPr id="6" name="Text 4"/>
          <p:cNvSpPr/>
          <p:nvPr/>
        </p:nvSpPr>
        <p:spPr>
          <a:xfrm>
            <a:off x="1219200" y="2651745"/>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PHASE 0 · Convene</a:t>
            </a:r>
            <a:endParaRPr lang="en-US" sz="1800" dirty="0"/>
          </a:p>
        </p:txBody>
      </p:sp>
      <p:sp>
        <p:nvSpPr>
          <p:cNvPr id="7" name="Text 5"/>
          <p:cNvSpPr/>
          <p:nvPr/>
        </p:nvSpPr>
        <p:spPr>
          <a:xfrm>
            <a:off x="1219200" y="3004170"/>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E7590"/>
                </a:solidFill>
                <a:latin typeface="Arial" pitchFamily="34" charset="0"/>
                <a:ea typeface="Arial" pitchFamily="34" charset="-122"/>
                <a:cs typeface="Arial" pitchFamily="34" charset="-120"/>
              </a:rPr>
              <a:t>Geneva Summit, Aug 2026</a:t>
            </a:r>
            <a:endParaRPr lang="en-US" sz="1800" dirty="0"/>
          </a:p>
        </p:txBody>
      </p:sp>
      <p:sp>
        <p:nvSpPr>
          <p:cNvPr id="8" name="Text 6"/>
          <p:cNvSpPr/>
          <p:nvPr/>
        </p:nvSpPr>
        <p:spPr>
          <a:xfrm>
            <a:off x="1219200" y="3413745"/>
            <a:ext cx="3551492" cy="10668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000B33"/>
                </a:solidFill>
                <a:latin typeface="Arial" pitchFamily="34" charset="0"/>
                <a:ea typeface="Arial" pitchFamily="34" charset="-122"/>
                <a:cs typeface="Arial" pitchFamily="34" charset="-120"/>
              </a:rPr>
              <a:t>Framework clause adopted; 3–5 pilot nations selected; charters signed.</a:t>
            </a:r>
            <a:endParaRPr lang="en-US" sz="1800" dirty="0"/>
          </a:p>
        </p:txBody>
      </p:sp>
      <p:sp>
        <p:nvSpPr>
          <p:cNvPr id="9" name="Text 7"/>
          <p:cNvSpPr/>
          <p:nvPr/>
        </p:nvSpPr>
        <p:spPr>
          <a:xfrm>
            <a:off x="1219200" y="4575795"/>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Arial" pitchFamily="34" charset="0"/>
                <a:ea typeface="Arial" pitchFamily="34" charset="-122"/>
                <a:cs typeface="Arial" pitchFamily="34" charset="-120"/>
              </a:rPr>
              <a:t>AIFOD as convener</a:t>
            </a:r>
            <a:endParaRPr lang="en-US" sz="1800" dirty="0"/>
          </a:p>
        </p:txBody>
      </p:sp>
      <p:sp>
        <p:nvSpPr>
          <p:cNvPr id="10" name="Shape 8"/>
          <p:cNvSpPr/>
          <p:nvPr/>
        </p:nvSpPr>
        <p:spPr>
          <a:xfrm>
            <a:off x="5086350" y="2365995"/>
            <a:ext cx="3981450" cy="2752725"/>
          </a:xfrm>
          <a:prstGeom prst="rect">
            <a:avLst/>
          </a:prstGeom>
          <a:solidFill>
            <a:srgbClr val="FFFFFF"/>
          </a:solidFill>
          <a:ln/>
        </p:spPr>
      </p:sp>
      <p:sp>
        <p:nvSpPr>
          <p:cNvPr id="11" name="Shape 9"/>
          <p:cNvSpPr/>
          <p:nvPr/>
        </p:nvSpPr>
        <p:spPr>
          <a:xfrm>
            <a:off x="5086350" y="2365995"/>
            <a:ext cx="3981450" cy="38100"/>
          </a:xfrm>
          <a:prstGeom prst="rect">
            <a:avLst/>
          </a:prstGeom>
          <a:solidFill>
            <a:srgbClr val="F4B2C6"/>
          </a:solidFill>
          <a:ln/>
        </p:spPr>
      </p:sp>
      <p:sp>
        <p:nvSpPr>
          <p:cNvPr id="12" name="Text 10"/>
          <p:cNvSpPr/>
          <p:nvPr/>
        </p:nvSpPr>
        <p:spPr>
          <a:xfrm>
            <a:off x="5353050" y="2651745"/>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PHASE 1 · Foundation</a:t>
            </a:r>
            <a:endParaRPr lang="en-US" sz="1800" dirty="0"/>
          </a:p>
        </p:txBody>
      </p:sp>
      <p:sp>
        <p:nvSpPr>
          <p:cNvPr id="13" name="Text 11"/>
          <p:cNvSpPr/>
          <p:nvPr/>
        </p:nvSpPr>
        <p:spPr>
          <a:xfrm>
            <a:off x="5353050" y="3004170"/>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E7590"/>
                </a:solidFill>
                <a:latin typeface="Arial" pitchFamily="34" charset="0"/>
                <a:ea typeface="Arial" pitchFamily="34" charset="-122"/>
                <a:cs typeface="Arial" pitchFamily="34" charset="-120"/>
              </a:rPr>
              <a:t>Sep–Dec 2026</a:t>
            </a:r>
            <a:endParaRPr lang="en-US" sz="1800" dirty="0"/>
          </a:p>
        </p:txBody>
      </p:sp>
      <p:sp>
        <p:nvSpPr>
          <p:cNvPr id="14" name="Text 12"/>
          <p:cNvSpPr/>
          <p:nvPr/>
        </p:nvSpPr>
        <p:spPr>
          <a:xfrm>
            <a:off x="5353050" y="3413745"/>
            <a:ext cx="3551492" cy="10668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000B33"/>
                </a:solidFill>
                <a:latin typeface="Arial" pitchFamily="34" charset="0"/>
                <a:ea typeface="Arial" pitchFamily="34" charset="-122"/>
                <a:cs typeface="Arial" pitchFamily="34" charset="-120"/>
              </a:rPr>
              <a:t>AS-IS assessments, national catalog forks seeded, first engineers certified.</a:t>
            </a:r>
            <a:endParaRPr lang="en-US" sz="1800" dirty="0"/>
          </a:p>
        </p:txBody>
      </p:sp>
      <p:sp>
        <p:nvSpPr>
          <p:cNvPr id="15" name="Text 13"/>
          <p:cNvSpPr/>
          <p:nvPr/>
        </p:nvSpPr>
        <p:spPr>
          <a:xfrm>
            <a:off x="5353050" y="4575795"/>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Arial" pitchFamily="34" charset="0"/>
                <a:ea typeface="Arial" pitchFamily="34" charset="-122"/>
                <a:cs typeface="Arial" pitchFamily="34" charset="-120"/>
              </a:rPr>
              <a:t>AIFOD as method steward</a:t>
            </a:r>
            <a:endParaRPr lang="en-US" sz="1800" dirty="0"/>
          </a:p>
        </p:txBody>
      </p:sp>
      <p:sp>
        <p:nvSpPr>
          <p:cNvPr id="16" name="Shape 14"/>
          <p:cNvSpPr/>
          <p:nvPr/>
        </p:nvSpPr>
        <p:spPr>
          <a:xfrm>
            <a:off x="9220200" y="2365995"/>
            <a:ext cx="3981450" cy="2752725"/>
          </a:xfrm>
          <a:prstGeom prst="rect">
            <a:avLst/>
          </a:prstGeom>
          <a:solidFill>
            <a:srgbClr val="FFFFFF"/>
          </a:solidFill>
          <a:ln/>
        </p:spPr>
      </p:sp>
      <p:sp>
        <p:nvSpPr>
          <p:cNvPr id="17" name="Shape 15"/>
          <p:cNvSpPr/>
          <p:nvPr/>
        </p:nvSpPr>
        <p:spPr>
          <a:xfrm>
            <a:off x="9220200" y="2365995"/>
            <a:ext cx="3981450" cy="38100"/>
          </a:xfrm>
          <a:prstGeom prst="rect">
            <a:avLst/>
          </a:prstGeom>
          <a:solidFill>
            <a:srgbClr val="E8628A"/>
          </a:solidFill>
          <a:ln/>
        </p:spPr>
      </p:sp>
      <p:sp>
        <p:nvSpPr>
          <p:cNvPr id="18" name="Text 16"/>
          <p:cNvSpPr/>
          <p:nvPr/>
        </p:nvSpPr>
        <p:spPr>
          <a:xfrm>
            <a:off x="9486900" y="2651745"/>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PHASE 2 · Transfer</a:t>
            </a:r>
            <a:endParaRPr lang="en-US" sz="1800" dirty="0"/>
          </a:p>
        </p:txBody>
      </p:sp>
      <p:sp>
        <p:nvSpPr>
          <p:cNvPr id="19" name="Text 17"/>
          <p:cNvSpPr/>
          <p:nvPr/>
        </p:nvSpPr>
        <p:spPr>
          <a:xfrm>
            <a:off x="9486900" y="3004170"/>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E7590"/>
                </a:solidFill>
                <a:latin typeface="Arial" pitchFamily="34" charset="0"/>
                <a:ea typeface="Arial" pitchFamily="34" charset="-122"/>
                <a:cs typeface="Arial" pitchFamily="34" charset="-120"/>
              </a:rPr>
              <a:t>H1 2027</a:t>
            </a:r>
            <a:endParaRPr lang="en-US" sz="1800" dirty="0"/>
          </a:p>
        </p:txBody>
      </p:sp>
      <p:sp>
        <p:nvSpPr>
          <p:cNvPr id="20" name="Text 18"/>
          <p:cNvSpPr/>
          <p:nvPr/>
        </p:nvSpPr>
        <p:spPr>
          <a:xfrm>
            <a:off x="9486900" y="3413745"/>
            <a:ext cx="3551492" cy="10668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000B33"/>
                </a:solidFill>
                <a:latin typeface="Arial" pitchFamily="34" charset="0"/>
                <a:ea typeface="Arial" pitchFamily="34" charset="-122"/>
                <a:cs typeface="Arial" pitchFamily="34" charset="-120"/>
              </a:rPr>
              <a:t>First cross-pilot transfers: fork → localise → validate, with university verification.</a:t>
            </a:r>
            <a:endParaRPr lang="en-US" sz="1800" dirty="0"/>
          </a:p>
        </p:txBody>
      </p:sp>
      <p:sp>
        <p:nvSpPr>
          <p:cNvPr id="21" name="Text 19"/>
          <p:cNvSpPr/>
          <p:nvPr/>
        </p:nvSpPr>
        <p:spPr>
          <a:xfrm>
            <a:off x="9486900" y="4575795"/>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Arial" pitchFamily="34" charset="0"/>
                <a:ea typeface="Arial" pitchFamily="34" charset="-122"/>
                <a:cs typeface="Arial" pitchFamily="34" charset="-120"/>
              </a:rPr>
              <a:t>AIFOD as registry steward</a:t>
            </a:r>
            <a:endParaRPr lang="en-US" sz="1800" dirty="0"/>
          </a:p>
        </p:txBody>
      </p:sp>
      <p:sp>
        <p:nvSpPr>
          <p:cNvPr id="22" name="Shape 20"/>
          <p:cNvSpPr/>
          <p:nvPr/>
        </p:nvSpPr>
        <p:spPr>
          <a:xfrm>
            <a:off x="13354050" y="2365995"/>
            <a:ext cx="3981450" cy="2752725"/>
          </a:xfrm>
          <a:prstGeom prst="rect">
            <a:avLst/>
          </a:prstGeom>
          <a:solidFill>
            <a:srgbClr val="FEF2F5"/>
          </a:solidFill>
          <a:ln/>
        </p:spPr>
      </p:sp>
      <p:sp>
        <p:nvSpPr>
          <p:cNvPr id="23" name="Shape 21"/>
          <p:cNvSpPr/>
          <p:nvPr/>
        </p:nvSpPr>
        <p:spPr>
          <a:xfrm>
            <a:off x="13354050" y="2365995"/>
            <a:ext cx="3981450" cy="38100"/>
          </a:xfrm>
          <a:prstGeom prst="rect">
            <a:avLst/>
          </a:prstGeom>
          <a:solidFill>
            <a:srgbClr val="E21E51"/>
          </a:solidFill>
          <a:ln/>
        </p:spPr>
      </p:sp>
      <p:sp>
        <p:nvSpPr>
          <p:cNvPr id="24" name="Text 22"/>
          <p:cNvSpPr/>
          <p:nvPr/>
        </p:nvSpPr>
        <p:spPr>
          <a:xfrm>
            <a:off x="13620750" y="2651745"/>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PHASE 3 · Consolidate</a:t>
            </a:r>
            <a:endParaRPr lang="en-US" sz="1800" dirty="0"/>
          </a:p>
        </p:txBody>
      </p:sp>
      <p:sp>
        <p:nvSpPr>
          <p:cNvPr id="25" name="Text 23"/>
          <p:cNvSpPr/>
          <p:nvPr/>
        </p:nvSpPr>
        <p:spPr>
          <a:xfrm>
            <a:off x="13620750" y="3004170"/>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E7590"/>
                </a:solidFill>
                <a:latin typeface="Arial" pitchFamily="34" charset="0"/>
                <a:ea typeface="Arial" pitchFamily="34" charset="-122"/>
                <a:cs typeface="Arial" pitchFamily="34" charset="-120"/>
              </a:rPr>
              <a:t>Nairobi Summit 2027</a:t>
            </a:r>
            <a:endParaRPr lang="en-US" sz="1800" dirty="0"/>
          </a:p>
        </p:txBody>
      </p:sp>
      <p:sp>
        <p:nvSpPr>
          <p:cNvPr id="26" name="Text 24"/>
          <p:cNvSpPr/>
          <p:nvPr/>
        </p:nvSpPr>
        <p:spPr>
          <a:xfrm>
            <a:off x="13620750" y="3413745"/>
            <a:ext cx="3551492" cy="10668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000B33"/>
                </a:solidFill>
                <a:latin typeface="Arial" pitchFamily="34" charset="0"/>
                <a:ea typeface="Arial" pitchFamily="34" charset="-122"/>
                <a:cs typeface="Arial" pitchFamily="34" charset="-120"/>
              </a:rPr>
              <a:t>Pilot evidence enters the IRB report; certification pathway decided; cohort 2 launched.</a:t>
            </a:r>
            <a:endParaRPr lang="en-US" sz="1800" dirty="0"/>
          </a:p>
        </p:txBody>
      </p:sp>
      <p:sp>
        <p:nvSpPr>
          <p:cNvPr id="27" name="Text 25"/>
          <p:cNvSpPr/>
          <p:nvPr/>
        </p:nvSpPr>
        <p:spPr>
          <a:xfrm>
            <a:off x="13620750" y="4575795"/>
            <a:ext cx="379285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Arial" pitchFamily="34" charset="0"/>
                <a:ea typeface="Arial" pitchFamily="34" charset="-122"/>
                <a:cs typeface="Arial" pitchFamily="34" charset="-120"/>
              </a:rPr>
              <a:t>AIFOD as reviewer</a:t>
            </a:r>
            <a:endParaRPr lang="en-US" sz="1800" dirty="0"/>
          </a:p>
        </p:txBody>
      </p:sp>
      <p:sp>
        <p:nvSpPr>
          <p:cNvPr id="28" name="Text 26"/>
          <p:cNvSpPr/>
          <p:nvPr/>
        </p:nvSpPr>
        <p:spPr>
          <a:xfrm>
            <a:off x="952500" y="5499720"/>
            <a:ext cx="18021300" cy="323850"/>
          </a:xfrm>
          <a:prstGeom prst="rect">
            <a:avLst/>
          </a:prstGeom>
          <a:noFill/>
          <a:ln/>
        </p:spPr>
        <p:txBody>
          <a:bodyPr wrap="square" lIns="25400" tIns="25400" rIns="25400" bIns="25400" rtlCol="0" anchor="t">
            <a:normAutofit/>
          </a:bodyPr>
          <a:lstStyle/>
          <a:p>
            <a:pPr algn="l" indent="0" marL="0">
              <a:buNone/>
            </a:pPr>
            <a:r>
              <a:rPr lang="en-US" sz="1950" b="1" spc="195" kern="0" dirty="0">
                <a:solidFill>
                  <a:srgbClr val="6E7590"/>
                </a:solidFill>
                <a:latin typeface="Arial" pitchFamily="34" charset="0"/>
                <a:ea typeface="Arial" pitchFamily="34" charset="-122"/>
                <a:cs typeface="Arial" pitchFamily="34" charset="-120"/>
              </a:rPr>
              <a:t>EVERY WAY IN — PICK YOUR DOOR</a:t>
            </a:r>
            <a:endParaRPr lang="en-US" sz="1950" dirty="0"/>
          </a:p>
        </p:txBody>
      </p:sp>
      <p:sp>
        <p:nvSpPr>
          <p:cNvPr id="29" name="Shape 27"/>
          <p:cNvSpPr/>
          <p:nvPr/>
        </p:nvSpPr>
        <p:spPr>
          <a:xfrm>
            <a:off x="952500" y="5975970"/>
            <a:ext cx="5359375" cy="1782961"/>
          </a:xfrm>
          <a:prstGeom prst="rect">
            <a:avLst/>
          </a:prstGeom>
          <a:solidFill>
            <a:srgbClr val="FFFFFF"/>
          </a:solidFill>
          <a:ln/>
        </p:spPr>
      </p:sp>
      <p:sp>
        <p:nvSpPr>
          <p:cNvPr id="30" name="Text 28"/>
          <p:cNvSpPr/>
          <p:nvPr/>
        </p:nvSpPr>
        <p:spPr>
          <a:xfrm>
            <a:off x="1219200" y="6218858"/>
            <a:ext cx="1036365"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Nations</a:t>
            </a:r>
            <a:endParaRPr lang="en-US" sz="1800" dirty="0"/>
          </a:p>
        </p:txBody>
      </p:sp>
      <p:sp>
        <p:nvSpPr>
          <p:cNvPr id="31" name="Text 29"/>
          <p:cNvSpPr/>
          <p:nvPr/>
        </p:nvSpPr>
        <p:spPr>
          <a:xfrm>
            <a:off x="2369865" y="6204570"/>
            <a:ext cx="3785570" cy="103242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Join the pilot cohort — or fork the Blueprint independently; the chain keeps you comparable.</a:t>
            </a:r>
            <a:endParaRPr lang="en-US" sz="1800" dirty="0"/>
          </a:p>
        </p:txBody>
      </p:sp>
      <p:sp>
        <p:nvSpPr>
          <p:cNvPr id="32" name="Shape 30"/>
          <p:cNvSpPr/>
          <p:nvPr/>
        </p:nvSpPr>
        <p:spPr>
          <a:xfrm>
            <a:off x="6464275" y="5975970"/>
            <a:ext cx="5359375" cy="1782961"/>
          </a:xfrm>
          <a:prstGeom prst="rect">
            <a:avLst/>
          </a:prstGeom>
          <a:solidFill>
            <a:srgbClr val="FFFFFF"/>
          </a:solidFill>
          <a:ln/>
        </p:spPr>
      </p:sp>
      <p:sp>
        <p:nvSpPr>
          <p:cNvPr id="33" name="Text 31"/>
          <p:cNvSpPr/>
          <p:nvPr/>
        </p:nvSpPr>
        <p:spPr>
          <a:xfrm>
            <a:off x="6730975" y="6218858"/>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Sector IRBs</a:t>
            </a:r>
            <a:endParaRPr lang="en-US" sz="1800" dirty="0"/>
          </a:p>
        </p:txBody>
      </p:sp>
      <p:sp>
        <p:nvSpPr>
          <p:cNvPr id="34" name="Text 32"/>
          <p:cNvSpPr/>
          <p:nvPr/>
        </p:nvSpPr>
        <p:spPr>
          <a:xfrm>
            <a:off x="8430295" y="6204570"/>
            <a:ext cx="3220455" cy="136386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Design your sector graph in the shared ontology; contribute to enabling and foundational.</a:t>
            </a:r>
            <a:endParaRPr lang="en-US" sz="1800" dirty="0"/>
          </a:p>
        </p:txBody>
      </p:sp>
      <p:sp>
        <p:nvSpPr>
          <p:cNvPr id="35" name="Shape 33"/>
          <p:cNvSpPr/>
          <p:nvPr/>
        </p:nvSpPr>
        <p:spPr>
          <a:xfrm>
            <a:off x="11976050" y="5975970"/>
            <a:ext cx="5359450" cy="1782961"/>
          </a:xfrm>
          <a:prstGeom prst="rect">
            <a:avLst/>
          </a:prstGeom>
          <a:solidFill>
            <a:srgbClr val="FFFFFF"/>
          </a:solidFill>
          <a:ln/>
        </p:spPr>
      </p:sp>
      <p:sp>
        <p:nvSpPr>
          <p:cNvPr id="36" name="Text 34"/>
          <p:cNvSpPr/>
          <p:nvPr/>
        </p:nvSpPr>
        <p:spPr>
          <a:xfrm>
            <a:off x="12242750" y="6218858"/>
            <a:ext cx="286666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Universities &amp; hubs</a:t>
            </a:r>
            <a:endParaRPr lang="en-US" sz="1800" dirty="0"/>
          </a:p>
        </p:txBody>
      </p:sp>
      <p:sp>
        <p:nvSpPr>
          <p:cNvPr id="37" name="Text 35"/>
          <p:cNvSpPr/>
          <p:nvPr/>
        </p:nvSpPr>
        <p:spPr>
          <a:xfrm>
            <a:off x="15039305" y="6204570"/>
            <a:ext cx="2105695" cy="136386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Become a national assurance partner — verify against the shared definitions.</a:t>
            </a:r>
            <a:endParaRPr lang="en-US" sz="1800" dirty="0"/>
          </a:p>
        </p:txBody>
      </p:sp>
      <p:sp>
        <p:nvSpPr>
          <p:cNvPr id="38" name="Shape 36"/>
          <p:cNvSpPr/>
          <p:nvPr/>
        </p:nvSpPr>
        <p:spPr>
          <a:xfrm>
            <a:off x="952500" y="7911331"/>
            <a:ext cx="5359375" cy="2114401"/>
          </a:xfrm>
          <a:prstGeom prst="rect">
            <a:avLst/>
          </a:prstGeom>
          <a:solidFill>
            <a:srgbClr val="FFFFFF"/>
          </a:solidFill>
          <a:ln/>
        </p:spPr>
      </p:sp>
      <p:sp>
        <p:nvSpPr>
          <p:cNvPr id="39" name="Text 37"/>
          <p:cNvSpPr/>
          <p:nvPr/>
        </p:nvSpPr>
        <p:spPr>
          <a:xfrm>
            <a:off x="1219200" y="8154219"/>
            <a:ext cx="150876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Innovators</a:t>
            </a:r>
            <a:endParaRPr lang="en-US" sz="1800" dirty="0"/>
          </a:p>
        </p:txBody>
      </p:sp>
      <p:sp>
        <p:nvSpPr>
          <p:cNvPr id="40" name="Text 38"/>
          <p:cNvSpPr/>
          <p:nvPr/>
        </p:nvSpPr>
        <p:spPr>
          <a:xfrm>
            <a:off x="2781300" y="8139931"/>
            <a:ext cx="3361791" cy="103242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Publish your solution as a full-lifecycle capability; get FAIR-reviewed by your sector IRB.</a:t>
            </a:r>
            <a:endParaRPr lang="en-US" sz="1800" dirty="0"/>
          </a:p>
        </p:txBody>
      </p:sp>
      <p:sp>
        <p:nvSpPr>
          <p:cNvPr id="41" name="Shape 39"/>
          <p:cNvSpPr/>
          <p:nvPr/>
        </p:nvSpPr>
        <p:spPr>
          <a:xfrm>
            <a:off x="6464275" y="7911331"/>
            <a:ext cx="5359375" cy="2114401"/>
          </a:xfrm>
          <a:prstGeom prst="rect">
            <a:avLst/>
          </a:prstGeom>
          <a:solidFill>
            <a:srgbClr val="FFFFFF"/>
          </a:solidFill>
          <a:ln/>
        </p:spPr>
      </p:sp>
      <p:sp>
        <p:nvSpPr>
          <p:cNvPr id="42" name="Text 40"/>
          <p:cNvSpPr/>
          <p:nvPr/>
        </p:nvSpPr>
        <p:spPr>
          <a:xfrm>
            <a:off x="6730975" y="8154219"/>
            <a:ext cx="165970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E21E51"/>
                </a:solidFill>
                <a:latin typeface="Courier New" pitchFamily="34" charset="0"/>
                <a:ea typeface="Courier New" pitchFamily="34" charset="-122"/>
                <a:cs typeface="Courier New" pitchFamily="34" charset="-120"/>
              </a:rPr>
              <a:t>Enterprises</a:t>
            </a:r>
            <a:endParaRPr lang="en-US" sz="1800" dirty="0"/>
          </a:p>
        </p:txBody>
      </p:sp>
      <p:sp>
        <p:nvSpPr>
          <p:cNvPr id="43" name="Text 41"/>
          <p:cNvSpPr/>
          <p:nvPr/>
        </p:nvSpPr>
        <p:spPr>
          <a:xfrm>
            <a:off x="8430295" y="8139931"/>
            <a:ext cx="3220455" cy="103242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Compete on evidence in the seven markets — verified cost, impact and exit terms.</a:t>
            </a:r>
            <a:endParaRPr lang="en-US" sz="1800" dirty="0"/>
          </a:p>
        </p:txBody>
      </p:sp>
      <p:sp>
        <p:nvSpPr>
          <p:cNvPr id="44" name="Shape 42"/>
          <p:cNvSpPr/>
          <p:nvPr/>
        </p:nvSpPr>
        <p:spPr>
          <a:xfrm>
            <a:off x="11976050" y="7911331"/>
            <a:ext cx="5359450" cy="2114401"/>
          </a:xfrm>
          <a:prstGeom prst="rect">
            <a:avLst/>
          </a:prstGeom>
          <a:solidFill>
            <a:srgbClr val="000B33"/>
          </a:solidFill>
          <a:ln/>
        </p:spPr>
      </p:sp>
      <p:sp>
        <p:nvSpPr>
          <p:cNvPr id="45" name="Text 43"/>
          <p:cNvSpPr/>
          <p:nvPr/>
        </p:nvSpPr>
        <p:spPr>
          <a:xfrm>
            <a:off x="12242750" y="8154219"/>
            <a:ext cx="2564941"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Process designers</a:t>
            </a:r>
            <a:endParaRPr lang="en-US" sz="1800" dirty="0"/>
          </a:p>
        </p:txBody>
      </p:sp>
      <p:sp>
        <p:nvSpPr>
          <p:cNvPr id="46" name="Text 44"/>
          <p:cNvSpPr/>
          <p:nvPr/>
        </p:nvSpPr>
        <p:spPr>
          <a:xfrm>
            <a:off x="14765015" y="8139931"/>
            <a:ext cx="2379985" cy="1695301"/>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B4BACC"/>
                </a:solidFill>
                <a:latin typeface="Arial" pitchFamily="34" charset="0"/>
                <a:ea typeface="Arial" pitchFamily="34" charset="-122"/>
                <a:cs typeface="Arial" pitchFamily="34" charset="-120"/>
              </a:rPr>
              <a:t>Shape the governance processes themselves — on the AIFOD instance of ProcesOS: </a:t>
            </a:r>
            <a:pPr algn="l" indent="0" marL="0">
              <a:lnSpc>
                <a:spcPct val="126545"/>
              </a:lnSpc>
              <a:buNone/>
            </a:pPr>
            <a:r>
              <a:rPr lang="en-US" sz="1800" dirty="0">
                <a:solidFill>
                  <a:srgbClr val="FFFFFF"/>
                </a:solidFill>
                <a:latin typeface="Courier New" pitchFamily="34" charset="0"/>
                <a:ea typeface="Courier New" pitchFamily="34" charset="-122"/>
                <a:cs typeface="Courier New" pitchFamily="34" charset="-120"/>
              </a:rPr>
              <a:t>os.af.net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952500" y="671513"/>
            <a:ext cx="1458468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THE OPERATING PROCESS, MODELLED ON PROCESOS</a:t>
            </a:r>
            <a:endParaRPr lang="en-US" sz="1950" dirty="0"/>
          </a:p>
        </p:txBody>
      </p:sp>
      <p:sp>
        <p:nvSpPr>
          <p:cNvPr id="3" name="Text 1"/>
          <p:cNvSpPr/>
          <p:nvPr/>
        </p:nvSpPr>
        <p:spPr>
          <a:xfrm>
            <a:off x="952500" y="1128713"/>
            <a:ext cx="13656564" cy="1253430"/>
          </a:xfrm>
          <a:prstGeom prst="rect">
            <a:avLst/>
          </a:prstGeom>
          <a:noFill/>
          <a:ln/>
        </p:spPr>
        <p:txBody>
          <a:bodyPr wrap="square" lIns="25400" tIns="25400" rIns="25400" bIns="25400" rtlCol="0" anchor="t">
            <a:normAutofit/>
          </a:bodyPr>
          <a:lstStyle/>
          <a:p>
            <a:pPr algn="l" indent="0" marL="0">
              <a:lnSpc>
                <a:spcPct val="97405"/>
              </a:lnSpc>
              <a:buNone/>
            </a:pPr>
            <a:r>
              <a:rPr lang="en-US" sz="4350" dirty="0">
                <a:solidFill>
                  <a:srgbClr val="000B33"/>
                </a:solidFill>
                <a:latin typeface="Georgia" pitchFamily="34" charset="0"/>
                <a:ea typeface="Georgia" pitchFamily="34" charset="-122"/>
                <a:cs typeface="Georgia" pitchFamily="34" charset="-120"/>
              </a:rPr>
              <a:t>NTO Setup &amp; Run — One Pool, Five Accountable Actors</a:t>
            </a:r>
            <a:endParaRPr lang="en-US" sz="4350" dirty="0"/>
          </a:p>
        </p:txBody>
      </p:sp>
      <p:sp>
        <p:nvSpPr>
          <p:cNvPr id="4" name="Text 2"/>
          <p:cNvSpPr/>
          <p:nvPr/>
        </p:nvSpPr>
        <p:spPr>
          <a:xfrm>
            <a:off x="14592300" y="666750"/>
            <a:ext cx="3017520" cy="333375"/>
          </a:xfrm>
          <a:prstGeom prst="rect">
            <a:avLst/>
          </a:prstGeom>
          <a:noFill/>
          <a:ln/>
        </p:spPr>
        <p:txBody>
          <a:bodyPr wrap="none" lIns="25400" tIns="25400" rIns="25400" bIns="25400" rtlCol="0" anchor="t">
            <a:normAutofit/>
          </a:bodyPr>
          <a:lstStyle/>
          <a:p>
            <a:pPr algn="l" indent="0" marL="0">
              <a:buNone/>
            </a:pPr>
            <a:r>
              <a:rPr lang="en-US" sz="1800" dirty="0">
                <a:solidFill>
                  <a:srgbClr val="6E7590"/>
                </a:solidFill>
                <a:latin typeface="Courier New" pitchFamily="34" charset="0"/>
                <a:ea typeface="Courier New" pitchFamily="34" charset="-122"/>
                <a:cs typeface="Courier New" pitchFamily="34" charset="-120"/>
              </a:rPr>
              <a:t>BPMN 2.0 · os.af.net</a:t>
            </a:r>
            <a:endParaRPr lang="en-US" sz="1800" dirty="0"/>
          </a:p>
        </p:txBody>
      </p:sp>
      <p:sp>
        <p:nvSpPr>
          <p:cNvPr id="5" name="Shape 3"/>
          <p:cNvSpPr/>
          <p:nvPr/>
        </p:nvSpPr>
        <p:spPr>
          <a:xfrm>
            <a:off x="952500" y="2534543"/>
            <a:ext cx="16383000" cy="5832277"/>
          </a:xfrm>
          <a:prstGeom prst="rect">
            <a:avLst/>
          </a:prstGeom>
          <a:solidFill>
            <a:srgbClr val="FFFFFF"/>
          </a:solidFill>
          <a:ln w="9525">
            <a:solidFill>
              <a:srgbClr val="D9DCE7"/>
            </a:solidFill>
            <a:prstDash val="solid"/>
          </a:ln>
        </p:spPr>
      </p:sp>
      <p:pic>
        <p:nvPicPr>
          <p:cNvPr id="6" name="Image 0" descr="preencoded.png">    </p:cNvPr>
          <p:cNvPicPr>
            <a:picLocks noChangeAspect="1"/>
          </p:cNvPicPr>
          <p:nvPr/>
        </p:nvPicPr>
        <p:blipFill>
          <a:blip r:embed="rId1"/>
          <a:srcRect l="0" r="0" t="0" b="0"/>
          <a:stretch/>
        </p:blipFill>
        <p:spPr>
          <a:xfrm>
            <a:off x="3090490" y="2696468"/>
            <a:ext cx="12106945" cy="5508352"/>
          </a:xfrm>
          <a:prstGeom prst="rect">
            <a:avLst/>
          </a:prstGeom>
        </p:spPr>
      </p:pic>
      <p:sp>
        <p:nvSpPr>
          <p:cNvPr id="7" name="Shape 4"/>
          <p:cNvSpPr/>
          <p:nvPr/>
        </p:nvSpPr>
        <p:spPr>
          <a:xfrm>
            <a:off x="952500" y="8595420"/>
            <a:ext cx="5283175" cy="28575"/>
          </a:xfrm>
          <a:prstGeom prst="rect">
            <a:avLst/>
          </a:prstGeom>
          <a:solidFill>
            <a:srgbClr val="E21E51"/>
          </a:solidFill>
          <a:ln/>
        </p:spPr>
      </p:sp>
      <p:sp>
        <p:nvSpPr>
          <p:cNvPr id="8" name="Text 5"/>
          <p:cNvSpPr/>
          <p:nvPr/>
        </p:nvSpPr>
        <p:spPr>
          <a:xfrm>
            <a:off x="952500" y="8757345"/>
            <a:ext cx="5811493"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000B33"/>
                </a:solidFill>
                <a:latin typeface="Arial" pitchFamily="34" charset="0"/>
                <a:ea typeface="Arial" pitchFamily="34" charset="-122"/>
                <a:cs typeface="Arial" pitchFamily="34" charset="-120"/>
              </a:rPr>
              <a:t>Phase 1 · Mandate &amp; platform</a:t>
            </a:r>
            <a:endParaRPr lang="en-US" sz="1875" dirty="0"/>
          </a:p>
        </p:txBody>
      </p:sp>
      <p:sp>
        <p:nvSpPr>
          <p:cNvPr id="9" name="Text 6"/>
          <p:cNvSpPr/>
          <p:nvPr/>
        </p:nvSpPr>
        <p:spPr>
          <a:xfrm>
            <a:off x="952500" y="9090720"/>
            <a:ext cx="5441670" cy="70098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NDA hands over the portfolio; DPI unlocked is the precondition for ProcesOS setup.</a:t>
            </a:r>
            <a:endParaRPr lang="en-US" sz="1800" dirty="0"/>
          </a:p>
        </p:txBody>
      </p:sp>
      <p:sp>
        <p:nvSpPr>
          <p:cNvPr id="10" name="Shape 7"/>
          <p:cNvSpPr/>
          <p:nvPr/>
        </p:nvSpPr>
        <p:spPr>
          <a:xfrm>
            <a:off x="6502375" y="8595420"/>
            <a:ext cx="5283175" cy="28575"/>
          </a:xfrm>
          <a:prstGeom prst="rect">
            <a:avLst/>
          </a:prstGeom>
          <a:solidFill>
            <a:srgbClr val="E21E51"/>
          </a:solidFill>
          <a:ln/>
        </p:spPr>
      </p:sp>
      <p:sp>
        <p:nvSpPr>
          <p:cNvPr id="11" name="Text 8"/>
          <p:cNvSpPr/>
          <p:nvPr/>
        </p:nvSpPr>
        <p:spPr>
          <a:xfrm>
            <a:off x="6502375" y="8757345"/>
            <a:ext cx="5811493"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000B33"/>
                </a:solidFill>
                <a:latin typeface="Arial" pitchFamily="34" charset="0"/>
                <a:ea typeface="Arial" pitchFamily="34" charset="-122"/>
                <a:cs typeface="Arial" pitchFamily="34" charset="-120"/>
              </a:rPr>
              <a:t>Phase 2 · Workspaces &amp; curation</a:t>
            </a:r>
            <a:endParaRPr lang="en-US" sz="1875" dirty="0"/>
          </a:p>
        </p:txBody>
      </p:sp>
      <p:sp>
        <p:nvSpPr>
          <p:cNvPr id="12" name="Text 9"/>
          <p:cNvSpPr/>
          <p:nvPr/>
        </p:nvSpPr>
        <p:spPr>
          <a:xfrm>
            <a:off x="6502375" y="9090720"/>
            <a:ext cx="5441670" cy="70098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Curated national graph, independently audited by Assurance — a failed audit loops back.</a:t>
            </a:r>
            <a:endParaRPr lang="en-US" sz="1800" dirty="0"/>
          </a:p>
        </p:txBody>
      </p:sp>
      <p:sp>
        <p:nvSpPr>
          <p:cNvPr id="13" name="Shape 10"/>
          <p:cNvSpPr/>
          <p:nvPr/>
        </p:nvSpPr>
        <p:spPr>
          <a:xfrm>
            <a:off x="12052250" y="8595420"/>
            <a:ext cx="5283250" cy="28575"/>
          </a:xfrm>
          <a:prstGeom prst="rect">
            <a:avLst/>
          </a:prstGeom>
          <a:solidFill>
            <a:srgbClr val="E21E51"/>
          </a:solidFill>
          <a:ln/>
        </p:spPr>
      </p:sp>
      <p:sp>
        <p:nvSpPr>
          <p:cNvPr id="14" name="Text 11"/>
          <p:cNvSpPr/>
          <p:nvPr/>
        </p:nvSpPr>
        <p:spPr>
          <a:xfrm>
            <a:off x="12052250" y="8757345"/>
            <a:ext cx="5811575" cy="314325"/>
          </a:xfrm>
          <a:prstGeom prst="rect">
            <a:avLst/>
          </a:prstGeom>
          <a:noFill/>
          <a:ln/>
        </p:spPr>
        <p:txBody>
          <a:bodyPr wrap="square" lIns="25400" tIns="25400" rIns="25400" bIns="25400" rtlCol="0" anchor="t">
            <a:normAutofit/>
          </a:bodyPr>
          <a:lstStyle/>
          <a:p>
            <a:pPr algn="l" indent="0" marL="0">
              <a:buNone/>
            </a:pPr>
            <a:r>
              <a:rPr lang="en-US" sz="1875" b="1" dirty="0">
                <a:solidFill>
                  <a:srgbClr val="000B33"/>
                </a:solidFill>
                <a:latin typeface="Arial" pitchFamily="34" charset="0"/>
                <a:ea typeface="Arial" pitchFamily="34" charset="-122"/>
                <a:cs typeface="Arial" pitchFamily="34" charset="-120"/>
              </a:rPr>
              <a:t>Phase 3 · Per-capability loop</a:t>
            </a:r>
            <a:endParaRPr lang="en-US" sz="1875" dirty="0"/>
          </a:p>
        </p:txBody>
      </p:sp>
      <p:sp>
        <p:nvSpPr>
          <p:cNvPr id="15" name="Text 12"/>
          <p:cNvSpPr/>
          <p:nvPr/>
        </p:nvSpPr>
        <p:spPr>
          <a:xfrm>
            <a:off x="12052250" y="9090720"/>
            <a:ext cx="5441747" cy="70098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65D78"/>
                </a:solidFill>
                <a:latin typeface="Arial" pitchFamily="34" charset="0"/>
                <a:ea typeface="Arial" pitchFamily="34" charset="-122"/>
                <a:cs typeface="Arial" pitchFamily="34" charset="-120"/>
              </a:rPr>
              <a:t>AS-IS → quantify → validate → SHOULD-BE → vote → SP3 governed funding.</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0B33"/>
        </a:solidFill>
      </p:bgPr>
    </p:bg>
    <p:spTree>
      <p:nvGrpSpPr>
        <p:cNvPr id="1" name=""/>
        <p:cNvGrpSpPr/>
        <p:nvPr/>
      </p:nvGrpSpPr>
      <p:grpSpPr>
        <a:xfrm>
          <a:off x="0" y="0"/>
          <a:ext cx="0" cy="0"/>
          <a:chOff x="0" y="0"/>
          <a:chExt cx="0" cy="0"/>
        </a:xfrm>
      </p:grpSpPr>
      <p:sp>
        <p:nvSpPr>
          <p:cNvPr id="2" name="Text 0"/>
          <p:cNvSpPr/>
          <p:nvPr/>
        </p:nvSpPr>
        <p:spPr>
          <a:xfrm>
            <a:off x="952500" y="952500"/>
            <a:ext cx="180213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THE MANDATE</a:t>
            </a:r>
            <a:endParaRPr lang="en-US" sz="1950" dirty="0"/>
          </a:p>
        </p:txBody>
      </p:sp>
      <p:sp>
        <p:nvSpPr>
          <p:cNvPr id="3" name="Text 1"/>
          <p:cNvSpPr/>
          <p:nvPr/>
        </p:nvSpPr>
        <p:spPr>
          <a:xfrm>
            <a:off x="952500" y="1953667"/>
            <a:ext cx="12753975" cy="3695700"/>
          </a:xfrm>
          <a:prstGeom prst="rect">
            <a:avLst/>
          </a:prstGeom>
          <a:noFill/>
          <a:ln/>
        </p:spPr>
        <p:txBody>
          <a:bodyPr wrap="square" lIns="25400" tIns="25400" rIns="25400" bIns="25400" rtlCol="0" anchor="t">
            <a:normAutofit/>
          </a:bodyPr>
          <a:lstStyle/>
          <a:p>
            <a:pPr algn="l" indent="0" marL="0">
              <a:lnSpc>
                <a:spcPct val="105495"/>
              </a:lnSpc>
              <a:buNone/>
            </a:pPr>
            <a:r>
              <a:rPr lang="en-US" sz="6000" dirty="0">
                <a:solidFill>
                  <a:srgbClr val="FFFFFF"/>
                </a:solidFill>
                <a:latin typeface="Georgia" pitchFamily="34" charset="0"/>
                <a:ea typeface="Georgia" pitchFamily="34" charset="-122"/>
                <a:cs typeface="Georgia" pitchFamily="34" charset="-120"/>
              </a:rPr>
              <a:t>One ontology, three graphs per nation, an independent first review — and the markets open on their own.</a:t>
            </a:r>
            <a:endParaRPr lang="en-US" sz="6000" dirty="0"/>
          </a:p>
        </p:txBody>
      </p:sp>
      <p:sp>
        <p:nvSpPr>
          <p:cNvPr id="4" name="Text 2"/>
          <p:cNvSpPr/>
          <p:nvPr/>
        </p:nvSpPr>
        <p:spPr>
          <a:xfrm>
            <a:off x="952500" y="6068467"/>
            <a:ext cx="12753975" cy="1032421"/>
          </a:xfrm>
          <a:prstGeom prst="rect">
            <a:avLst/>
          </a:prstGeom>
          <a:noFill/>
          <a:ln/>
        </p:spPr>
        <p:txBody>
          <a:bodyPr wrap="square" lIns="25400" tIns="25400" rIns="25400" bIns="25400" rtlCol="0" anchor="t">
            <a:normAutofit/>
          </a:bodyPr>
          <a:lstStyle/>
          <a:p>
            <a:pPr algn="l" indent="0" marL="0">
              <a:lnSpc>
                <a:spcPct val="127317"/>
              </a:lnSpc>
              <a:buNone/>
            </a:pPr>
            <a:r>
              <a:rPr lang="en-US" sz="2700" dirty="0">
                <a:solidFill>
                  <a:srgbClr val="B4BACC"/>
                </a:solidFill>
                <a:latin typeface="Georgia" pitchFamily="34" charset="0"/>
                <a:ea typeface="Georgia" pitchFamily="34" charset="-122"/>
                <a:cs typeface="Georgia" pitchFamily="34" charset="-120"/>
              </a:rPr>
              <a:t>Each sector IRB designs its graph in the shared vocabulary. E1 keeps the space comparable. That is the whole ask — and the whole unlock.</a:t>
            </a:r>
            <a:endParaRPr lang="en-US" sz="2700" dirty="0"/>
          </a:p>
        </p:txBody>
      </p:sp>
      <p:sp>
        <p:nvSpPr>
          <p:cNvPr id="5" name="Text 3"/>
          <p:cNvSpPr/>
          <p:nvPr/>
        </p:nvSpPr>
        <p:spPr>
          <a:xfrm>
            <a:off x="952500" y="7367587"/>
            <a:ext cx="13620750" cy="480045"/>
          </a:xfrm>
          <a:prstGeom prst="rect">
            <a:avLst/>
          </a:prstGeom>
          <a:noFill/>
          <a:ln/>
        </p:spPr>
        <p:txBody>
          <a:bodyPr wrap="square" lIns="25400" tIns="25400" rIns="25400" bIns="25400" rtlCol="0" anchor="t">
            <a:normAutofit/>
          </a:bodyPr>
          <a:lstStyle/>
          <a:p>
            <a:pPr algn="l" indent="0" marL="0">
              <a:lnSpc>
                <a:spcPct val="127123"/>
              </a:lnSpc>
              <a:buNone/>
            </a:pPr>
            <a:r>
              <a:rPr lang="en-US" sz="2400" i="1" dirty="0">
                <a:solidFill>
                  <a:srgbClr val="F09CB6"/>
                </a:solidFill>
                <a:latin typeface="Georgia" pitchFamily="34" charset="0"/>
                <a:ea typeface="Georgia" pitchFamily="34" charset="-122"/>
                <a:cs typeface="Georgia" pitchFamily="34" charset="-120"/>
              </a:rPr>
              <a:t>An open call for collaboration — in reforming into a better world.</a:t>
            </a:r>
            <a:endParaRPr lang="en-US" sz="2400" dirty="0"/>
          </a:p>
        </p:txBody>
      </p:sp>
      <p:sp>
        <p:nvSpPr>
          <p:cNvPr id="6" name="Shape 4"/>
          <p:cNvSpPr/>
          <p:nvPr/>
        </p:nvSpPr>
        <p:spPr>
          <a:xfrm>
            <a:off x="14097000" y="3028950"/>
            <a:ext cx="3238500" cy="3238500"/>
          </a:xfrm>
          <a:prstGeom prst="rect">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14287500" y="3219450"/>
            <a:ext cx="2857500" cy="2857500"/>
          </a:xfrm>
          <a:prstGeom prst="rect">
            <a:avLst/>
          </a:prstGeom>
        </p:spPr>
      </p:pic>
      <p:sp>
        <p:nvSpPr>
          <p:cNvPr id="8" name="Text 5"/>
          <p:cNvSpPr/>
          <p:nvPr/>
        </p:nvSpPr>
        <p:spPr>
          <a:xfrm>
            <a:off x="14687550" y="6438900"/>
            <a:ext cx="226314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af.net/irb/nctb</a:t>
            </a:r>
            <a:endParaRPr lang="en-US" sz="1800" dirty="0"/>
          </a:p>
        </p:txBody>
      </p:sp>
      <p:sp>
        <p:nvSpPr>
          <p:cNvPr id="9" name="Shape 6"/>
          <p:cNvSpPr/>
          <p:nvPr/>
        </p:nvSpPr>
        <p:spPr>
          <a:xfrm>
            <a:off x="952500" y="8524875"/>
            <a:ext cx="16383000" cy="9525"/>
          </a:xfrm>
          <a:prstGeom prst="rect">
            <a:avLst/>
          </a:prstGeom>
          <a:solidFill>
            <a:srgbClr val="2A3355"/>
          </a:solidFill>
          <a:ln/>
        </p:spPr>
      </p:sp>
      <p:sp>
        <p:nvSpPr>
          <p:cNvPr id="10" name="Text 7"/>
          <p:cNvSpPr/>
          <p:nvPr/>
        </p:nvSpPr>
        <p:spPr>
          <a:xfrm>
            <a:off x="952500" y="9024938"/>
            <a:ext cx="4882024" cy="347663"/>
          </a:xfrm>
          <a:prstGeom prst="rect">
            <a:avLst/>
          </a:prstGeom>
          <a:noFill/>
          <a:ln/>
        </p:spPr>
        <p:txBody>
          <a:bodyPr wrap="square" lIns="25400" tIns="25400" rIns="25400" bIns="25400" rtlCol="0" anchor="t">
            <a:normAutofit/>
          </a:bodyPr>
          <a:lstStyle/>
          <a:p>
            <a:pPr algn="l" indent="0" marL="0">
              <a:buNone/>
            </a:pPr>
            <a:r>
              <a:rPr lang="en-US" sz="1875" dirty="0">
                <a:solidFill>
                  <a:srgbClr val="B4BACC"/>
                </a:solidFill>
                <a:latin typeface="Arial" pitchFamily="34" charset="0"/>
                <a:ea typeface="Arial" pitchFamily="34" charset="-122"/>
                <a:cs typeface="Arial" pitchFamily="34" charset="-120"/>
              </a:rPr>
              <a:t>Read the Blueprint — </a:t>
            </a:r>
            <a:pPr algn="l" indent="0" marL="0">
              <a:buNone/>
            </a:pPr>
            <a:r>
              <a:rPr lang="en-US" sz="1875" dirty="0">
                <a:solidFill>
                  <a:srgbClr val="FFFFFF"/>
                </a:solidFill>
                <a:latin typeface="Courier New" pitchFamily="34" charset="0"/>
                <a:ea typeface="Courier New" pitchFamily="34" charset="-122"/>
                <a:cs typeface="Courier New" pitchFamily="34" charset="-120"/>
              </a:rPr>
              <a:t>af.net/irb/nctb</a:t>
            </a:r>
            <a:endParaRPr lang="en-US" sz="1875" dirty="0"/>
          </a:p>
        </p:txBody>
      </p:sp>
      <p:sp>
        <p:nvSpPr>
          <p:cNvPr id="11" name="Text 8"/>
          <p:cNvSpPr/>
          <p:nvPr/>
        </p:nvSpPr>
        <p:spPr>
          <a:xfrm>
            <a:off x="5924104" y="9024938"/>
            <a:ext cx="5600797" cy="347663"/>
          </a:xfrm>
          <a:prstGeom prst="rect">
            <a:avLst/>
          </a:prstGeom>
          <a:noFill/>
          <a:ln/>
        </p:spPr>
        <p:txBody>
          <a:bodyPr wrap="square" lIns="25400" tIns="25400" rIns="25400" bIns="25400" rtlCol="0" anchor="t">
            <a:normAutofit/>
          </a:bodyPr>
          <a:lstStyle/>
          <a:p>
            <a:pPr algn="l" indent="0" marL="0">
              <a:buNone/>
            </a:pPr>
            <a:r>
              <a:rPr lang="en-US" sz="1875" dirty="0">
                <a:solidFill>
                  <a:srgbClr val="B4BACC"/>
                </a:solidFill>
                <a:latin typeface="Arial" pitchFamily="34" charset="0"/>
                <a:ea typeface="Arial" pitchFamily="34" charset="-122"/>
                <a:cs typeface="Arial" pitchFamily="34" charset="-120"/>
              </a:rPr>
              <a:t>Shape the governance processes — </a:t>
            </a:r>
            <a:pPr algn="l" indent="0" marL="0">
              <a:buNone/>
            </a:pPr>
            <a:r>
              <a:rPr lang="en-US" sz="1875" dirty="0">
                <a:solidFill>
                  <a:srgbClr val="FFFFFF"/>
                </a:solidFill>
                <a:latin typeface="Courier New" pitchFamily="34" charset="0"/>
                <a:ea typeface="Courier New" pitchFamily="34" charset="-122"/>
                <a:cs typeface="Courier New" pitchFamily="34" charset="-120"/>
              </a:rPr>
              <a:t>os.af.net</a:t>
            </a:r>
            <a:endParaRPr lang="en-US" sz="1875" dirty="0"/>
          </a:p>
        </p:txBody>
      </p:sp>
      <p:pic>
        <p:nvPicPr>
          <p:cNvPr id="12" name="Image 1" descr="preencoded.png">    </p:cNvPr>
          <p:cNvPicPr>
            <a:picLocks noChangeAspect="1"/>
          </p:cNvPicPr>
          <p:nvPr/>
        </p:nvPicPr>
        <p:blipFill>
          <a:blip r:embed="rId2"/>
          <a:stretch>
            <a:fillRect/>
          </a:stretch>
        </p:blipFill>
        <p:spPr>
          <a:xfrm>
            <a:off x="13786321" y="8801100"/>
            <a:ext cx="1332756" cy="533400"/>
          </a:xfrm>
          <a:prstGeom prst="rect">
            <a:avLst/>
          </a:prstGeom>
        </p:spPr>
      </p:pic>
      <p:sp>
        <p:nvSpPr>
          <p:cNvPr id="13" name="Shape 9"/>
          <p:cNvSpPr/>
          <p:nvPr/>
        </p:nvSpPr>
        <p:spPr>
          <a:xfrm>
            <a:off x="15461977" y="8810625"/>
            <a:ext cx="1873523" cy="514350"/>
          </a:xfrm>
          <a:prstGeom prst="rect">
            <a:avLst/>
          </a:prstGeom>
          <a:solidFill>
            <a:srgbClr val="FFFFFF"/>
          </a:solidFill>
          <a:ln/>
        </p:spPr>
      </p:sp>
      <p:pic>
        <p:nvPicPr>
          <p:cNvPr id="14" name="Image 2" descr="preencoded.png">    </p:cNvPr>
          <p:cNvPicPr>
            <a:picLocks noChangeAspect="1"/>
          </p:cNvPicPr>
          <p:nvPr/>
        </p:nvPicPr>
        <p:blipFill>
          <a:blip r:embed="rId3"/>
          <a:stretch>
            <a:fillRect/>
          </a:stretch>
        </p:blipFill>
        <p:spPr>
          <a:xfrm>
            <a:off x="15652477" y="8905875"/>
            <a:ext cx="1492523" cy="32385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peakers">
    <p:bg>
      <p:bgPr>
        <a:solidFill>
          <a:srgbClr val="000B33"/>
        </a:solidFill>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1"/>
          <a:stretch>
            <a:fillRect/>
          </a:stretch>
        </p:blipFill>
        <p:spPr>
          <a:xfrm>
            <a:off x="952500" y="952500"/>
            <a:ext cx="1713607" cy="685800"/>
          </a:xfrm>
          <a:prstGeom prst="rect">
            <a:avLst/>
          </a:prstGeom>
        </p:spPr>
      </p:pic>
      <p:sp>
        <p:nvSpPr>
          <p:cNvPr id="3" name="Text 0"/>
          <p:cNvSpPr/>
          <p:nvPr/>
        </p:nvSpPr>
        <p:spPr>
          <a:xfrm>
            <a:off x="15415245" y="952500"/>
            <a:ext cx="2112280"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09CB6"/>
                </a:solidFill>
                <a:latin typeface="Courier New" pitchFamily="34" charset="0"/>
                <a:ea typeface="Courier New" pitchFamily="34" charset="-122"/>
                <a:cs typeface="Courier New" pitchFamily="34" charset="-120"/>
              </a:rPr>
              <a:t>IRB E1 Session</a:t>
            </a:r>
            <a:endParaRPr lang="en-US" sz="1800" dirty="0"/>
          </a:p>
        </p:txBody>
      </p:sp>
      <p:sp>
        <p:nvSpPr>
          <p:cNvPr id="4" name="Kicker"/>
          <p:cNvSpPr/>
          <p:nvPr/>
        </p:nvSpPr>
        <p:spPr>
          <a:xfrm>
            <a:off x="952500" y="2624063"/>
            <a:ext cx="16383000" cy="323850"/>
          </a:xfrm>
          <a:prstGeom prst="rect">
            <a:avLst/>
          </a:prstGeom>
          <a:noFill/>
          <a:ln/>
        </p:spPr>
        <p:txBody>
          <a:bodyPr wrap="square" lIns="25400" tIns="25400" rIns="25400" bIns="25400" rtlCol="0" anchor="t">
            <a:normAutofit/>
          </a:bodyPr>
          <a:lstStyle/>
          <a:p>
            <a:pPr algn="l" indent="0" marL="0">
              <a:buNone/>
            </a:pPr>
            <a:r>
              <a:rPr lang="en-US" sz="1950" b="1" spc="273" kern="0" dirty="0">
                <a:solidFill>
                  <a:srgbClr val="E21E51"/>
                </a:solidFill>
                <a:latin typeface="Arial" pitchFamily="34" charset="0"/>
                <a:ea typeface="Arial" pitchFamily="34" charset="-122"/>
                <a:cs typeface="Arial" pitchFamily="34" charset="-120"/>
              </a:rPr>
              <a:t>THE PANEL</a:t>
            </a:r>
            <a:endParaRPr lang="en-US" sz="1950" dirty="0"/>
          </a:p>
        </p:txBody>
      </p:sp>
      <p:sp>
        <p:nvSpPr>
          <p:cNvPr id="5" name="Title"/>
          <p:cNvSpPr/>
          <p:nvPr/>
        </p:nvSpPr>
        <p:spPr>
          <a:xfrm>
            <a:off x="952500" y="3300000"/>
            <a:ext cx="15304770" cy="1100000"/>
          </a:xfrm>
          <a:prstGeom prst="rect">
            <a:avLst/>
          </a:prstGeom>
          <a:noFill/>
          <a:ln/>
        </p:spPr>
        <p:txBody>
          <a:bodyPr wrap="square" lIns="25400" tIns="25400" rIns="25400" bIns="25400" rtlCol="0" anchor="t">
            <a:normAutofit/>
          </a:bodyPr>
          <a:lstStyle/>
          <a:p>
            <a:pPr algn="l" indent="0" marL="0">
              <a:buNone/>
            </a:pPr>
            <a:r>
              <a:rPr lang="en-US" sz="6000" dirty="0">
                <a:solidFill>
                  <a:srgbClr val="FFFFFF"/>
                </a:solidFill>
                <a:latin typeface="Georgia" pitchFamily="34" charset="0"/>
                <a:ea typeface="Georgia" pitchFamily="34" charset="-122"/>
                <a:cs typeface="Georgia" pitchFamily="34" charset="-120"/>
              </a:rPr>
              <a:t>Speakers of This Panel</a:t>
            </a:r>
            <a:endParaRPr lang="en-US" sz="6000" dirty="0"/>
          </a:p>
        </p:txBody>
      </p:sp>
      <p:sp>
        <p:nvSpPr>
          <p:cNvPr id="6" name="Subtitle"/>
          <p:cNvSpPr/>
          <p:nvPr/>
        </p:nvSpPr>
        <p:spPr>
          <a:xfrm>
            <a:off x="952500" y="4400000"/>
            <a:ext cx="14000000" cy="600000"/>
          </a:xfrm>
          <a:prstGeom prst="rect">
            <a:avLst/>
          </a:prstGeom>
          <a:noFill/>
          <a:ln/>
        </p:spPr>
        <p:txBody>
          <a:bodyPr wrap="square" lIns="25400" tIns="25400" rIns="25400" bIns="25400" rtlCol="0" anchor="t">
            <a:normAutofit/>
          </a:bodyPr>
          <a:lstStyle/>
          <a:p>
            <a:pPr algn="l" indent="0" marL="0">
              <a:buNone/>
            </a:pPr>
            <a:r>
              <a:rPr lang="en-US" sz="2400" i="1" dirty="0">
                <a:solidFill>
                  <a:srgbClr val="B4BACC"/>
                </a:solidFill>
                <a:latin typeface="Georgia" pitchFamily="34" charset="0"/>
                <a:ea typeface="Georgia" pitchFamily="34" charset="-122"/>
                <a:cs typeface="Georgia" pitchFamily="34" charset="-120"/>
              </a:rPr>
              <a:t>Five voices on cross-cutting standards for sovereign development.</a:t>
            </a:r>
            <a:endParaRPr lang="en-US" sz="2400" dirty="0"/>
          </a:p>
        </p:txBody>
      </p:sp>
      <p:sp>
        <p:nvSpPr>
          <p:cNvPr id="10" name="Card 1"/>
          <p:cNvSpPr/>
          <p:nvPr/>
        </p:nvSpPr>
        <p:spPr>
          <a:xfrm>
            <a:off x="952500" y="5150000"/>
            <a:ext cx="2956560" cy="3300000"/>
          </a:xfrm>
          <a:prstGeom prst="roundRect">
            <a:avLst>
              <a:gd name="adj" fmla="val 8000"/>
            </a:avLst>
          </a:prstGeom>
          <a:solidFill>
            <a:srgbClr val="081039"/>
          </a:solidFill>
          <a:ln/>
        </p:spPr>
      </p:sp>
      <p:sp>
        <p:nvSpPr>
          <p:cNvPr id="11" name="Avatar 1"/>
          <p:cNvSpPr/>
          <p:nvPr/>
        </p:nvSpPr>
        <p:spPr>
          <a:xfrm>
            <a:off x="1830780" y="5430000"/>
            <a:ext cx="1200000" cy="1200000"/>
          </a:xfrm>
          <a:prstGeom prst="ellipse">
            <a:avLst/>
          </a:prstGeom>
          <a:solidFill>
            <a:srgbClr val="E21E51"/>
          </a:solidFill>
          <a:ln/>
        </p:spPr>
        <p:txBody>
          <a:bodyPr wrap="square" lIns="0" tIns="0" rIns="0" bIns="0" rtlCol="0" anchor="ctr">
            <a:normAutofit/>
          </a:bodyPr>
          <a:lstStyle/>
          <a:p>
            <a:pPr algn="ctr" indent="0" marL="0">
              <a:buNone/>
            </a:pPr>
            <a:r>
              <a:rPr lang="en-US" sz="3600" b="1" dirty="0">
                <a:solidFill>
                  <a:srgbClr val="FFFFFF"/>
                </a:solidFill>
                <a:latin typeface="Georgia" pitchFamily="34" charset="0"/>
                <a:ea typeface="Georgia" pitchFamily="34" charset="-122"/>
                <a:cs typeface="Georgia" pitchFamily="34" charset="-120"/>
              </a:rPr>
              <a:t>JS</a:t>
            </a:r>
            <a:endParaRPr lang="en-US" sz="3600" dirty="0"/>
          </a:p>
        </p:txBody>
      </p:sp>
      <p:sp>
        <p:nvSpPr>
          <p:cNvPr id="12" name="Name 1"/>
          <p:cNvSpPr/>
          <p:nvPr/>
        </p:nvSpPr>
        <p:spPr>
          <a:xfrm>
            <a:off x="1032500" y="6880000"/>
            <a:ext cx="2796560" cy="850000"/>
          </a:xfrm>
          <a:prstGeom prst="rect">
            <a:avLst/>
          </a:prstGeom>
          <a:noFill/>
          <a:ln/>
        </p:spPr>
        <p:txBody>
          <a:bodyPr wrap="square" lIns="25400" tIns="25400" rIns="25400" bIns="25400" rtlCol="0" anchor="t">
            <a:normAutofit/>
          </a:bodyPr>
          <a:lstStyle/>
          <a:p>
            <a:pPr algn="ctr" indent="0" marL="0">
              <a:buNone/>
            </a:pPr>
            <a:r>
              <a:rPr lang="en-US" sz="2000" dirty="0">
                <a:solidFill>
                  <a:srgbClr val="FFFFFF"/>
                </a:solidFill>
                <a:latin typeface="Georgia" pitchFamily="34" charset="0"/>
                <a:ea typeface="Georgia" pitchFamily="34" charset="-122"/>
                <a:cs typeface="Georgia" pitchFamily="34" charset="-120"/>
              </a:rPr>
              <a:t>Jeremy Stein</a:t>
            </a:r>
            <a:endParaRPr lang="en-US" sz="2000" dirty="0"/>
          </a:p>
        </p:txBody>
      </p:sp>
      <p:sp>
        <p:nvSpPr>
          <p:cNvPr id="13" name="Role 1"/>
          <p:cNvSpPr/>
          <p:nvPr/>
        </p:nvSpPr>
        <p:spPr>
          <a:xfrm>
            <a:off x="1032500" y="7600000"/>
            <a:ext cx="2796560" cy="340000"/>
          </a:xfrm>
          <a:prstGeom prst="rect">
            <a:avLst/>
          </a:prstGeom>
          <a:noFill/>
          <a:ln/>
        </p:spPr>
        <p:txBody>
          <a:bodyPr wrap="square" lIns="25400" tIns="25400" rIns="25400" bIns="25400" rtlCol="0" anchor="t">
            <a:normAutofit/>
          </a:bodyPr>
          <a:lstStyle/>
          <a:p>
            <a:pPr algn="ctr" indent="0" marL="0">
              <a:buNone/>
            </a:pPr>
            <a:r>
              <a:rPr lang="en-US" sz="1300" dirty="0">
                <a:solidFill>
                  <a:srgbClr val="F09CB6"/>
                </a:solidFill>
                <a:latin typeface="Courier New" pitchFamily="34" charset="0"/>
                <a:ea typeface="Courier New" pitchFamily="34" charset="-122"/>
                <a:cs typeface="Courier New" pitchFamily="34" charset="-120"/>
              </a:rPr>
              <a:t>Panelist</a:t>
            </a:r>
            <a:endParaRPr lang="en-US" sz="1300" dirty="0"/>
          </a:p>
        </p:txBody>
      </p:sp>
      <p:sp>
        <p:nvSpPr>
          <p:cNvPr id="14" name="Card 2"/>
          <p:cNvSpPr/>
          <p:nvPr/>
        </p:nvSpPr>
        <p:spPr>
          <a:xfrm>
            <a:off x="4309110" y="5150000"/>
            <a:ext cx="2956560" cy="3300000"/>
          </a:xfrm>
          <a:prstGeom prst="roundRect">
            <a:avLst>
              <a:gd name="adj" fmla="val 8000"/>
            </a:avLst>
          </a:prstGeom>
          <a:solidFill>
            <a:srgbClr val="081039"/>
          </a:solidFill>
          <a:ln/>
        </p:spPr>
      </p:sp>
      <p:sp>
        <p:nvSpPr>
          <p:cNvPr id="15" name="Avatar 2"/>
          <p:cNvSpPr/>
          <p:nvPr/>
        </p:nvSpPr>
        <p:spPr>
          <a:xfrm>
            <a:off x="5187390" y="5430000"/>
            <a:ext cx="1200000" cy="1200000"/>
          </a:xfrm>
          <a:prstGeom prst="ellipse">
            <a:avLst/>
          </a:prstGeom>
          <a:solidFill>
            <a:srgbClr val="F09CB6"/>
          </a:solidFill>
          <a:ln/>
        </p:spPr>
        <p:txBody>
          <a:bodyPr wrap="square" lIns="0" tIns="0" rIns="0" bIns="0" rtlCol="0" anchor="ctr">
            <a:normAutofit/>
          </a:bodyPr>
          <a:lstStyle/>
          <a:p>
            <a:pPr algn="ctr" indent="0" marL="0">
              <a:buNone/>
            </a:pPr>
            <a:r>
              <a:rPr lang="en-US" sz="3600" b="1" dirty="0">
                <a:solidFill>
                  <a:srgbClr val="000B33"/>
                </a:solidFill>
                <a:latin typeface="Georgia" pitchFamily="34" charset="0"/>
                <a:ea typeface="Georgia" pitchFamily="34" charset="-122"/>
                <a:cs typeface="Georgia" pitchFamily="34" charset="-120"/>
              </a:rPr>
              <a:t>VM</a:t>
            </a:r>
            <a:endParaRPr lang="en-US" sz="3600" dirty="0"/>
          </a:p>
        </p:txBody>
      </p:sp>
      <p:sp>
        <p:nvSpPr>
          <p:cNvPr id="16" name="Name 2"/>
          <p:cNvSpPr/>
          <p:nvPr/>
        </p:nvSpPr>
        <p:spPr>
          <a:xfrm>
            <a:off x="4389110" y="6880000"/>
            <a:ext cx="2796560" cy="850000"/>
          </a:xfrm>
          <a:prstGeom prst="rect">
            <a:avLst/>
          </a:prstGeom>
          <a:noFill/>
          <a:ln/>
        </p:spPr>
        <p:txBody>
          <a:bodyPr wrap="square" lIns="25400" tIns="25400" rIns="25400" bIns="25400" rtlCol="0" anchor="t">
            <a:normAutofit/>
          </a:bodyPr>
          <a:lstStyle/>
          <a:p>
            <a:pPr algn="ctr" indent="0" marL="0">
              <a:buNone/>
            </a:pPr>
            <a:r>
              <a:rPr lang="en-US" sz="2000" dirty="0">
                <a:solidFill>
                  <a:srgbClr val="FFFFFF"/>
                </a:solidFill>
                <a:latin typeface="Georgia" pitchFamily="34" charset="0"/>
                <a:ea typeface="Georgia" pitchFamily="34" charset="-122"/>
                <a:cs typeface="Georgia" pitchFamily="34" charset="-120"/>
              </a:rPr>
              <a:t>Vibhav Mithal</a:t>
            </a:r>
            <a:endParaRPr lang="en-US" sz="2000" dirty="0"/>
          </a:p>
        </p:txBody>
      </p:sp>
      <p:sp>
        <p:nvSpPr>
          <p:cNvPr id="17" name="Role 2"/>
          <p:cNvSpPr/>
          <p:nvPr/>
        </p:nvSpPr>
        <p:spPr>
          <a:xfrm>
            <a:off x="4389110" y="7600000"/>
            <a:ext cx="2796560" cy="340000"/>
          </a:xfrm>
          <a:prstGeom prst="rect">
            <a:avLst/>
          </a:prstGeom>
          <a:noFill/>
          <a:ln/>
        </p:spPr>
        <p:txBody>
          <a:bodyPr wrap="square" lIns="25400" tIns="25400" rIns="25400" bIns="25400" rtlCol="0" anchor="t">
            <a:normAutofit/>
          </a:bodyPr>
          <a:lstStyle/>
          <a:p>
            <a:pPr algn="ctr" indent="0" marL="0">
              <a:buNone/>
            </a:pPr>
            <a:r>
              <a:rPr lang="en-US" sz="1300" dirty="0">
                <a:solidFill>
                  <a:srgbClr val="F09CB6"/>
                </a:solidFill>
                <a:latin typeface="Courier New" pitchFamily="34" charset="0"/>
                <a:ea typeface="Courier New" pitchFamily="34" charset="-122"/>
                <a:cs typeface="Courier New" pitchFamily="34" charset="-120"/>
              </a:rPr>
              <a:t>Panelist</a:t>
            </a:r>
            <a:endParaRPr lang="en-US" sz="1300" dirty="0"/>
          </a:p>
        </p:txBody>
      </p:sp>
      <p:sp>
        <p:nvSpPr>
          <p:cNvPr id="18" name="Card 3"/>
          <p:cNvSpPr/>
          <p:nvPr/>
        </p:nvSpPr>
        <p:spPr>
          <a:xfrm>
            <a:off x="7665720" y="5150000"/>
            <a:ext cx="2956560" cy="3300000"/>
          </a:xfrm>
          <a:prstGeom prst="roundRect">
            <a:avLst>
              <a:gd name="adj" fmla="val 8000"/>
            </a:avLst>
          </a:prstGeom>
          <a:solidFill>
            <a:srgbClr val="081039"/>
          </a:solidFill>
          <a:ln/>
        </p:spPr>
      </p:sp>
      <p:sp>
        <p:nvSpPr>
          <p:cNvPr id="19" name="Avatar 3"/>
          <p:cNvSpPr/>
          <p:nvPr/>
        </p:nvSpPr>
        <p:spPr>
          <a:xfrm>
            <a:off x="8544000" y="5430000"/>
            <a:ext cx="1200000" cy="1200000"/>
          </a:xfrm>
          <a:prstGeom prst="ellipse">
            <a:avLst/>
          </a:prstGeom>
          <a:solidFill>
            <a:srgbClr val="E21E51"/>
          </a:solidFill>
          <a:ln/>
        </p:spPr>
        <p:txBody>
          <a:bodyPr wrap="square" lIns="0" tIns="0" rIns="0" bIns="0" rtlCol="0" anchor="ctr">
            <a:normAutofit/>
          </a:bodyPr>
          <a:lstStyle/>
          <a:p>
            <a:pPr algn="ctr" indent="0" marL="0">
              <a:buNone/>
            </a:pPr>
            <a:r>
              <a:rPr lang="en-US" sz="3600" b="1" dirty="0">
                <a:solidFill>
                  <a:srgbClr val="FFFFFF"/>
                </a:solidFill>
                <a:latin typeface="Georgia" pitchFamily="34" charset="0"/>
                <a:ea typeface="Georgia" pitchFamily="34" charset="-122"/>
                <a:cs typeface="Georgia" pitchFamily="34" charset="-120"/>
              </a:rPr>
              <a:t>SL</a:t>
            </a:r>
            <a:endParaRPr lang="en-US" sz="3600" dirty="0"/>
          </a:p>
        </p:txBody>
      </p:sp>
      <p:sp>
        <p:nvSpPr>
          <p:cNvPr id="20" name="Name 3"/>
          <p:cNvSpPr/>
          <p:nvPr/>
        </p:nvSpPr>
        <p:spPr>
          <a:xfrm>
            <a:off x="7745720" y="6880000"/>
            <a:ext cx="2796560" cy="850000"/>
          </a:xfrm>
          <a:prstGeom prst="rect">
            <a:avLst/>
          </a:prstGeom>
          <a:noFill/>
          <a:ln/>
        </p:spPr>
        <p:txBody>
          <a:bodyPr wrap="square" lIns="25400" tIns="25400" rIns="25400" bIns="25400" rtlCol="0" anchor="t">
            <a:normAutofit/>
          </a:bodyPr>
          <a:lstStyle/>
          <a:p>
            <a:pPr algn="ctr" indent="0" marL="0">
              <a:buNone/>
            </a:pPr>
            <a:r>
              <a:rPr lang="en-US" sz="2000" dirty="0">
                <a:solidFill>
                  <a:srgbClr val="FFFFFF"/>
                </a:solidFill>
                <a:latin typeface="Georgia" pitchFamily="34" charset="0"/>
                <a:ea typeface="Georgia" pitchFamily="34" charset="-122"/>
                <a:cs typeface="Georgia" pitchFamily="34" charset="-120"/>
              </a:rPr>
              <a:t>Sönke Lund</a:t>
            </a:r>
            <a:endParaRPr lang="en-US" sz="2000" dirty="0"/>
          </a:p>
        </p:txBody>
      </p:sp>
      <p:sp>
        <p:nvSpPr>
          <p:cNvPr id="21" name="Role 3"/>
          <p:cNvSpPr/>
          <p:nvPr/>
        </p:nvSpPr>
        <p:spPr>
          <a:xfrm>
            <a:off x="7745720" y="7600000"/>
            <a:ext cx="2796560" cy="340000"/>
          </a:xfrm>
          <a:prstGeom prst="rect">
            <a:avLst/>
          </a:prstGeom>
          <a:noFill/>
          <a:ln/>
        </p:spPr>
        <p:txBody>
          <a:bodyPr wrap="square" lIns="25400" tIns="25400" rIns="25400" bIns="25400" rtlCol="0" anchor="t">
            <a:normAutofit/>
          </a:bodyPr>
          <a:lstStyle/>
          <a:p>
            <a:pPr algn="ctr" indent="0" marL="0">
              <a:buNone/>
            </a:pPr>
            <a:r>
              <a:rPr lang="en-US" sz="1300" dirty="0">
                <a:solidFill>
                  <a:srgbClr val="F09CB6"/>
                </a:solidFill>
                <a:latin typeface="Courier New" pitchFamily="34" charset="0"/>
                <a:ea typeface="Courier New" pitchFamily="34" charset="-122"/>
                <a:cs typeface="Courier New" pitchFamily="34" charset="-120"/>
              </a:rPr>
              <a:t>Panelist</a:t>
            </a:r>
            <a:endParaRPr lang="en-US" sz="1300" dirty="0"/>
          </a:p>
        </p:txBody>
      </p:sp>
      <p:sp>
        <p:nvSpPr>
          <p:cNvPr id="22" name="Card 4"/>
          <p:cNvSpPr/>
          <p:nvPr/>
        </p:nvSpPr>
        <p:spPr>
          <a:xfrm>
            <a:off x="11022330" y="5150000"/>
            <a:ext cx="2956560" cy="3300000"/>
          </a:xfrm>
          <a:prstGeom prst="roundRect">
            <a:avLst>
              <a:gd name="adj" fmla="val 8000"/>
            </a:avLst>
          </a:prstGeom>
          <a:solidFill>
            <a:srgbClr val="081039"/>
          </a:solidFill>
          <a:ln/>
        </p:spPr>
      </p:sp>
      <p:sp>
        <p:nvSpPr>
          <p:cNvPr id="23" name="Avatar 4"/>
          <p:cNvSpPr/>
          <p:nvPr/>
        </p:nvSpPr>
        <p:spPr>
          <a:xfrm>
            <a:off x="11900610" y="5430000"/>
            <a:ext cx="1200000" cy="1200000"/>
          </a:xfrm>
          <a:prstGeom prst="ellipse">
            <a:avLst/>
          </a:prstGeom>
          <a:solidFill>
            <a:srgbClr val="F09CB6"/>
          </a:solidFill>
          <a:ln/>
        </p:spPr>
        <p:txBody>
          <a:bodyPr wrap="square" lIns="0" tIns="0" rIns="0" bIns="0" rtlCol="0" anchor="ctr">
            <a:normAutofit/>
          </a:bodyPr>
          <a:lstStyle/>
          <a:p>
            <a:pPr algn="ctr" indent="0" marL="0">
              <a:buNone/>
            </a:pPr>
            <a:r>
              <a:rPr lang="en-US" sz="3600" b="1" dirty="0">
                <a:solidFill>
                  <a:srgbClr val="000B33"/>
                </a:solidFill>
                <a:latin typeface="Georgia" pitchFamily="34" charset="0"/>
                <a:ea typeface="Georgia" pitchFamily="34" charset="-122"/>
                <a:cs typeface="Georgia" pitchFamily="34" charset="-120"/>
              </a:rPr>
              <a:t>KS</a:t>
            </a:r>
            <a:endParaRPr lang="en-US" sz="3600" dirty="0"/>
          </a:p>
        </p:txBody>
      </p:sp>
      <p:sp>
        <p:nvSpPr>
          <p:cNvPr id="24" name="Name 4"/>
          <p:cNvSpPr/>
          <p:nvPr/>
        </p:nvSpPr>
        <p:spPr>
          <a:xfrm>
            <a:off x="11102330" y="6880000"/>
            <a:ext cx="2796560" cy="850000"/>
          </a:xfrm>
          <a:prstGeom prst="rect">
            <a:avLst/>
          </a:prstGeom>
          <a:noFill/>
          <a:ln/>
        </p:spPr>
        <p:txBody>
          <a:bodyPr wrap="square" lIns="25400" tIns="25400" rIns="25400" bIns="25400" rtlCol="0" anchor="t">
            <a:normAutofit/>
          </a:bodyPr>
          <a:lstStyle/>
          <a:p>
            <a:pPr algn="ctr" indent="0" marL="0">
              <a:buNone/>
            </a:pPr>
            <a:r>
              <a:rPr lang="en-US" sz="2000" dirty="0">
                <a:solidFill>
                  <a:srgbClr val="FFFFFF"/>
                </a:solidFill>
                <a:latin typeface="Georgia" pitchFamily="34" charset="0"/>
                <a:ea typeface="Georgia" pitchFamily="34" charset="-122"/>
                <a:cs typeface="Georgia" pitchFamily="34" charset="-120"/>
              </a:rPr>
              <a:t>Konrad Sztolc</a:t>
            </a:r>
            <a:endParaRPr lang="en-US" sz="2000" dirty="0"/>
          </a:p>
        </p:txBody>
      </p:sp>
      <p:sp>
        <p:nvSpPr>
          <p:cNvPr id="25" name="Role 4"/>
          <p:cNvSpPr/>
          <p:nvPr/>
        </p:nvSpPr>
        <p:spPr>
          <a:xfrm>
            <a:off x="11102330" y="7600000"/>
            <a:ext cx="2796560" cy="340000"/>
          </a:xfrm>
          <a:prstGeom prst="rect">
            <a:avLst/>
          </a:prstGeom>
          <a:noFill/>
          <a:ln/>
        </p:spPr>
        <p:txBody>
          <a:bodyPr wrap="square" lIns="25400" tIns="25400" rIns="25400" bIns="25400" rtlCol="0" anchor="t">
            <a:normAutofit/>
          </a:bodyPr>
          <a:lstStyle/>
          <a:p>
            <a:pPr algn="ctr" indent="0" marL="0">
              <a:buNone/>
            </a:pPr>
            <a:r>
              <a:rPr lang="en-US" sz="1300" dirty="0">
                <a:solidFill>
                  <a:srgbClr val="F09CB6"/>
                </a:solidFill>
                <a:latin typeface="Courier New" pitchFamily="34" charset="0"/>
                <a:ea typeface="Courier New" pitchFamily="34" charset="-122"/>
                <a:cs typeface="Courier New" pitchFamily="34" charset="-120"/>
              </a:rPr>
              <a:t>Panelist</a:t>
            </a:r>
            <a:endParaRPr lang="en-US" sz="1300" dirty="0"/>
          </a:p>
        </p:txBody>
      </p:sp>
      <p:sp>
        <p:nvSpPr>
          <p:cNvPr id="26" name="Card 5"/>
          <p:cNvSpPr/>
          <p:nvPr/>
        </p:nvSpPr>
        <p:spPr>
          <a:xfrm>
            <a:off x="14378940" y="5150000"/>
            <a:ext cx="2956560" cy="3300000"/>
          </a:xfrm>
          <a:prstGeom prst="roundRect">
            <a:avLst>
              <a:gd name="adj" fmla="val 8000"/>
            </a:avLst>
          </a:prstGeom>
          <a:solidFill>
            <a:srgbClr val="081039"/>
          </a:solidFill>
          <a:ln/>
        </p:spPr>
      </p:sp>
      <p:sp>
        <p:nvSpPr>
          <p:cNvPr id="27" name="Avatar 5"/>
          <p:cNvSpPr/>
          <p:nvPr/>
        </p:nvSpPr>
        <p:spPr>
          <a:xfrm>
            <a:off x="15257220" y="5430000"/>
            <a:ext cx="1200000" cy="1200000"/>
          </a:xfrm>
          <a:prstGeom prst="ellipse">
            <a:avLst/>
          </a:prstGeom>
          <a:solidFill>
            <a:srgbClr val="E21E51"/>
          </a:solidFill>
          <a:ln/>
        </p:spPr>
        <p:txBody>
          <a:bodyPr wrap="square" lIns="0" tIns="0" rIns="0" bIns="0" rtlCol="0" anchor="ctr">
            <a:normAutofit/>
          </a:bodyPr>
          <a:lstStyle/>
          <a:p>
            <a:pPr algn="ctr" indent="0" marL="0">
              <a:buNone/>
            </a:pPr>
            <a:r>
              <a:rPr lang="en-US" sz="3600" b="1" dirty="0">
                <a:solidFill>
                  <a:srgbClr val="FFFFFF"/>
                </a:solidFill>
                <a:latin typeface="Georgia" pitchFamily="34" charset="0"/>
                <a:ea typeface="Georgia" pitchFamily="34" charset="-122"/>
                <a:cs typeface="Georgia" pitchFamily="34" charset="-120"/>
              </a:rPr>
              <a:t>RG</a:t>
            </a:r>
            <a:endParaRPr lang="en-US" sz="3600" dirty="0"/>
          </a:p>
        </p:txBody>
      </p:sp>
      <p:sp>
        <p:nvSpPr>
          <p:cNvPr id="28" name="Name 5"/>
          <p:cNvSpPr/>
          <p:nvPr/>
        </p:nvSpPr>
        <p:spPr>
          <a:xfrm>
            <a:off x="14458940" y="6880000"/>
            <a:ext cx="2796560" cy="850000"/>
          </a:xfrm>
          <a:prstGeom prst="rect">
            <a:avLst/>
          </a:prstGeom>
          <a:noFill/>
          <a:ln/>
        </p:spPr>
        <p:txBody>
          <a:bodyPr wrap="square" lIns="25400" tIns="25400" rIns="25400" bIns="25400" rtlCol="0" anchor="t">
            <a:normAutofit/>
          </a:bodyPr>
          <a:lstStyle/>
          <a:p>
            <a:pPr algn="ctr" indent="0" marL="0">
              <a:buNone/>
            </a:pPr>
            <a:r>
              <a:rPr lang="en-US" sz="2000" dirty="0">
                <a:solidFill>
                  <a:srgbClr val="FFFFFF"/>
                </a:solidFill>
                <a:latin typeface="Georgia" pitchFamily="34" charset="0"/>
                <a:ea typeface="Georgia" pitchFamily="34" charset="-122"/>
                <a:cs typeface="Georgia" pitchFamily="34" charset="-120"/>
              </a:rPr>
              <a:t>Rahul Ghatalia</a:t>
            </a:r>
            <a:endParaRPr lang="en-US" sz="2000" dirty="0"/>
          </a:p>
        </p:txBody>
      </p:sp>
      <p:sp>
        <p:nvSpPr>
          <p:cNvPr id="29" name="Role 5"/>
          <p:cNvSpPr/>
          <p:nvPr/>
        </p:nvSpPr>
        <p:spPr>
          <a:xfrm>
            <a:off x="14458940" y="7600000"/>
            <a:ext cx="2796560" cy="340000"/>
          </a:xfrm>
          <a:prstGeom prst="rect">
            <a:avLst/>
          </a:prstGeom>
          <a:noFill/>
          <a:ln/>
        </p:spPr>
        <p:txBody>
          <a:bodyPr wrap="square" lIns="25400" tIns="25400" rIns="25400" bIns="25400" rtlCol="0" anchor="t">
            <a:normAutofit/>
          </a:bodyPr>
          <a:lstStyle/>
          <a:p>
            <a:pPr algn="ctr" indent="0" marL="0">
              <a:buNone/>
            </a:pPr>
            <a:r>
              <a:rPr lang="en-US" sz="1300" dirty="0">
                <a:solidFill>
                  <a:srgbClr val="F09CB6"/>
                </a:solidFill>
                <a:latin typeface="Courier New" pitchFamily="34" charset="0"/>
                <a:ea typeface="Courier New" pitchFamily="34" charset="-122"/>
                <a:cs typeface="Courier New" pitchFamily="34" charset="-120"/>
              </a:rPr>
              <a:t>Panelist</a:t>
            </a:r>
            <a:endParaRPr lang="en-US" sz="1300" dirty="0"/>
          </a:p>
        </p:txBody>
      </p:sp>
      <p:sp>
        <p:nvSpPr>
          <p:cNvPr id="30" name="Divider"/>
          <p:cNvSpPr/>
          <p:nvPr/>
        </p:nvSpPr>
        <p:spPr>
          <a:xfrm>
            <a:off x="952500" y="8763000"/>
            <a:ext cx="16383000" cy="9525"/>
          </a:xfrm>
          <a:prstGeom prst="rect">
            <a:avLst/>
          </a:prstGeom>
          <a:solidFill>
            <a:srgbClr val="2A3355"/>
          </a:solidFill>
          <a:ln/>
        </p:spPr>
      </p:sp>
      <p:sp>
        <p:nvSpPr>
          <p:cNvPr id="31" name="Footer L"/>
          <p:cNvSpPr/>
          <p:nvPr/>
        </p:nvSpPr>
        <p:spPr>
          <a:xfrm>
            <a:off x="952500" y="9039225"/>
            <a:ext cx="3785652" cy="333375"/>
          </a:xfrm>
          <a:prstGeom prst="rect">
            <a:avLst/>
          </a:prstGeom>
          <a:noFill/>
          <a:ln/>
        </p:spPr>
        <p:txBody>
          <a:bodyPr wrap="square" lIns="25400" tIns="25400" rIns="25400" bIns="25400" rtlCol="0" anchor="t">
            <a:normAutofit/>
          </a:bodyPr>
          <a:lstStyle/>
          <a:p>
            <a:pPr algn="l" indent="0" marL="0">
              <a:buNone/>
            </a:pPr>
            <a:r>
              <a:rPr lang="en-US" sz="1800" dirty="0">
                <a:solidFill>
                  <a:srgbClr val="FFFFFF"/>
                </a:solidFill>
                <a:latin typeface="Arial" pitchFamily="34" charset="0"/>
                <a:ea typeface="Arial" pitchFamily="34" charset="-122"/>
                <a:cs typeface="Arial" pitchFamily="34" charset="-120"/>
              </a:rPr>
              <a:t>IRB E1 · Cross-cutting Standards</a:t>
            </a:r>
            <a:endParaRPr lang="en-US" sz="1800" dirty="0"/>
          </a:p>
        </p:txBody>
      </p:sp>
      <p:sp>
        <p:nvSpPr>
          <p:cNvPr id="32" name="Footer R"/>
          <p:cNvSpPr/>
          <p:nvPr/>
        </p:nvSpPr>
        <p:spPr>
          <a:xfrm>
            <a:off x="4660702" y="9039225"/>
            <a:ext cx="5805763" cy="333375"/>
          </a:xfrm>
          <a:prstGeom prst="rect">
            <a:avLst/>
          </a:prstGeom>
          <a:noFill/>
          <a:ln/>
        </p:spPr>
        <p:txBody>
          <a:bodyPr wrap="square" lIns="25400" tIns="25400" rIns="25400" bIns="25400" rtlCol="0" anchor="t">
            <a:normAutofit/>
          </a:bodyPr>
          <a:lstStyle/>
          <a:p>
            <a:pPr algn="l" indent="0" marL="0">
              <a:buNone/>
            </a:pPr>
            <a:r>
              <a:rPr lang="en-US" sz="1800" dirty="0">
                <a:solidFill>
                  <a:srgbClr val="6E7590"/>
                </a:solidFill>
                <a:latin typeface="Arial" pitchFamily="34" charset="0"/>
                <a:ea typeface="Arial" pitchFamily="34" charset="-122"/>
                <a:cs typeface="Arial" pitchFamily="34" charset="-120"/>
              </a:rPr>
              <a:t>Geneva · August 2026 · from NCTB v4.6, §15 &amp; §27</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2026-08-13T21:21:26Z</dcterms:created>
  <dcterms:modified xsi:type="dcterms:W3CDTF">2026-08-13T21:21:26Z</dcterms:modified>
</cp:coreProperties>
</file>